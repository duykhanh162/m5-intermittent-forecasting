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iWGLY8RJkJ08ugUKbyKn+Q7szB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D1AD51-34DF-4AEA-9B01-C88AA91C9874}">
  <a:tblStyle styleId="{99D1AD51-34DF-4AEA-9B01-C88AA91C987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57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 name="Google Shape;1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Chào thầy cô và các bạn. Nhóm em trình bày đề tài dự báo nhu cầu cho những mặt hàng bán không đều, tức là có nhiều ngày không bán được gì. Nhóm so sánh ba họ mô hình là cổ điển, machine learning và foundation model trên bộ dữ liệu M5 của Walmart.</a:t>
            </a:r>
            <a:endParaRPr/>
          </a:p>
        </p:txBody>
      </p:sp>
      <p:sp>
        <p:nvSpPr>
          <p:cNvPr id="19" name="Google Shape;1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Câu hỏi chính của nhóm là với từng kiểu nhu cầu thì nên dùng mô hình nào. Câu hỏi phụ là nếu foundation model tốt hơn thì ưu thế đó có vững khi kiểm định không. Để trả lời, nhóm làm ba bước. Bước 1, dự báo 9 phân vị cho mỗi ngày thay vì một con số, vì với hàng bán thưa, dự báo một con số thường ra 0 và không dùng được để đặt tồn kho. Bước 2, xếp mỗi chuỗi vào một nhóm của khung SBC, như bảng bên dưới. Khung này dùng hai chỉ số: ADI cho biết trung bình bao lâu mới bán một lần, CV bình phương cho biết lượng bán mỗi lần có dao động nhiều không. Cột bên trái là hàng bán đều, cột bên phải là hàng bán thưa; hàng trên là lượng bán dao động, hàng dưới là lượng bán ổn định. Cột bán thưa, gồm intermittent và lumpy, chiếm 95% số chuỗi. Vì vậy bước 3 là so sánh mô hình riêng trong từng nhóm, thay vì lấy trung bình chung.</a:t>
            </a:r>
            <a:endParaRPr/>
          </a:p>
        </p:txBody>
      </p:sp>
      <p:sp>
        <p:nvSpPr>
          <p:cNvPr id="27" name="Google Shape;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Nhóm so sánh ba họ mô hình. Họ cổ điển gồm Naive, SeasonalNaive, Croston, SBA và TSB. Các mô hình này chỉ cho một con số, nên nhóm bọc thêm phân phối Negative Binomial để có 9 phân vị. Họ machine learning là LightGBM, mỗi phân vị một mô hình, học chung cho mọi chuỗi. Họ foundation model gồm Chronos-Bolt, TTM và Moirai-2, chạy zero-shot, nghĩa là không huấn luyện thêm trên M5. Vì mỗi họ tạo dải theo một cách riêng, nếu so ngay sẽ không công bằng, nên nhóm có thêm bước hiệu chuẩn chung.</a:t>
            </a: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 mô hình này được làm riêng cho hàng bán thưa. Ý chung là không tính trung bình cả những ngày bằng 0, mà tách ra hai câu hỏi: mỗi lần bán thì bán bao nhiêu, và bao lâu mới bán một lần. Croston làm mượt riêng hai đại lượng Z và P, chỉ cập nhật vào ngày có bán, rồi lấy Z chia P. Cách này hơi lệch lên, nên SBA nhân thêm hệ số một trừ alpha chia hai. Croston còn một điểm yếu là khi hàng ngừng bán thì dự báo vẫn đứng yên. TSB sửa bằng cách thay khoảng cách bằng xác suất có bán D, cập nhật mỗi ngày, nên lâu không bán thì dự báo giảm dần.</a:t>
            </a:r>
            <a:endParaRPr/>
          </a:p>
        </p:txBody>
      </p:sp>
      <p:sp>
        <p:nvSpPr>
          <p:cNvPr id="83" name="Google Shape;8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Foundation model được huấn luyện sẵn trên một kho dữ liệu chuỗi thời gian rất lớn, nên đưa chuỗi M5 vào là dự báo được ngay. Đổi lại, các mô hình này chỉ nhìn lịch sử bán, không dùng thông tin SNAP hay giá. Chronos-Bolt đọc chuỗi theo từng đoạn ngắn qua kiến trúc T5 và sinh thẳng ra phân vị, nhưng chỉ học từ phân vị 0,1 đến 0,9 nên hai đuôi bị kẹp. TTM rất nhẹ, chỉ ra một con số, nên dải dự báo phải nhờ lớp bọc Negative Binomial. Moirai-2 là transformer chỉ có decoder, cũng chỉ có lưới phân vị từ 0,1 đến 0,9, các mức ngoài phải nội suy. Vì đuôi của Chronos-Bolt và Moirai-2 quá hẹp, nhóm cần hiệu chuẩn trước khi so sánh.</a:t>
            </a:r>
            <a:endParaRPr/>
          </a:p>
        </p:txBody>
      </p:sp>
      <p:sp>
        <p:nvSpPr>
          <p:cNvPr id="119" name="Google Shape;11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Vì mỗi họ tạo dải theo một cách khác nhau, nhóm đưa tất cả qua cùng một bước hiệu chuẩn, gọi là split-conformal. Bước 1, trên tập validation, đo xem mỗi phân vị lệch bao nhiêu so với thực tế, tính riêng cho từng nhóm SBC và từng mức phân vị. Bước 2, cộng phần lệch đó vào dự báo trên test, rồi sắp xếp lại để phân vị tăng dần và không âm. Bước 3 là kiểm tra kết quả. Coverage-95 là tỷ lệ giá trị thật nằm trong dải 95%, lý tưởng khoảng 0,95. Trước hiệu chuẩn, Chronos-Bolt và Moirai-2 chỉ phủ khoảng 0,75 vì đuôi bị kẹp. Nhóm bọc Negative Binomial thì hơi rộng, khoảng 0,98. Sau hiệu chuẩn, mọi mô hình về khoảng 0,95 đến 0,99. Không về đúng 0,95 được vì dữ liệu đếm có sàn bằng 0, nên coverage thực tế dừng quanh 0,975.</a:t>
            </a:r>
            <a:endParaRPr/>
          </a:p>
        </p:txBody>
      </p:sp>
      <p:sp>
        <p:nvSpPr>
          <p:cNvPr id="154" name="Google Shape;15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Sau hiệu chuẩn, nhóm chấm điểm bằng WSPL. Đây là pinball loss trung bình trên 9 phân vị, có trọng số theo doanh thu, nên sai ở mặt hàng đáng tiền thì bị phạt nặng hơn. Điểm thấp hơn chưa chắc là tốt hơn thật, nên nhóm dùng kiểm định Diebold–Mariano để so từng mô hình với mô hình tốt nhất. Sai số chuẩn được gom theo từng chuỗi, và có hiệu chỉnh Holm vì so sánh nhiều lần. Một mô hình chỉ bị loại khi p sau hiệu chỉnh nhỏ hơn 0,05 và nó thua ở cả 3 cửa sổ. Nếu chỉ còn mô hình tốt nhất thì gọi là thắng rõ. Nếu còn mô hình ngang hàng thì coi là tương đương và chọn mô hình rẻ nhất. Lý do: hai điều kiện độc lập giúp tránh kết luận nhờ một cửa sổ may mắn, và khi kết quả ngang nhau thì mô hình rẻ hơn dễ triển khai hơn.</a:t>
            </a:r>
            <a:endParaRPr/>
          </a:p>
        </p:txBody>
      </p:sp>
      <p:sp>
        <p:nvSpPr>
          <p:cNvPr id="199" name="Google Shape;19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Đây là kết quả chính: điểm WSPL sau hiệu chuẩn, trung bình 3 cửa sổ. Điểm càng thấp càng tốt, ô càng đậm là càng tốt, ô viền cam là tốt nhất mỗi cột. LightGBM tốt nhất ở 3 trên 4 nhóm. Riêng nhóm erratic, Moirai-2 nhỉnh hơn một chút. Khi gộp toàn tập, dù chia đều cho 4 nhóm hay theo tỷ lệ thật của 30.490 chuỗi, LightGBM vẫn thấp nhất. Hai baseline đơn giản nhất là Naive và SeasonalNaive kém nhất ở mọi nhóm. Tuy nhiên điểm thấp hơn chưa có nghĩa là thắng thật, slide sau sẽ kiểm định.</a:t>
            </a:r>
            <a:endParaRPr/>
          </a:p>
        </p:txBody>
      </p:sp>
      <p:sp>
        <p:nvSpPr>
          <p:cNvPr id="230" name="Google Shape;23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Đây là bảng quyết định sau kiểm định. Chỉ nhóm smooth có kết luận chắc chắn: LightGBM thắng rõ với p bằng 0,007. Ở ba nhóm còn lại, p đều lớn hơn 0,05 rất nhiều, tức là các mô hình hàng đầu ngang nhau về thống kê. Mỗi nhóm có từ 2 đến 7 mô hình ngang hàng. Khi đó nhóm khuyến nghị mô hình rẻ nhất, ví dụ SeasonalNaive cho erratic và Croston cho intermittent, dù mô hình có điểm thấp nhất là Moirai-2 hoặc LightGBM. Cột cuối cho thấy dải 95% của mô hình được khuyến nghị đều phủ tốt.</a:t>
            </a:r>
            <a:endParaRPr/>
          </a:p>
        </p:txBody>
      </p:sp>
      <p:sp>
        <p:nvSpPr>
          <p:cNvPr id="301" name="Google Shape;30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Ngoài độ chính xác, nhóm xem thêm chi phí và rò rỉ dữ liệu. Về thời gian, LightGBM mất khoảng 1.240 giây vì phải huấn luyện 27 mô hình, còn foundation model chỉ suy luận nên nhanh hơn nhiều: Chronos-Bolt khoảng 94 giây, Moirai-2 khoảng 37 giây, TTM khoảng 8 giây. Mô hình cổ điển là rẻ nhất. Về rò rỉ, LightGBM chỉ dùng lag từ 28 ngày trở lên, foundation model chỉ đọc dữ liệu đến hết train, và M5 không nằm trong dữ liệu huấn luyện sẵn của Chronos và TTM. Về foundation model, Moirai-2 dẫn đầu nhóm erratic nhưng chỉ hơn khoảng 3%, p bằng 0,418, nên chưa đủ bằng chứng để ưu tiên. Cuối cùng, LightGBM dựa chủ yếu vào mức bán và độ dao động trong 28 ngày gần nhất.</a:t>
            </a:r>
            <a:endParaRPr/>
          </a:p>
        </p:txBody>
      </p:sp>
      <p:sp>
        <p:nvSpPr>
          <p:cNvPr id="319" name="Google Shape;31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Tóm lại, với nhóm smooth nên dùng LightGBM, đây là kết luận chắc chắn duy nhất. Ở ba nhóm còn lại, các mô hình hàng đầu ngang nhau về thống kê, nên chọn mô hình rẻ: SeasonalNaive cho erratic, Croston cho intermittent, LightGBM cho lumpy. Nếu chỉ được chọn một mô hình chung, LightGBM là lựa chọn an toàn vì WSPL toàn tập thấp nhất. Foundation model zero-shot chưa chứng minh được ưu thế. Muốn so sánh công bằng thì phải phân nhóm và hiệu chuẩn chung. Thông điệp cuối của nhóm là không có một mô hình tốt nhất cho mọi trường hợp, và khi hiệu năng ngang nhau thì nên chọn mô hình rẻ hơn. Cảm ơn thầy cô và các bạn đã lắng nghe.</a:t>
            </a:r>
            <a:endParaRPr/>
          </a:p>
        </p:txBody>
      </p:sp>
      <p:sp>
        <p:nvSpPr>
          <p:cNvPr id="355" name="Google Shape;35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6F4EE"/>
        </a:solidFill>
        <a:effectLst/>
      </p:bgPr>
    </p:bg>
    <p:spTree>
      <p:nvGrpSpPr>
        <p:cNvPr id="1" name="Shape 12"/>
        <p:cNvGrpSpPr/>
        <p:nvPr/>
      </p:nvGrpSpPr>
      <p:grpSpPr>
        <a:xfrm>
          <a:off x="0" y="0"/>
          <a:ext cx="0" cy="0"/>
          <a:chOff x="0" y="0"/>
          <a:chExt cx="0" cy="0"/>
        </a:xfrm>
      </p:grpSpPr>
      <p:sp>
        <p:nvSpPr>
          <p:cNvPr id="13" name="Google Shape;13;p13"/>
          <p:cNvSpPr txBox="1">
            <a:spLocks noGrp="1"/>
          </p:cNvSpPr>
          <p:nvPr>
            <p:ph type="title"/>
          </p:nvPr>
        </p:nvSpPr>
        <p:spPr>
          <a:xfrm>
            <a:off x="812800" y="1102358"/>
            <a:ext cx="10566400" cy="40894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B2433"/>
              </a:buClr>
              <a:buSzPts val="2800"/>
              <a:buFont typeface="Arial"/>
              <a:buNone/>
              <a:defRPr sz="2800">
                <a:solidFill>
                  <a:srgbClr val="1B243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3"/>
          <p:cNvSpPr txBox="1">
            <a:spLocks noGrp="1"/>
          </p:cNvSpPr>
          <p:nvPr>
            <p:ph type="body" idx="1"/>
          </p:nvPr>
        </p:nvSpPr>
        <p:spPr>
          <a:xfrm>
            <a:off x="812800" y="1816097"/>
            <a:ext cx="10566400" cy="4229103"/>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B2433"/>
              </a:buClr>
              <a:buSzPts val="1600"/>
              <a:buNone/>
              <a:defRPr sz="1600">
                <a:solidFill>
                  <a:srgbClr val="1B243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812800" y="1102358"/>
            <a:ext cx="10566400" cy="40894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1B2433"/>
              </a:buClr>
              <a:buSzPts val="2800"/>
              <a:buFont typeface="Arial"/>
              <a:buNone/>
              <a:defRPr sz="2800" b="0" i="0" u="none" strike="noStrike" cap="none">
                <a:solidFill>
                  <a:srgbClr val="1B24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812800" y="1816097"/>
            <a:ext cx="10566400" cy="4229103"/>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1B2433"/>
              </a:buClr>
              <a:buSzPts val="1600"/>
              <a:buFont typeface="Arial"/>
              <a:buNone/>
              <a:defRPr sz="1600" b="0" i="0" u="none" strike="noStrike" cap="none">
                <a:solidFill>
                  <a:srgbClr val="1B2433"/>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433"/>
        </a:solidFill>
        <a:effectLst/>
      </p:bgPr>
    </p:bg>
    <p:spTree>
      <p:nvGrpSpPr>
        <p:cNvPr id="1" name="Shape 20"/>
        <p:cNvGrpSpPr/>
        <p:nvPr/>
      </p:nvGrpSpPr>
      <p:grpSpPr>
        <a:xfrm>
          <a:off x="0" y="0"/>
          <a:ext cx="0" cy="0"/>
          <a:chOff x="0" y="0"/>
          <a:chExt cx="0" cy="0"/>
        </a:xfrm>
      </p:grpSpPr>
      <p:sp>
        <p:nvSpPr>
          <p:cNvPr id="21" name="Google Shape;21;p1"/>
          <p:cNvSpPr txBox="1">
            <a:spLocks noGrp="1"/>
          </p:cNvSpPr>
          <p:nvPr>
            <p:ph type="title"/>
          </p:nvPr>
        </p:nvSpPr>
        <p:spPr>
          <a:xfrm>
            <a:off x="812800" y="2283460"/>
            <a:ext cx="9156700" cy="125476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F3F0E8"/>
              </a:buClr>
              <a:buSzPts val="4400"/>
              <a:buFont typeface="Arial"/>
              <a:buNone/>
            </a:pPr>
            <a:r>
              <a:rPr lang="en-US" sz="4400" b="1" i="0">
                <a:solidFill>
                  <a:srgbClr val="F3F0E8"/>
                </a:solidFill>
                <a:latin typeface="Arial"/>
                <a:ea typeface="Arial"/>
                <a:cs typeface="Arial"/>
                <a:sym typeface="Arial"/>
              </a:rPr>
              <a:t>Dự báo xác suất nhu cầu gián đoạn trong bán lẻ</a:t>
            </a:r>
            <a:endParaRPr sz="4400"/>
          </a:p>
        </p:txBody>
      </p:sp>
      <p:sp>
        <p:nvSpPr>
          <p:cNvPr id="22" name="Google Shape;22;p1"/>
          <p:cNvSpPr/>
          <p:nvPr/>
        </p:nvSpPr>
        <p:spPr>
          <a:xfrm>
            <a:off x="812800" y="3766820"/>
            <a:ext cx="8502650" cy="6299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C9D3DE"/>
              </a:buClr>
              <a:buSzPts val="1700"/>
              <a:buFont typeface="Arial"/>
              <a:buNone/>
            </a:pPr>
            <a:r>
              <a:rPr lang="en-US" sz="1700" b="0" i="0" u="none" strike="noStrike" cap="none">
                <a:solidFill>
                  <a:srgbClr val="C9D3DE"/>
                </a:solidFill>
                <a:latin typeface="Arial"/>
                <a:ea typeface="Arial"/>
                <a:cs typeface="Arial"/>
                <a:sym typeface="Arial"/>
              </a:rPr>
              <a:t>So sánh mô hình cổ điển, machine learning và foundation model theo từng nhóm nhu cầu</a:t>
            </a:r>
            <a:endParaRPr sz="1700" b="0" i="0" u="none" strike="noStrike" cap="none">
              <a:solidFill>
                <a:schemeClr val="dk1"/>
              </a:solidFill>
              <a:latin typeface="Arial"/>
              <a:ea typeface="Arial"/>
              <a:cs typeface="Arial"/>
              <a:sym typeface="Arial"/>
            </a:endParaRPr>
          </a:p>
        </p:txBody>
      </p:sp>
      <p:sp>
        <p:nvSpPr>
          <p:cNvPr id="23" name="Google Shape;23;p1"/>
          <p:cNvSpPr/>
          <p:nvPr/>
        </p:nvSpPr>
        <p:spPr>
          <a:xfrm>
            <a:off x="812800" y="6202680"/>
            <a:ext cx="7848600"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C9D3DE"/>
              </a:buClr>
              <a:buSzPts val="1400"/>
              <a:buFont typeface="Arial"/>
              <a:buNone/>
            </a:pPr>
            <a:r>
              <a:rPr lang="en-US" sz="1400" b="0" i="0" u="none" strike="noStrike" cap="none">
                <a:solidFill>
                  <a:srgbClr val="C9D3DE"/>
                </a:solidFill>
                <a:latin typeface="Arial"/>
                <a:ea typeface="Arial"/>
                <a:cs typeface="Arial"/>
                <a:sym typeface="Arial"/>
              </a:rPr>
              <a:t>Dữ liệu M5 Walmart, 30.490 chuỗi bán lẻ theo ngày</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Shape 28"/>
        <p:cNvGrpSpPr/>
        <p:nvPr/>
      </p:nvGrpSpPr>
      <p:grpSpPr>
        <a:xfrm>
          <a:off x="0" y="0"/>
          <a:ext cx="0" cy="0"/>
          <a:chOff x="0" y="0"/>
          <a:chExt cx="0" cy="0"/>
        </a:xfrm>
      </p:grpSpPr>
      <p:sp>
        <p:nvSpPr>
          <p:cNvPr id="29" name="Google Shape;29;p2"/>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CÂU HỎI NGHIÊN CỨU</a:t>
            </a:r>
            <a:endParaRPr sz="1200" b="0" i="0" u="none" strike="noStrike" cap="none">
              <a:solidFill>
                <a:schemeClr val="dk1"/>
              </a:solidFill>
              <a:latin typeface="Arial"/>
              <a:ea typeface="Arial"/>
              <a:cs typeface="Arial"/>
              <a:sym typeface="Arial"/>
            </a:endParaRPr>
          </a:p>
        </p:txBody>
      </p:sp>
      <p:sp>
        <p:nvSpPr>
          <p:cNvPr id="30" name="Google Shape;30;p2"/>
          <p:cNvSpPr txBox="1">
            <a:spLocks noGrp="1"/>
          </p:cNvSpPr>
          <p:nvPr>
            <p:ph type="title"/>
          </p:nvPr>
        </p:nvSpPr>
        <p:spPr>
          <a:xfrm>
            <a:off x="812800" y="1102360"/>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Nhu cầu nào thì nên dùng mô hình nào?</a:t>
            </a:r>
            <a:endParaRPr sz="2800"/>
          </a:p>
        </p:txBody>
      </p:sp>
      <p:sp>
        <p:nvSpPr>
          <p:cNvPr id="31" name="Google Shape;31;p2"/>
          <p:cNvSpPr/>
          <p:nvPr/>
        </p:nvSpPr>
        <p:spPr>
          <a:xfrm>
            <a:off x="812800" y="1587500"/>
            <a:ext cx="10883392"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400"/>
              <a:buFont typeface="Arial"/>
              <a:buNone/>
            </a:pPr>
            <a:r>
              <a:rPr lang="en-US" sz="1400" b="0" i="0" u="none" strike="noStrike" cap="none">
                <a:solidFill>
                  <a:srgbClr val="4A5361"/>
                </a:solidFill>
                <a:latin typeface="Arial"/>
                <a:ea typeface="Arial"/>
                <a:cs typeface="Arial"/>
                <a:sym typeface="Arial"/>
              </a:rPr>
              <a:t>Nếu foundation model tốt hơn, ưu thế đó có còn đứng vững khi kiểm định thống kê không?</a:t>
            </a:r>
            <a:endParaRPr sz="1400" b="0" i="0" u="none" strike="noStrike" cap="none">
              <a:solidFill>
                <a:schemeClr val="dk1"/>
              </a:solidFill>
              <a:latin typeface="Arial"/>
              <a:ea typeface="Arial"/>
              <a:cs typeface="Arial"/>
              <a:sym typeface="Arial"/>
            </a:endParaRPr>
          </a:p>
        </p:txBody>
      </p:sp>
      <p:sp>
        <p:nvSpPr>
          <p:cNvPr id="32" name="Google Shape;32;p2"/>
          <p:cNvSpPr/>
          <p:nvPr/>
        </p:nvSpPr>
        <p:spPr>
          <a:xfrm>
            <a:off x="815975" y="2042795"/>
            <a:ext cx="3210983" cy="490432"/>
          </a:xfrm>
          <a:prstGeom prst="roundRect">
            <a:avLst>
              <a:gd name="adj" fmla="val 14890"/>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972291" y="2148311"/>
            <a:ext cx="279400" cy="279400"/>
          </a:xfrm>
          <a:custGeom>
            <a:avLst/>
            <a:gdLst/>
            <a:ahLst/>
            <a:cxnLst/>
            <a:rect l="l" t="t" r="r" b="b"/>
            <a:pathLst>
              <a:path w="279400" h="279400" extrusionOk="0">
                <a:moveTo>
                  <a:pt x="139700" y="0"/>
                </a:moveTo>
                <a:lnTo>
                  <a:pt x="139700" y="0"/>
                </a:lnTo>
                <a:cubicBezTo>
                  <a:pt x="176751" y="0"/>
                  <a:pt x="212284" y="14718"/>
                  <a:pt x="238483" y="40917"/>
                </a:cubicBezTo>
                <a:cubicBezTo>
                  <a:pt x="264682" y="67116"/>
                  <a:pt x="279400" y="102649"/>
                  <a:pt x="279400" y="139700"/>
                </a:cubicBezTo>
                <a:lnTo>
                  <a:pt x="279400" y="139700"/>
                </a:lnTo>
                <a:cubicBezTo>
                  <a:pt x="279400" y="216854"/>
                  <a:pt x="216854" y="279400"/>
                  <a:pt x="139700" y="279400"/>
                </a:cubicBezTo>
                <a:lnTo>
                  <a:pt x="139700" y="279400"/>
                </a:lnTo>
                <a:cubicBezTo>
                  <a:pt x="62546" y="279400"/>
                  <a:pt x="0" y="216854"/>
                  <a:pt x="0" y="139700"/>
                </a:cubicBezTo>
                <a:lnTo>
                  <a:pt x="0" y="139700"/>
                </a:lnTo>
                <a:cubicBezTo>
                  <a:pt x="0" y="62546"/>
                  <a:pt x="62546" y="0"/>
                  <a:pt x="139700" y="0"/>
                </a:cubicBezTo>
                <a:close/>
              </a:path>
            </a:pathLst>
          </a:custGeom>
          <a:solidFill>
            <a:srgbClr val="E4E0D4"/>
          </a:solidFill>
          <a:ln>
            <a:noFill/>
          </a:ln>
        </p:spPr>
        <p:txBody>
          <a:bodyPr spcFirstLastPara="1" wrap="square" lIns="0" tIns="0" rIns="0" bIns="0" anchor="ctr" anchorCtr="0">
            <a:normAutofit/>
          </a:bodyPr>
          <a:lstStyle/>
          <a:p>
            <a:pPr marL="0" marR="0" lvl="0" indent="0" algn="ctr" rtl="0">
              <a:lnSpc>
                <a:spcPct val="183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1</a:t>
            </a:r>
            <a:endParaRPr sz="1200" b="0" i="0" u="none" strike="noStrike" cap="none">
              <a:solidFill>
                <a:schemeClr val="dk1"/>
              </a:solidFill>
              <a:latin typeface="Arial"/>
              <a:ea typeface="Arial"/>
              <a:cs typeface="Arial"/>
              <a:sym typeface="Arial"/>
            </a:endParaRPr>
          </a:p>
        </p:txBody>
      </p:sp>
      <p:sp>
        <p:nvSpPr>
          <p:cNvPr id="34" name="Google Shape;34;p2"/>
          <p:cNvSpPr/>
          <p:nvPr/>
        </p:nvSpPr>
        <p:spPr>
          <a:xfrm>
            <a:off x="1353291" y="2163551"/>
            <a:ext cx="2561971"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Dự báo 9 phân vị mỗi ngày</a:t>
            </a:r>
            <a:endParaRPr sz="1400" b="0" i="0" u="none" strike="noStrike" cap="none">
              <a:solidFill>
                <a:schemeClr val="dk1"/>
              </a:solidFill>
              <a:latin typeface="Arial"/>
              <a:ea typeface="Arial"/>
              <a:cs typeface="Arial"/>
              <a:sym typeface="Arial"/>
            </a:endParaRPr>
          </a:p>
        </p:txBody>
      </p:sp>
      <p:pic>
        <p:nvPicPr>
          <p:cNvPr id="35" name="Google Shape;35;p2" descr="arrow-right"/>
          <p:cNvPicPr preferRelativeResize="0"/>
          <p:nvPr/>
        </p:nvPicPr>
        <p:blipFill rotWithShape="1">
          <a:blip r:embed="rId3">
            <a:alphaModFix/>
          </a:blip>
          <a:srcRect/>
          <a:stretch/>
        </p:blipFill>
        <p:spPr>
          <a:xfrm>
            <a:off x="4131733" y="2224511"/>
            <a:ext cx="254000" cy="127000"/>
          </a:xfrm>
          <a:prstGeom prst="rect">
            <a:avLst/>
          </a:prstGeom>
          <a:noFill/>
          <a:ln>
            <a:noFill/>
          </a:ln>
        </p:spPr>
      </p:pic>
      <p:sp>
        <p:nvSpPr>
          <p:cNvPr id="36" name="Google Shape;36;p2"/>
          <p:cNvSpPr/>
          <p:nvPr/>
        </p:nvSpPr>
        <p:spPr>
          <a:xfrm>
            <a:off x="4490508" y="2042795"/>
            <a:ext cx="3210983" cy="490432"/>
          </a:xfrm>
          <a:prstGeom prst="roundRect">
            <a:avLst>
              <a:gd name="adj" fmla="val 14890"/>
            </a:avLst>
          </a:prstGeom>
          <a:solidFill>
            <a:srgbClr val="24496F"/>
          </a:solidFill>
          <a:ln w="9525" cap="flat" cmpd="sng">
            <a:solidFill>
              <a:srgbClr val="24496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646824" y="2148311"/>
            <a:ext cx="279400" cy="279400"/>
          </a:xfrm>
          <a:custGeom>
            <a:avLst/>
            <a:gdLst/>
            <a:ahLst/>
            <a:cxnLst/>
            <a:rect l="l" t="t" r="r" b="b"/>
            <a:pathLst>
              <a:path w="279400" h="279400" extrusionOk="0">
                <a:moveTo>
                  <a:pt x="139700" y="0"/>
                </a:moveTo>
                <a:lnTo>
                  <a:pt x="139700" y="0"/>
                </a:lnTo>
                <a:cubicBezTo>
                  <a:pt x="176751" y="0"/>
                  <a:pt x="212284" y="14718"/>
                  <a:pt x="238483" y="40917"/>
                </a:cubicBezTo>
                <a:cubicBezTo>
                  <a:pt x="264682" y="67116"/>
                  <a:pt x="279400" y="102649"/>
                  <a:pt x="279400" y="139700"/>
                </a:cubicBezTo>
                <a:lnTo>
                  <a:pt x="279400" y="139700"/>
                </a:lnTo>
                <a:cubicBezTo>
                  <a:pt x="279400" y="216854"/>
                  <a:pt x="216854" y="279400"/>
                  <a:pt x="139700" y="279400"/>
                </a:cubicBezTo>
                <a:lnTo>
                  <a:pt x="139700" y="279400"/>
                </a:lnTo>
                <a:cubicBezTo>
                  <a:pt x="62546" y="279400"/>
                  <a:pt x="0" y="216854"/>
                  <a:pt x="0" y="139700"/>
                </a:cubicBezTo>
                <a:lnTo>
                  <a:pt x="0" y="139700"/>
                </a:lnTo>
                <a:cubicBezTo>
                  <a:pt x="0" y="62546"/>
                  <a:pt x="62546" y="0"/>
                  <a:pt x="139700" y="0"/>
                </a:cubicBezTo>
                <a:close/>
              </a:path>
            </a:pathLst>
          </a:custGeom>
          <a:solidFill>
            <a:srgbClr val="F6F4EE"/>
          </a:solidFill>
          <a:ln>
            <a:noFill/>
          </a:ln>
        </p:spPr>
        <p:txBody>
          <a:bodyPr spcFirstLastPara="1" wrap="square" lIns="0" tIns="0" rIns="0" bIns="0" anchor="ctr" anchorCtr="0">
            <a:normAutofit/>
          </a:bodyPr>
          <a:lstStyle/>
          <a:p>
            <a:pPr marL="0" marR="0" lvl="0" indent="0" algn="ctr" rtl="0">
              <a:lnSpc>
                <a:spcPct val="183000"/>
              </a:lnSpc>
              <a:spcBef>
                <a:spcPts val="0"/>
              </a:spcBef>
              <a:spcAft>
                <a:spcPts val="0"/>
              </a:spcAft>
              <a:buClr>
                <a:srgbClr val="24496F"/>
              </a:buClr>
              <a:buSzPts val="1200"/>
              <a:buFont typeface="Arial"/>
              <a:buNone/>
            </a:pPr>
            <a:r>
              <a:rPr lang="en-US" sz="1200" b="1" i="0" u="none" strike="noStrike" cap="none">
                <a:solidFill>
                  <a:srgbClr val="24496F"/>
                </a:solidFill>
                <a:latin typeface="Arial"/>
                <a:ea typeface="Arial"/>
                <a:cs typeface="Arial"/>
                <a:sym typeface="Arial"/>
              </a:rPr>
              <a:t>2</a:t>
            </a:r>
            <a:endParaRPr sz="1200" b="0" i="0" u="none" strike="noStrike" cap="none">
              <a:solidFill>
                <a:schemeClr val="dk1"/>
              </a:solidFill>
              <a:latin typeface="Arial"/>
              <a:ea typeface="Arial"/>
              <a:cs typeface="Arial"/>
              <a:sym typeface="Arial"/>
            </a:endParaRPr>
          </a:p>
        </p:txBody>
      </p:sp>
      <p:sp>
        <p:nvSpPr>
          <p:cNvPr id="38" name="Google Shape;38;p2"/>
          <p:cNvSpPr/>
          <p:nvPr/>
        </p:nvSpPr>
        <p:spPr>
          <a:xfrm>
            <a:off x="5027824" y="2163551"/>
            <a:ext cx="2670493"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6F4EE"/>
              </a:buClr>
              <a:buSzPts val="1400"/>
              <a:buFont typeface="Arial"/>
              <a:buNone/>
            </a:pPr>
            <a:r>
              <a:rPr lang="en-US" sz="1400" b="0" i="0" u="none" strike="noStrike" cap="none">
                <a:solidFill>
                  <a:srgbClr val="F6F4EE"/>
                </a:solidFill>
                <a:latin typeface="Arial"/>
                <a:ea typeface="Arial"/>
                <a:cs typeface="Arial"/>
                <a:sym typeface="Arial"/>
              </a:rPr>
              <a:t>Xếp mỗi chuỗi vào nhóm SBC</a:t>
            </a:r>
            <a:endParaRPr sz="1400" b="0" i="0" u="none" strike="noStrike" cap="none">
              <a:solidFill>
                <a:schemeClr val="dk1"/>
              </a:solidFill>
              <a:latin typeface="Arial"/>
              <a:ea typeface="Arial"/>
              <a:cs typeface="Arial"/>
              <a:sym typeface="Arial"/>
            </a:endParaRPr>
          </a:p>
        </p:txBody>
      </p:sp>
      <p:pic>
        <p:nvPicPr>
          <p:cNvPr id="39" name="Google Shape;39;p2" descr="arrow-right"/>
          <p:cNvPicPr preferRelativeResize="0"/>
          <p:nvPr/>
        </p:nvPicPr>
        <p:blipFill rotWithShape="1">
          <a:blip r:embed="rId3">
            <a:alphaModFix/>
          </a:blip>
          <a:srcRect/>
          <a:stretch/>
        </p:blipFill>
        <p:spPr>
          <a:xfrm>
            <a:off x="7806267" y="2224511"/>
            <a:ext cx="254000" cy="127000"/>
          </a:xfrm>
          <a:prstGeom prst="rect">
            <a:avLst/>
          </a:prstGeom>
          <a:noFill/>
          <a:ln>
            <a:noFill/>
          </a:ln>
        </p:spPr>
      </p:pic>
      <p:sp>
        <p:nvSpPr>
          <p:cNvPr id="40" name="Google Shape;40;p2"/>
          <p:cNvSpPr/>
          <p:nvPr/>
        </p:nvSpPr>
        <p:spPr>
          <a:xfrm>
            <a:off x="8165042" y="2042795"/>
            <a:ext cx="3210983" cy="490432"/>
          </a:xfrm>
          <a:prstGeom prst="roundRect">
            <a:avLst>
              <a:gd name="adj" fmla="val 14890"/>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21357" y="2148311"/>
            <a:ext cx="279400" cy="279400"/>
          </a:xfrm>
          <a:custGeom>
            <a:avLst/>
            <a:gdLst/>
            <a:ahLst/>
            <a:cxnLst/>
            <a:rect l="l" t="t" r="r" b="b"/>
            <a:pathLst>
              <a:path w="279400" h="279400" extrusionOk="0">
                <a:moveTo>
                  <a:pt x="139700" y="0"/>
                </a:moveTo>
                <a:lnTo>
                  <a:pt x="139700" y="0"/>
                </a:lnTo>
                <a:cubicBezTo>
                  <a:pt x="176751" y="0"/>
                  <a:pt x="212284" y="14718"/>
                  <a:pt x="238483" y="40917"/>
                </a:cubicBezTo>
                <a:cubicBezTo>
                  <a:pt x="264682" y="67116"/>
                  <a:pt x="279400" y="102649"/>
                  <a:pt x="279400" y="139700"/>
                </a:cubicBezTo>
                <a:lnTo>
                  <a:pt x="279400" y="139700"/>
                </a:lnTo>
                <a:cubicBezTo>
                  <a:pt x="279400" y="216854"/>
                  <a:pt x="216854" y="279400"/>
                  <a:pt x="139700" y="279400"/>
                </a:cubicBezTo>
                <a:lnTo>
                  <a:pt x="139700" y="279400"/>
                </a:lnTo>
                <a:cubicBezTo>
                  <a:pt x="62546" y="279400"/>
                  <a:pt x="0" y="216854"/>
                  <a:pt x="0" y="139700"/>
                </a:cubicBezTo>
                <a:lnTo>
                  <a:pt x="0" y="139700"/>
                </a:lnTo>
                <a:cubicBezTo>
                  <a:pt x="0" y="62546"/>
                  <a:pt x="62546" y="0"/>
                  <a:pt x="139700" y="0"/>
                </a:cubicBezTo>
                <a:close/>
              </a:path>
            </a:pathLst>
          </a:custGeom>
          <a:solidFill>
            <a:srgbClr val="E4E0D4"/>
          </a:solidFill>
          <a:ln>
            <a:noFill/>
          </a:ln>
        </p:spPr>
        <p:txBody>
          <a:bodyPr spcFirstLastPara="1" wrap="square" lIns="0" tIns="0" rIns="0" bIns="0" anchor="ctr" anchorCtr="0">
            <a:normAutofit/>
          </a:bodyPr>
          <a:lstStyle/>
          <a:p>
            <a:pPr marL="0" marR="0" lvl="0" indent="0" algn="ctr" rtl="0">
              <a:lnSpc>
                <a:spcPct val="183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3</a:t>
            </a:r>
            <a:endParaRPr sz="1200" b="0" i="0" u="none" strike="noStrike" cap="none">
              <a:solidFill>
                <a:schemeClr val="dk1"/>
              </a:solidFill>
              <a:latin typeface="Arial"/>
              <a:ea typeface="Arial"/>
              <a:cs typeface="Arial"/>
              <a:sym typeface="Arial"/>
            </a:endParaRPr>
          </a:p>
        </p:txBody>
      </p:sp>
      <p:sp>
        <p:nvSpPr>
          <p:cNvPr id="42" name="Google Shape;42;p2"/>
          <p:cNvSpPr/>
          <p:nvPr/>
        </p:nvSpPr>
        <p:spPr>
          <a:xfrm>
            <a:off x="8702357" y="2163551"/>
            <a:ext cx="2670493"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So sánh mô hình theo nhóm</a:t>
            </a:r>
            <a:endParaRPr sz="1400" b="0" i="0" u="none" strike="noStrike" cap="none">
              <a:solidFill>
                <a:schemeClr val="dk1"/>
              </a:solidFill>
              <a:latin typeface="Arial"/>
              <a:ea typeface="Arial"/>
              <a:cs typeface="Arial"/>
              <a:sym typeface="Arial"/>
            </a:endParaRPr>
          </a:p>
        </p:txBody>
      </p:sp>
      <p:sp>
        <p:nvSpPr>
          <p:cNvPr id="43" name="Google Shape;43;p2"/>
          <p:cNvSpPr/>
          <p:nvPr/>
        </p:nvSpPr>
        <p:spPr>
          <a:xfrm>
            <a:off x="812800" y="2739602"/>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4496F"/>
              </a:buClr>
              <a:buSzPts val="1200"/>
              <a:buFont typeface="Arial"/>
              <a:buNone/>
            </a:pPr>
            <a:r>
              <a:rPr lang="en-US" sz="1200" b="1" i="0" u="none" strike="noStrike" cap="none">
                <a:solidFill>
                  <a:srgbClr val="24496F"/>
                </a:solidFill>
                <a:latin typeface="Arial"/>
                <a:ea typeface="Arial"/>
                <a:cs typeface="Arial"/>
                <a:sym typeface="Arial"/>
              </a:rPr>
              <a:t>Khung SBC.</a:t>
            </a:r>
            <a:r>
              <a:rPr lang="en-US" sz="1200" b="0" i="0" u="none" strike="noStrike" cap="none">
                <a:solidFill>
                  <a:srgbClr val="4A5361"/>
                </a:solidFill>
                <a:latin typeface="Arial"/>
                <a:ea typeface="Arial"/>
                <a:cs typeface="Arial"/>
                <a:sym typeface="Arial"/>
              </a:rPr>
              <a:t> ADI: trung bình bao nhiêu ngày mới bán một lần. CV²: lượng bán mỗi lần dao động mạnh hay yếu. Cả hai tính trên tập train.</a:t>
            </a:r>
            <a:endParaRPr sz="1200" b="0" i="0" u="none" strike="noStrike" cap="none">
              <a:solidFill>
                <a:schemeClr val="dk1"/>
              </a:solidFill>
              <a:latin typeface="Arial"/>
              <a:ea typeface="Arial"/>
              <a:cs typeface="Arial"/>
              <a:sym typeface="Arial"/>
            </a:endParaRPr>
          </a:p>
        </p:txBody>
      </p:sp>
      <p:sp>
        <p:nvSpPr>
          <p:cNvPr id="44" name="Google Shape;44;p2"/>
          <p:cNvSpPr/>
          <p:nvPr/>
        </p:nvSpPr>
        <p:spPr>
          <a:xfrm>
            <a:off x="812800" y="3029162"/>
            <a:ext cx="1962150" cy="2794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Nhóm SBC</a:t>
            </a:r>
            <a:endParaRPr sz="1200" b="0" i="0" u="none" strike="noStrike" cap="none">
              <a:solidFill>
                <a:schemeClr val="dk1"/>
              </a:solidFill>
              <a:latin typeface="Arial"/>
              <a:ea typeface="Arial"/>
              <a:cs typeface="Arial"/>
              <a:sym typeface="Arial"/>
            </a:endParaRPr>
          </a:p>
        </p:txBody>
      </p:sp>
      <p:sp>
        <p:nvSpPr>
          <p:cNvPr id="45" name="Google Shape;45;p2"/>
          <p:cNvSpPr/>
          <p:nvPr/>
        </p:nvSpPr>
        <p:spPr>
          <a:xfrm>
            <a:off x="812800" y="3471121"/>
            <a:ext cx="1962150"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Lượng dao động</a:t>
            </a:r>
            <a:endParaRPr sz="1400" b="0" i="0" u="none" strike="noStrike" cap="none">
              <a:solidFill>
                <a:schemeClr val="dk1"/>
              </a:solidFill>
              <a:latin typeface="Arial"/>
              <a:ea typeface="Arial"/>
              <a:cs typeface="Arial"/>
              <a:sym typeface="Arial"/>
            </a:endParaRPr>
          </a:p>
        </p:txBody>
      </p:sp>
      <p:sp>
        <p:nvSpPr>
          <p:cNvPr id="46" name="Google Shape;46;p2"/>
          <p:cNvSpPr/>
          <p:nvPr/>
        </p:nvSpPr>
        <p:spPr>
          <a:xfrm>
            <a:off x="812800" y="3745442"/>
            <a:ext cx="19621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CV² ≥ 0,49</a:t>
            </a:r>
            <a:endParaRPr sz="1200" b="0" i="0" u="none" strike="noStrike" cap="none">
              <a:solidFill>
                <a:schemeClr val="dk1"/>
              </a:solidFill>
              <a:latin typeface="Arial"/>
              <a:ea typeface="Arial"/>
              <a:cs typeface="Arial"/>
              <a:sym typeface="Arial"/>
            </a:endParaRPr>
          </a:p>
        </p:txBody>
      </p:sp>
      <p:sp>
        <p:nvSpPr>
          <p:cNvPr id="47" name="Google Shape;47;p2"/>
          <p:cNvSpPr/>
          <p:nvPr/>
        </p:nvSpPr>
        <p:spPr>
          <a:xfrm>
            <a:off x="812800" y="4283921"/>
            <a:ext cx="1962150"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Lượng ổn định</a:t>
            </a:r>
            <a:endParaRPr sz="1400" b="0" i="0" u="none" strike="noStrike" cap="none">
              <a:solidFill>
                <a:schemeClr val="dk1"/>
              </a:solidFill>
              <a:latin typeface="Arial"/>
              <a:ea typeface="Arial"/>
              <a:cs typeface="Arial"/>
              <a:sym typeface="Arial"/>
            </a:endParaRPr>
          </a:p>
        </p:txBody>
      </p:sp>
      <p:sp>
        <p:nvSpPr>
          <p:cNvPr id="48" name="Google Shape;48;p2"/>
          <p:cNvSpPr/>
          <p:nvPr/>
        </p:nvSpPr>
        <p:spPr>
          <a:xfrm>
            <a:off x="812800" y="4558242"/>
            <a:ext cx="19621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CV² &lt; 0,49</a:t>
            </a:r>
            <a:endParaRPr sz="1200" b="0" i="0" u="none" strike="noStrike" cap="none">
              <a:solidFill>
                <a:schemeClr val="dk1"/>
              </a:solidFill>
              <a:latin typeface="Arial"/>
              <a:ea typeface="Arial"/>
              <a:cs typeface="Arial"/>
              <a:sym typeface="Arial"/>
            </a:endParaRPr>
          </a:p>
        </p:txBody>
      </p:sp>
      <p:sp>
        <p:nvSpPr>
          <p:cNvPr id="49" name="Google Shape;49;p2"/>
          <p:cNvSpPr/>
          <p:nvPr/>
        </p:nvSpPr>
        <p:spPr>
          <a:xfrm>
            <a:off x="2794000" y="3029162"/>
            <a:ext cx="4355973" cy="2794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400"/>
              <a:buFont typeface="Arial"/>
              <a:buNone/>
            </a:pPr>
            <a:r>
              <a:rPr lang="en-US" sz="1400" b="1" i="0" u="none" strike="noStrike" cap="none">
                <a:solidFill>
                  <a:srgbClr val="4A5361"/>
                </a:solidFill>
                <a:latin typeface="Arial"/>
                <a:ea typeface="Arial"/>
                <a:cs typeface="Arial"/>
                <a:sym typeface="Arial"/>
              </a:rPr>
              <a:t>Bán đều </a:t>
            </a:r>
            <a:r>
              <a:rPr lang="en-US" sz="1400" b="1" i="0" u="none" strike="noStrike" cap="none">
                <a:solidFill>
                  <a:srgbClr val="5E6673"/>
                </a:solidFill>
                <a:latin typeface="Arial"/>
                <a:ea typeface="Arial"/>
                <a:cs typeface="Arial"/>
                <a:sym typeface="Arial"/>
              </a:rPr>
              <a:t>(ADI &lt; 1,32)</a:t>
            </a:r>
            <a:endParaRPr sz="1400" b="0" i="0" u="none" strike="noStrike" cap="none">
              <a:solidFill>
                <a:schemeClr val="dk1"/>
              </a:solidFill>
              <a:latin typeface="Arial"/>
              <a:ea typeface="Arial"/>
              <a:cs typeface="Arial"/>
              <a:sym typeface="Arial"/>
            </a:endParaRPr>
          </a:p>
        </p:txBody>
      </p:sp>
      <p:sp>
        <p:nvSpPr>
          <p:cNvPr id="50" name="Google Shape;50;p2"/>
          <p:cNvSpPr/>
          <p:nvPr/>
        </p:nvSpPr>
        <p:spPr>
          <a:xfrm>
            <a:off x="2768600" y="3333962"/>
            <a:ext cx="4279900" cy="762000"/>
          </a:xfrm>
          <a:prstGeom prst="roundRect">
            <a:avLst>
              <a:gd name="adj" fmla="val 10000"/>
            </a:avLst>
          </a:prstGeom>
          <a:solidFill>
            <a:srgbClr val="E4E0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2971800" y="3563832"/>
            <a:ext cx="792353" cy="3276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erratic</a:t>
            </a:r>
            <a:endParaRPr sz="1700" b="0" i="0" u="none" strike="noStrike" cap="none">
              <a:solidFill>
                <a:schemeClr val="dk1"/>
              </a:solidFill>
              <a:latin typeface="Arial"/>
              <a:ea typeface="Arial"/>
              <a:cs typeface="Arial"/>
              <a:sym typeface="Arial"/>
            </a:endParaRPr>
          </a:p>
        </p:txBody>
      </p:sp>
      <p:sp>
        <p:nvSpPr>
          <p:cNvPr id="52" name="Google Shape;52;p2"/>
          <p:cNvSpPr/>
          <p:nvPr/>
        </p:nvSpPr>
        <p:spPr>
          <a:xfrm>
            <a:off x="5386578" y="3590502"/>
            <a:ext cx="1458722" cy="27432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1,62% số chuỗi</a:t>
            </a:r>
            <a:endParaRPr sz="1400" b="0" i="0" u="none" strike="noStrike" cap="none">
              <a:solidFill>
                <a:schemeClr val="dk1"/>
              </a:solidFill>
              <a:latin typeface="Arial"/>
              <a:ea typeface="Arial"/>
              <a:cs typeface="Arial"/>
              <a:sym typeface="Arial"/>
            </a:endParaRPr>
          </a:p>
        </p:txBody>
      </p:sp>
      <p:sp>
        <p:nvSpPr>
          <p:cNvPr id="53" name="Google Shape;53;p2"/>
          <p:cNvSpPr/>
          <p:nvPr/>
        </p:nvSpPr>
        <p:spPr>
          <a:xfrm>
            <a:off x="2768600" y="4146762"/>
            <a:ext cx="4279900" cy="762000"/>
          </a:xfrm>
          <a:prstGeom prst="roundRect">
            <a:avLst>
              <a:gd name="adj" fmla="val 10000"/>
            </a:avLst>
          </a:prstGeom>
          <a:solidFill>
            <a:srgbClr val="E4E0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971800" y="4376632"/>
            <a:ext cx="935482" cy="3276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smooth</a:t>
            </a:r>
            <a:endParaRPr sz="1700" b="0" i="0" u="none" strike="noStrike" cap="none">
              <a:solidFill>
                <a:schemeClr val="dk1"/>
              </a:solidFill>
              <a:latin typeface="Arial"/>
              <a:ea typeface="Arial"/>
              <a:cs typeface="Arial"/>
              <a:sym typeface="Arial"/>
            </a:endParaRPr>
          </a:p>
        </p:txBody>
      </p:sp>
      <p:sp>
        <p:nvSpPr>
          <p:cNvPr id="55" name="Google Shape;55;p2"/>
          <p:cNvSpPr/>
          <p:nvPr/>
        </p:nvSpPr>
        <p:spPr>
          <a:xfrm>
            <a:off x="5386578" y="4403302"/>
            <a:ext cx="1458722" cy="27432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3,21% số chuỗi</a:t>
            </a:r>
            <a:endParaRPr sz="1400" b="0" i="0" u="none" strike="noStrike" cap="none">
              <a:solidFill>
                <a:schemeClr val="dk1"/>
              </a:solidFill>
              <a:latin typeface="Arial"/>
              <a:ea typeface="Arial"/>
              <a:cs typeface="Arial"/>
              <a:sym typeface="Arial"/>
            </a:endParaRPr>
          </a:p>
        </p:txBody>
      </p:sp>
      <p:sp>
        <p:nvSpPr>
          <p:cNvPr id="56" name="Google Shape;56;p2"/>
          <p:cNvSpPr/>
          <p:nvPr/>
        </p:nvSpPr>
        <p:spPr>
          <a:xfrm>
            <a:off x="7124700" y="3029162"/>
            <a:ext cx="4355973" cy="2794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4496F"/>
              </a:buClr>
              <a:buSzPts val="1400"/>
              <a:buFont typeface="Arial"/>
              <a:buNone/>
            </a:pPr>
            <a:r>
              <a:rPr lang="en-US" sz="1400" b="1" i="0" u="none" strike="noStrike" cap="none">
                <a:solidFill>
                  <a:srgbClr val="24496F"/>
                </a:solidFill>
                <a:latin typeface="Arial"/>
                <a:ea typeface="Arial"/>
                <a:cs typeface="Arial"/>
                <a:sym typeface="Arial"/>
              </a:rPr>
              <a:t>Bán thưa </a:t>
            </a:r>
            <a:r>
              <a:rPr lang="en-US" sz="1400" b="1" i="0" u="none" strike="noStrike" cap="none">
                <a:solidFill>
                  <a:srgbClr val="5E6673"/>
                </a:solidFill>
                <a:latin typeface="Arial"/>
                <a:ea typeface="Arial"/>
                <a:cs typeface="Arial"/>
                <a:sym typeface="Arial"/>
              </a:rPr>
              <a:t>(ADI ≥ 1,32)</a:t>
            </a:r>
            <a:endParaRPr sz="1400" b="0" i="0" u="none" strike="noStrike" cap="none">
              <a:solidFill>
                <a:schemeClr val="dk1"/>
              </a:solidFill>
              <a:latin typeface="Arial"/>
              <a:ea typeface="Arial"/>
              <a:cs typeface="Arial"/>
              <a:sym typeface="Arial"/>
            </a:endParaRPr>
          </a:p>
        </p:txBody>
      </p:sp>
      <p:sp>
        <p:nvSpPr>
          <p:cNvPr id="57" name="Google Shape;57;p2"/>
          <p:cNvSpPr/>
          <p:nvPr/>
        </p:nvSpPr>
        <p:spPr>
          <a:xfrm>
            <a:off x="7099300" y="3333962"/>
            <a:ext cx="4279900" cy="762000"/>
          </a:xfrm>
          <a:prstGeom prst="roundRect">
            <a:avLst>
              <a:gd name="adj" fmla="val 10000"/>
            </a:avLst>
          </a:prstGeom>
          <a:solidFill>
            <a:srgbClr val="3F6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7302500" y="3563832"/>
            <a:ext cx="763016" cy="3276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6F4EE"/>
              </a:buClr>
              <a:buSzPts val="1700"/>
              <a:buFont typeface="Arial"/>
              <a:buNone/>
            </a:pPr>
            <a:r>
              <a:rPr lang="en-US" sz="1700" b="1" i="0" u="none" strike="noStrike" cap="none">
                <a:solidFill>
                  <a:srgbClr val="F6F4EE"/>
                </a:solidFill>
                <a:latin typeface="Arial"/>
                <a:ea typeface="Arial"/>
                <a:cs typeface="Arial"/>
                <a:sym typeface="Arial"/>
              </a:rPr>
              <a:t>lumpy</a:t>
            </a:r>
            <a:endParaRPr sz="1700" b="0" i="0" u="none" strike="noStrike" cap="none">
              <a:solidFill>
                <a:schemeClr val="dk1"/>
              </a:solidFill>
              <a:latin typeface="Arial"/>
              <a:ea typeface="Arial"/>
              <a:cs typeface="Arial"/>
              <a:sym typeface="Arial"/>
            </a:endParaRPr>
          </a:p>
        </p:txBody>
      </p:sp>
      <p:sp>
        <p:nvSpPr>
          <p:cNvPr id="59" name="Google Shape;59;p2"/>
          <p:cNvSpPr/>
          <p:nvPr/>
        </p:nvSpPr>
        <p:spPr>
          <a:xfrm>
            <a:off x="9598660" y="3590502"/>
            <a:ext cx="1577340" cy="27432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F6F4EE"/>
              </a:buClr>
              <a:buSzPts val="1400"/>
              <a:buFont typeface="Arial"/>
              <a:buNone/>
            </a:pPr>
            <a:r>
              <a:rPr lang="en-US" sz="1400" b="0" i="0" u="none" strike="noStrike" cap="none">
                <a:solidFill>
                  <a:srgbClr val="F6F4EE"/>
                </a:solidFill>
                <a:latin typeface="Arial"/>
                <a:ea typeface="Arial"/>
                <a:cs typeface="Arial"/>
                <a:sym typeface="Arial"/>
              </a:rPr>
              <a:t>19,42% số chuỗi</a:t>
            </a:r>
            <a:endParaRPr sz="1400" b="0" i="0" u="none" strike="noStrike" cap="none">
              <a:solidFill>
                <a:schemeClr val="dk1"/>
              </a:solidFill>
              <a:latin typeface="Arial"/>
              <a:ea typeface="Arial"/>
              <a:cs typeface="Arial"/>
              <a:sym typeface="Arial"/>
            </a:endParaRPr>
          </a:p>
        </p:txBody>
      </p:sp>
      <p:sp>
        <p:nvSpPr>
          <p:cNvPr id="60" name="Google Shape;60;p2"/>
          <p:cNvSpPr/>
          <p:nvPr/>
        </p:nvSpPr>
        <p:spPr>
          <a:xfrm>
            <a:off x="7099300" y="4146762"/>
            <a:ext cx="4279900" cy="762000"/>
          </a:xfrm>
          <a:prstGeom prst="roundRect">
            <a:avLst>
              <a:gd name="adj" fmla="val 10000"/>
            </a:avLst>
          </a:prstGeom>
          <a:solidFill>
            <a:srgbClr val="2449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7302500" y="4376632"/>
            <a:ext cx="1424940" cy="3276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6F4EE"/>
              </a:buClr>
              <a:buSzPts val="1700"/>
              <a:buFont typeface="Arial"/>
              <a:buNone/>
            </a:pPr>
            <a:r>
              <a:rPr lang="en-US" sz="1700" b="1" i="0" u="none" strike="noStrike" cap="none">
                <a:solidFill>
                  <a:srgbClr val="F6F4EE"/>
                </a:solidFill>
                <a:latin typeface="Arial"/>
                <a:ea typeface="Arial"/>
                <a:cs typeface="Arial"/>
                <a:sym typeface="Arial"/>
              </a:rPr>
              <a:t>intermittent</a:t>
            </a:r>
            <a:endParaRPr sz="1700" b="0" i="0" u="none" strike="noStrike" cap="none">
              <a:solidFill>
                <a:schemeClr val="dk1"/>
              </a:solidFill>
              <a:latin typeface="Arial"/>
              <a:ea typeface="Arial"/>
              <a:cs typeface="Arial"/>
              <a:sym typeface="Arial"/>
            </a:endParaRPr>
          </a:p>
        </p:txBody>
      </p:sp>
      <p:sp>
        <p:nvSpPr>
          <p:cNvPr id="62" name="Google Shape;62;p2"/>
          <p:cNvSpPr/>
          <p:nvPr/>
        </p:nvSpPr>
        <p:spPr>
          <a:xfrm>
            <a:off x="9598660" y="4403302"/>
            <a:ext cx="1577340" cy="27432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F6F4EE"/>
              </a:buClr>
              <a:buSzPts val="1400"/>
              <a:buFont typeface="Arial"/>
              <a:buNone/>
            </a:pPr>
            <a:r>
              <a:rPr lang="en-US" sz="1400" b="0" i="0" u="none" strike="noStrike" cap="none">
                <a:solidFill>
                  <a:srgbClr val="F6F4EE"/>
                </a:solidFill>
                <a:latin typeface="Arial"/>
                <a:ea typeface="Arial"/>
                <a:cs typeface="Arial"/>
                <a:sym typeface="Arial"/>
              </a:rPr>
              <a:t>75,75% số chuỗi</a:t>
            </a:r>
            <a:endParaRPr sz="1400" b="0" i="0" u="none" strike="noStrike" cap="none">
              <a:solidFill>
                <a:schemeClr val="dk1"/>
              </a:solidFill>
              <a:latin typeface="Arial"/>
              <a:ea typeface="Arial"/>
              <a:cs typeface="Arial"/>
              <a:sym typeface="Arial"/>
            </a:endParaRPr>
          </a:p>
        </p:txBody>
      </p:sp>
      <p:sp>
        <p:nvSpPr>
          <p:cNvPr id="63" name="Google Shape;63;p2"/>
          <p:cNvSpPr/>
          <p:nvPr/>
        </p:nvSpPr>
        <p:spPr>
          <a:xfrm>
            <a:off x="7099300" y="4959562"/>
            <a:ext cx="4279900" cy="101600"/>
          </a:xfrm>
          <a:custGeom>
            <a:avLst/>
            <a:gdLst/>
            <a:ahLst/>
            <a:cxnLst/>
            <a:rect l="l" t="t" r="r" b="b"/>
            <a:pathLst>
              <a:path w="4279900" h="101600" extrusionOk="0">
                <a:moveTo>
                  <a:pt x="4260850" y="0"/>
                </a:moveTo>
                <a:lnTo>
                  <a:pt x="4279900" y="0"/>
                </a:lnTo>
                <a:lnTo>
                  <a:pt x="4279900" y="50800"/>
                </a:lnTo>
                <a:cubicBezTo>
                  <a:pt x="4279900" y="78856"/>
                  <a:pt x="4257156" y="101600"/>
                  <a:pt x="4229100" y="101600"/>
                </a:cubicBezTo>
                <a:lnTo>
                  <a:pt x="50800" y="101600"/>
                </a:lnTo>
                <a:cubicBezTo>
                  <a:pt x="22744" y="101600"/>
                  <a:pt x="0" y="78856"/>
                  <a:pt x="0" y="50800"/>
                </a:cubicBezTo>
                <a:lnTo>
                  <a:pt x="0" y="0"/>
                </a:lnTo>
                <a:lnTo>
                  <a:pt x="19050" y="0"/>
                </a:lnTo>
                <a:lnTo>
                  <a:pt x="19050" y="50800"/>
                </a:lnTo>
                <a:cubicBezTo>
                  <a:pt x="19050" y="68335"/>
                  <a:pt x="33265" y="82550"/>
                  <a:pt x="50800" y="82550"/>
                </a:cubicBezTo>
                <a:lnTo>
                  <a:pt x="4229100" y="82550"/>
                </a:lnTo>
                <a:cubicBezTo>
                  <a:pt x="4246635" y="82550"/>
                  <a:pt x="4260850" y="68335"/>
                  <a:pt x="4260850" y="50800"/>
                </a:cubicBezTo>
                <a:lnTo>
                  <a:pt x="4260850" y="0"/>
                </a:lnTo>
                <a:close/>
              </a:path>
            </a:pathLst>
          </a:custGeom>
          <a:solidFill>
            <a:srgbClr val="2449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035102" y="5111962"/>
            <a:ext cx="4408297" cy="27432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24496F"/>
              </a:buClr>
              <a:buSzPts val="1400"/>
              <a:buFont typeface="Arial"/>
              <a:buNone/>
            </a:pPr>
            <a:r>
              <a:rPr lang="en-US" sz="1400" b="1" i="0" u="none" strike="noStrike" cap="none">
                <a:solidFill>
                  <a:srgbClr val="24496F"/>
                </a:solidFill>
                <a:latin typeface="Arial"/>
                <a:ea typeface="Arial"/>
                <a:cs typeface="Arial"/>
                <a:sym typeface="Arial"/>
              </a:rPr>
              <a:t>Hàng bán thưa chiếm 95,17% số chuỗi</a:t>
            </a:r>
            <a:endParaRPr sz="1400" b="0" i="0" u="none" strike="noStrike" cap="none">
              <a:solidFill>
                <a:schemeClr val="dk1"/>
              </a:solidFill>
              <a:latin typeface="Arial"/>
              <a:ea typeface="Arial"/>
              <a:cs typeface="Arial"/>
              <a:sym typeface="Arial"/>
            </a:endParaRPr>
          </a:p>
        </p:txBody>
      </p:sp>
      <p:sp>
        <p:nvSpPr>
          <p:cNvPr id="65" name="Google Shape;65;p2"/>
          <p:cNvSpPr/>
          <p:nvPr/>
        </p:nvSpPr>
        <p:spPr>
          <a:xfrm>
            <a:off x="812800" y="6238239"/>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66" name="Google Shape;66;p2"/>
          <p:cNvSpPr/>
          <p:nvPr/>
        </p:nvSpPr>
        <p:spPr>
          <a:xfrm>
            <a:off x="11243628" y="6238239"/>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2</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BE3"/>
        </a:solidFill>
        <a:effectLst/>
      </p:bgPr>
    </p:bg>
    <p:spTree>
      <p:nvGrpSpPr>
        <p:cNvPr id="1" name="Shape 71"/>
        <p:cNvGrpSpPr/>
        <p:nvPr/>
      </p:nvGrpSpPr>
      <p:grpSpPr>
        <a:xfrm>
          <a:off x="0" y="0"/>
          <a:ext cx="0" cy="0"/>
          <a:chOff x="0" y="0"/>
          <a:chExt cx="0" cy="0"/>
        </a:xfrm>
      </p:grpSpPr>
      <p:sp>
        <p:nvSpPr>
          <p:cNvPr id="72" name="Google Shape;72;p3"/>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PHƯƠNG PHÁP</a:t>
            </a:r>
            <a:endParaRPr sz="1200" b="0" i="0" u="none" strike="noStrike" cap="none">
              <a:solidFill>
                <a:schemeClr val="dk1"/>
              </a:solidFill>
              <a:latin typeface="Arial"/>
              <a:ea typeface="Arial"/>
              <a:cs typeface="Arial"/>
              <a:sym typeface="Arial"/>
            </a:endParaRPr>
          </a:p>
        </p:txBody>
      </p:sp>
      <p:sp>
        <p:nvSpPr>
          <p:cNvPr id="73" name="Google Shape;73;p3"/>
          <p:cNvSpPr txBox="1">
            <a:spLocks noGrp="1"/>
          </p:cNvSpPr>
          <p:nvPr>
            <p:ph type="title"/>
          </p:nvPr>
        </p:nvSpPr>
        <p:spPr>
          <a:xfrm>
            <a:off x="812800" y="1102361"/>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Ba họ mô hình, cùng dự báo 9 phân vị</a:t>
            </a:r>
            <a:endParaRPr sz="2800"/>
          </a:p>
        </p:txBody>
      </p:sp>
      <p:cxnSp>
        <p:nvCxnSpPr>
          <p:cNvPr id="74" name="Google Shape;74;p3"/>
          <p:cNvCxnSpPr/>
          <p:nvPr/>
        </p:nvCxnSpPr>
        <p:spPr>
          <a:xfrm>
            <a:off x="11376025" y="1765300"/>
            <a:ext cx="0" cy="3095625"/>
          </a:xfrm>
          <a:prstGeom prst="straightConnector1">
            <a:avLst/>
          </a:prstGeom>
          <a:noFill/>
          <a:ln w="9525" cap="flat" cmpd="sng">
            <a:solidFill>
              <a:srgbClr val="D6D1C4"/>
            </a:solidFill>
            <a:prstDash val="solid"/>
            <a:round/>
            <a:headEnd type="none" w="sm" len="sm"/>
            <a:tailEnd type="none" w="sm" len="sm"/>
          </a:ln>
        </p:spPr>
      </p:cxnSp>
      <p:cxnSp>
        <p:nvCxnSpPr>
          <p:cNvPr id="75" name="Google Shape;75;p3"/>
          <p:cNvCxnSpPr/>
          <p:nvPr/>
        </p:nvCxnSpPr>
        <p:spPr>
          <a:xfrm>
            <a:off x="812800" y="4857750"/>
            <a:ext cx="10566400" cy="0"/>
          </a:xfrm>
          <a:prstGeom prst="straightConnector1">
            <a:avLst/>
          </a:prstGeom>
          <a:noFill/>
          <a:ln w="9525" cap="flat" cmpd="sng">
            <a:solidFill>
              <a:srgbClr val="D6D1C4"/>
            </a:solidFill>
            <a:prstDash val="solid"/>
            <a:round/>
            <a:headEnd type="none" w="sm" len="sm"/>
            <a:tailEnd type="none" w="sm" len="sm"/>
          </a:ln>
        </p:spPr>
      </p:cxnSp>
      <p:graphicFrame>
        <p:nvGraphicFramePr>
          <p:cNvPr id="76" name="Google Shape;76;p3"/>
          <p:cNvGraphicFramePr/>
          <p:nvPr/>
        </p:nvGraphicFramePr>
        <p:xfrm>
          <a:off x="819891" y="1772391"/>
          <a:ext cx="10552225" cy="3256196"/>
        </p:xfrm>
        <a:graphic>
          <a:graphicData uri="http://schemas.openxmlformats.org/drawingml/2006/table">
            <a:tbl>
              <a:tblPr>
                <a:noFill/>
                <a:tableStyleId>{99D1AD51-34DF-4AEA-9B01-C88AA91C9874}</a:tableStyleId>
              </a:tblPr>
              <a:tblGrid>
                <a:gridCol w="2110450">
                  <a:extLst>
                    <a:ext uri="{9D8B030D-6E8A-4147-A177-3AD203B41FA5}">
                      <a16:colId xmlns:a16="http://schemas.microsoft.com/office/drawing/2014/main" val="20000"/>
                    </a:ext>
                  </a:extLst>
                </a:gridCol>
                <a:gridCol w="4009850">
                  <a:extLst>
                    <a:ext uri="{9D8B030D-6E8A-4147-A177-3AD203B41FA5}">
                      <a16:colId xmlns:a16="http://schemas.microsoft.com/office/drawing/2014/main" val="20001"/>
                    </a:ext>
                  </a:extLst>
                </a:gridCol>
                <a:gridCol w="4431925">
                  <a:extLst>
                    <a:ext uri="{9D8B030D-6E8A-4147-A177-3AD203B41FA5}">
                      <a16:colId xmlns:a16="http://schemas.microsoft.com/office/drawing/2014/main" val="20002"/>
                    </a:ext>
                  </a:extLst>
                </a:gridCol>
              </a:tblGrid>
              <a:tr h="459200">
                <a:tc>
                  <a:txBody>
                    <a:bodyPr/>
                    <a:lstStyle/>
                    <a:p>
                      <a:pPr marL="0" marR="0" lvl="0" indent="0" algn="l"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Họ</a:t>
                      </a:r>
                      <a:endParaRPr sz="1400" u="none" strike="noStrike" cap="none">
                        <a:latin typeface="Arial"/>
                        <a:ea typeface="Arial"/>
                        <a:cs typeface="Arial"/>
                        <a:sym typeface="Arial"/>
                      </a:endParaRPr>
                    </a:p>
                  </a:txBody>
                  <a:tcPr marL="152400" marR="152400" marT="101600" marB="101600">
                    <a:lnL w="12700" cap="flat" cmpd="sng">
                      <a:solidFill>
                        <a:srgbClr val="BEBCB5"/>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BEBCB5"/>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l"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Mô hình</a:t>
                      </a:r>
                      <a:endParaRPr sz="1400" u="none" strike="noStrike" cap="none">
                        <a:latin typeface="Arial"/>
                        <a:ea typeface="Arial"/>
                        <a:cs typeface="Arial"/>
                        <a:sym typeface="Arial"/>
                      </a:endParaRPr>
                    </a:p>
                  </a:txBody>
                  <a:tcPr marL="152400" marR="152400" marT="101600" marB="1016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BEBCB5"/>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l"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Cách ra 9 phân vị</a:t>
                      </a:r>
                      <a:endParaRPr sz="1400" u="none" strike="noStrike" cap="none">
                        <a:latin typeface="Arial"/>
                        <a:ea typeface="Arial"/>
                        <a:cs typeface="Arial"/>
                        <a:sym typeface="Arial"/>
                      </a:endParaRPr>
                    </a:p>
                  </a:txBody>
                  <a:tcPr marL="152400" marR="152400" marT="101600" marB="1016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BEBCB5"/>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extLst>
                  <a:ext uri="{0D108BD9-81ED-4DB2-BD59-A6C34878D82A}">
                    <a16:rowId xmlns:a16="http://schemas.microsoft.com/office/drawing/2014/main" val="10000"/>
                  </a:ext>
                </a:extLst>
              </a:tr>
              <a:tr h="708125">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Cổ điển</a:t>
                      </a:r>
                      <a:endParaRPr sz="1400" u="none" strike="noStrike" cap="none">
                        <a:latin typeface="Arial"/>
                        <a:ea typeface="Arial"/>
                        <a:cs typeface="Arial"/>
                        <a:sym typeface="Arial"/>
                      </a:endParaRPr>
                    </a:p>
                  </a:txBody>
                  <a:tcPr marL="152400" marR="152400" marT="101600" marB="101600">
                    <a:lnL w="12700" cap="flat" cmpd="sng">
                      <a:solidFill>
                        <a:srgbClr val="BEBCB5"/>
                      </a:solidFill>
                      <a:prstDash val="solid"/>
                      <a:round/>
                      <a:headEnd type="none" w="sm" len="sm"/>
                      <a:tailEnd type="none" w="sm" len="sm"/>
                    </a:lnL>
                    <a:lnR w="12700" cap="flat" cmpd="sng">
                      <a:solidFill>
                        <a:srgbClr val="C6C4C0"/>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6C4C0"/>
                      </a:solidFill>
                      <a:prstDash val="solid"/>
                      <a:round/>
                      <a:headEnd type="none" w="sm" len="sm"/>
                      <a:tailEnd type="none" w="sm" len="sm"/>
                    </a:lnB>
                    <a:solidFill>
                      <a:srgbClr val="F8F6F1"/>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Naive, SeasonalNaive(7), Croston, SBA, TSB</a:t>
                      </a:r>
                      <a:endParaRPr sz="1400" u="none" strike="noStrike" cap="none">
                        <a:latin typeface="Arial"/>
                        <a:ea typeface="Arial"/>
                        <a:cs typeface="Arial"/>
                        <a:sym typeface="Arial"/>
                      </a:endParaRPr>
                    </a:p>
                  </a:txBody>
                  <a:tcPr marL="152400" marR="152400" marT="101600" marB="101600">
                    <a:lnL w="12700" cap="flat" cmpd="sng">
                      <a:solidFill>
                        <a:srgbClr val="C6C4C0"/>
                      </a:solidFill>
                      <a:prstDash val="solid"/>
                      <a:round/>
                      <a:headEnd type="none" w="sm" len="sm"/>
                      <a:tailEnd type="none" w="sm" len="sm"/>
                    </a:lnL>
                    <a:lnR w="12700" cap="flat" cmpd="sng">
                      <a:solidFill>
                        <a:srgbClr val="C6C4C0"/>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6C4C0"/>
                      </a:solidFill>
                      <a:prstDash val="solid"/>
                      <a:round/>
                      <a:headEnd type="none" w="sm" len="sm"/>
                      <a:tailEnd type="none" w="sm" len="sm"/>
                    </a:lnB>
                    <a:solidFill>
                      <a:srgbClr val="F8F6F1"/>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Dự báo một con số, sau đó bọc phân phối Negative Binomial để ra 9 phân vị</a:t>
                      </a:r>
                      <a:endParaRPr sz="1400" u="none" strike="noStrike" cap="none">
                        <a:latin typeface="Arial"/>
                        <a:ea typeface="Arial"/>
                        <a:cs typeface="Arial"/>
                        <a:sym typeface="Arial"/>
                      </a:endParaRPr>
                    </a:p>
                  </a:txBody>
                  <a:tcPr marL="152400" marR="152400" marT="101600" marB="101600">
                    <a:lnL w="12700" cap="flat" cmpd="sng">
                      <a:solidFill>
                        <a:srgbClr val="C6C4C0"/>
                      </a:solidFill>
                      <a:prstDash val="solid"/>
                      <a:round/>
                      <a:headEnd type="none" w="sm" len="sm"/>
                      <a:tailEnd type="none" w="sm" len="sm"/>
                    </a:lnL>
                    <a:lnR w="12700" cap="flat" cmpd="sng">
                      <a:solidFill>
                        <a:srgbClr val="C6C4C0"/>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6C4C0"/>
                      </a:solidFill>
                      <a:prstDash val="solid"/>
                      <a:round/>
                      <a:headEnd type="none" w="sm" len="sm"/>
                      <a:tailEnd type="none" w="sm" len="sm"/>
                    </a:lnB>
                    <a:solidFill>
                      <a:srgbClr val="F8F6F1"/>
                    </a:solidFill>
                  </a:tcPr>
                </a:tc>
                <a:extLst>
                  <a:ext uri="{0D108BD9-81ED-4DB2-BD59-A6C34878D82A}">
                    <a16:rowId xmlns:a16="http://schemas.microsoft.com/office/drawing/2014/main" val="10001"/>
                  </a:ext>
                </a:extLst>
              </a:tr>
              <a:tr h="957050">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Machine learning</a:t>
                      </a:r>
                      <a:endParaRPr sz="1400" u="none" strike="noStrike" cap="none">
                        <a:latin typeface="Arial"/>
                        <a:ea typeface="Arial"/>
                        <a:cs typeface="Arial"/>
                        <a:sym typeface="Arial"/>
                      </a:endParaRPr>
                    </a:p>
                  </a:txBody>
                  <a:tcPr marL="152400" marR="152400" marT="101600" marB="101600">
                    <a:lnL w="12700" cap="flat" cmpd="sng">
                      <a:solidFill>
                        <a:srgbClr val="BEBCB5"/>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6C4C0"/>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LightGBM quantile, một mô hình chung cho mọi chuỗi, dùng lag, rolling, số ngày từ lần bán cuối, lịch và giá</a:t>
                      </a:r>
                      <a:endParaRPr sz="1400" u="none" strike="noStrike" cap="none">
                        <a:latin typeface="Arial"/>
                        <a:ea typeface="Arial"/>
                        <a:cs typeface="Arial"/>
                        <a:sym typeface="Arial"/>
                      </a:endParaRPr>
                    </a:p>
                  </a:txBody>
                  <a:tcPr marL="152400" marR="152400" marT="101600" marB="1016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6C4C0"/>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Mỗi phân vị một mô hình, tổng cộng 27 mô hình (9 phân vị × 3 cửa sổ)</a:t>
                      </a:r>
                      <a:endParaRPr sz="1400" u="none" strike="noStrike" cap="none">
                        <a:latin typeface="Arial"/>
                        <a:ea typeface="Arial"/>
                        <a:cs typeface="Arial"/>
                        <a:sym typeface="Arial"/>
                      </a:endParaRPr>
                    </a:p>
                  </a:txBody>
                  <a:tcPr marL="152400" marR="152400" marT="101600" marB="1016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6C4C0"/>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extLst>
                  <a:ext uri="{0D108BD9-81ED-4DB2-BD59-A6C34878D82A}">
                    <a16:rowId xmlns:a16="http://schemas.microsoft.com/office/drawing/2014/main" val="10002"/>
                  </a:ext>
                </a:extLst>
              </a:tr>
              <a:tr h="957050">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Foundation model</a:t>
                      </a:r>
                      <a:endParaRPr sz="1400" u="none" strike="noStrike" cap="none">
                        <a:latin typeface="Arial"/>
                        <a:ea typeface="Arial"/>
                        <a:cs typeface="Arial"/>
                        <a:sym typeface="Arial"/>
                      </a:endParaRPr>
                    </a:p>
                  </a:txBody>
                  <a:tcPr marL="152400" marR="152400" marT="101600" marB="101600">
                    <a:lnL w="12700" cap="flat" cmpd="sng">
                      <a:solidFill>
                        <a:srgbClr val="BEBCB5"/>
                      </a:solidFill>
                      <a:prstDash val="solid"/>
                      <a:round/>
                      <a:headEnd type="none" w="sm" len="sm"/>
                      <a:tailEnd type="none" w="sm" len="sm"/>
                    </a:lnL>
                    <a:lnR w="12700" cap="flat" cmpd="sng">
                      <a:solidFill>
                        <a:srgbClr val="C6C4C0"/>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6C4C0"/>
                      </a:solidFill>
                      <a:prstDash val="solid"/>
                      <a:round/>
                      <a:headEnd type="none" w="sm" len="sm"/>
                      <a:tailEnd type="none" w="sm" len="sm"/>
                    </a:lnB>
                    <a:solidFill>
                      <a:srgbClr val="F8F6F1"/>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Chronos-Bolt, TTM, Moirai-2, chạy zero-shot, không huấn luyện thêm trên M5</a:t>
                      </a:r>
                      <a:endParaRPr sz="1400" u="none" strike="noStrike" cap="none">
                        <a:latin typeface="Arial"/>
                        <a:ea typeface="Arial"/>
                        <a:cs typeface="Arial"/>
                        <a:sym typeface="Arial"/>
                      </a:endParaRPr>
                    </a:p>
                  </a:txBody>
                  <a:tcPr marL="152400" marR="152400" marT="101600" marB="101600">
                    <a:lnL w="12700" cap="flat" cmpd="sng">
                      <a:solidFill>
                        <a:srgbClr val="C6C4C0"/>
                      </a:solidFill>
                      <a:prstDash val="solid"/>
                      <a:round/>
                      <a:headEnd type="none" w="sm" len="sm"/>
                      <a:tailEnd type="none" w="sm" len="sm"/>
                    </a:lnL>
                    <a:lnR w="12700" cap="flat" cmpd="sng">
                      <a:solidFill>
                        <a:srgbClr val="C6C4C0"/>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6C4C0"/>
                      </a:solidFill>
                      <a:prstDash val="solid"/>
                      <a:round/>
                      <a:headEnd type="none" w="sm" len="sm"/>
                      <a:tailEnd type="none" w="sm" len="sm"/>
                    </a:lnB>
                    <a:solidFill>
                      <a:srgbClr val="F8F6F1"/>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Chronos-Bolt và Moirai-2 sinh phân vị trực tiếp. TTM chỉ ra một con số nên cũng bọc Negative Binomial</a:t>
                      </a:r>
                      <a:endParaRPr sz="1400" u="none" strike="noStrike" cap="none">
                        <a:latin typeface="Arial"/>
                        <a:ea typeface="Arial"/>
                        <a:cs typeface="Arial"/>
                        <a:sym typeface="Arial"/>
                      </a:endParaRPr>
                    </a:p>
                  </a:txBody>
                  <a:tcPr marL="152400" marR="152400" marT="101600" marB="101600">
                    <a:lnL w="12700" cap="flat" cmpd="sng">
                      <a:solidFill>
                        <a:srgbClr val="C6C4C0"/>
                      </a:solidFill>
                      <a:prstDash val="solid"/>
                      <a:round/>
                      <a:headEnd type="none" w="sm" len="sm"/>
                      <a:tailEnd type="none" w="sm" len="sm"/>
                    </a:lnL>
                    <a:lnR w="12700" cap="flat" cmpd="sng">
                      <a:solidFill>
                        <a:srgbClr val="C6C4C0"/>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6C4C0"/>
                      </a:solidFill>
                      <a:prstDash val="solid"/>
                      <a:round/>
                      <a:headEnd type="none" w="sm" len="sm"/>
                      <a:tailEnd type="none" w="sm" len="sm"/>
                    </a:lnB>
                    <a:solidFill>
                      <a:srgbClr val="F8F6F1"/>
                    </a:solidFill>
                  </a:tcPr>
                </a:tc>
                <a:extLst>
                  <a:ext uri="{0D108BD9-81ED-4DB2-BD59-A6C34878D82A}">
                    <a16:rowId xmlns:a16="http://schemas.microsoft.com/office/drawing/2014/main" val="10003"/>
                  </a:ext>
                </a:extLst>
              </a:tr>
            </a:tbl>
          </a:graphicData>
        </a:graphic>
      </p:graphicFrame>
      <p:sp>
        <p:nvSpPr>
          <p:cNvPr id="77" name="Google Shape;77;p3"/>
          <p:cNvSpPr/>
          <p:nvPr/>
        </p:nvSpPr>
        <p:spPr>
          <a:xfrm>
            <a:off x="812800" y="5114925"/>
            <a:ext cx="10883392"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Mỗi họ tạo dải dự báo theo một cách khác nhau, nên cần </a:t>
            </a:r>
            <a:r>
              <a:rPr lang="en-US" sz="1400" b="1" i="0" u="none" strike="noStrike" cap="none">
                <a:solidFill>
                  <a:srgbClr val="1B2433"/>
                </a:solidFill>
                <a:latin typeface="Arial"/>
                <a:ea typeface="Arial"/>
                <a:cs typeface="Arial"/>
                <a:sym typeface="Arial"/>
              </a:rPr>
              <a:t>một bước hiệu chuẩn chung</a:t>
            </a:r>
            <a:r>
              <a:rPr lang="en-US" sz="1400" b="0" i="0" u="none" strike="noStrike" cap="none">
                <a:solidFill>
                  <a:srgbClr val="1B2433"/>
                </a:solidFill>
                <a:latin typeface="Arial"/>
                <a:ea typeface="Arial"/>
                <a:cs typeface="Arial"/>
                <a:sym typeface="Arial"/>
              </a:rPr>
              <a:t> trước khi so sánh.</a:t>
            </a:r>
            <a:endParaRPr sz="1400" b="0" i="0" u="none" strike="noStrike" cap="none">
              <a:solidFill>
                <a:schemeClr val="dk1"/>
              </a:solidFill>
              <a:latin typeface="Arial"/>
              <a:ea typeface="Arial"/>
              <a:cs typeface="Arial"/>
              <a:sym typeface="Arial"/>
            </a:endParaRPr>
          </a:p>
        </p:txBody>
      </p:sp>
      <p:sp>
        <p:nvSpPr>
          <p:cNvPr id="78" name="Google Shape;78;p3"/>
          <p:cNvSpPr/>
          <p:nvPr/>
        </p:nvSpPr>
        <p:spPr>
          <a:xfrm>
            <a:off x="812800" y="6238239"/>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79" name="Google Shape;79;p3"/>
          <p:cNvSpPr/>
          <p:nvPr/>
        </p:nvSpPr>
        <p:spPr>
          <a:xfrm>
            <a:off x="11243628" y="6238239"/>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3</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BE3"/>
        </a:solidFill>
        <a:effectLst/>
      </p:bgPr>
    </p:bg>
    <p:spTree>
      <p:nvGrpSpPr>
        <p:cNvPr id="1" name="Shape 84"/>
        <p:cNvGrpSpPr/>
        <p:nvPr/>
      </p:nvGrpSpPr>
      <p:grpSpPr>
        <a:xfrm>
          <a:off x="0" y="0"/>
          <a:ext cx="0" cy="0"/>
          <a:chOff x="0" y="0"/>
          <a:chExt cx="0" cy="0"/>
        </a:xfrm>
      </p:grpSpPr>
      <p:sp>
        <p:nvSpPr>
          <p:cNvPr id="85" name="Google Shape;85;p4"/>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PHƯƠNG PHÁP</a:t>
            </a:r>
            <a:endParaRPr sz="1200" b="0" i="0" u="none" strike="noStrike" cap="none">
              <a:solidFill>
                <a:schemeClr val="dk1"/>
              </a:solidFill>
              <a:latin typeface="Arial"/>
              <a:ea typeface="Arial"/>
              <a:cs typeface="Arial"/>
              <a:sym typeface="Arial"/>
            </a:endParaRPr>
          </a:p>
        </p:txBody>
      </p:sp>
      <p:sp>
        <p:nvSpPr>
          <p:cNvPr id="86" name="Google Shape;86;p4"/>
          <p:cNvSpPr txBox="1">
            <a:spLocks noGrp="1"/>
          </p:cNvSpPr>
          <p:nvPr>
            <p:ph type="title"/>
          </p:nvPr>
        </p:nvSpPr>
        <p:spPr>
          <a:xfrm>
            <a:off x="812800" y="1102361"/>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Croston, SBA và TSB</a:t>
            </a:r>
            <a:endParaRPr sz="2800"/>
          </a:p>
        </p:txBody>
      </p:sp>
      <p:sp>
        <p:nvSpPr>
          <p:cNvPr id="87" name="Google Shape;87;p4"/>
          <p:cNvSpPr/>
          <p:nvPr/>
        </p:nvSpPr>
        <p:spPr>
          <a:xfrm>
            <a:off x="990600" y="1714500"/>
            <a:ext cx="183134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Mô hình</a:t>
            </a:r>
            <a:endParaRPr sz="1200" b="0" i="0" u="none" strike="noStrike" cap="none">
              <a:solidFill>
                <a:schemeClr val="dk1"/>
              </a:solidFill>
              <a:latin typeface="Arial"/>
              <a:ea typeface="Arial"/>
              <a:cs typeface="Arial"/>
              <a:sym typeface="Arial"/>
            </a:endParaRPr>
          </a:p>
        </p:txBody>
      </p:sp>
      <p:sp>
        <p:nvSpPr>
          <p:cNvPr id="88" name="Google Shape;88;p4"/>
          <p:cNvSpPr/>
          <p:nvPr/>
        </p:nvSpPr>
        <p:spPr>
          <a:xfrm>
            <a:off x="2971800" y="1714500"/>
            <a:ext cx="486613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Công thức</a:t>
            </a:r>
            <a:endParaRPr sz="1200" b="0" i="0" u="none" strike="noStrike" cap="none">
              <a:solidFill>
                <a:schemeClr val="dk1"/>
              </a:solidFill>
              <a:latin typeface="Arial"/>
              <a:ea typeface="Arial"/>
              <a:cs typeface="Arial"/>
              <a:sym typeface="Arial"/>
            </a:endParaRPr>
          </a:p>
        </p:txBody>
      </p:sp>
      <p:sp>
        <p:nvSpPr>
          <p:cNvPr id="89" name="Google Shape;89;p4"/>
          <p:cNvSpPr/>
          <p:nvPr/>
        </p:nvSpPr>
        <p:spPr>
          <a:xfrm>
            <a:off x="7899400" y="1714500"/>
            <a:ext cx="340106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Điểm mạnh, điểm yếu</a:t>
            </a:r>
            <a:endParaRPr sz="1200" b="0" i="0" u="none" strike="noStrike" cap="none">
              <a:solidFill>
                <a:schemeClr val="dk1"/>
              </a:solidFill>
              <a:latin typeface="Arial"/>
              <a:ea typeface="Arial"/>
              <a:cs typeface="Arial"/>
              <a:sym typeface="Arial"/>
            </a:endParaRPr>
          </a:p>
        </p:txBody>
      </p:sp>
      <p:sp>
        <p:nvSpPr>
          <p:cNvPr id="90" name="Google Shape;90;p4"/>
          <p:cNvSpPr/>
          <p:nvPr/>
        </p:nvSpPr>
        <p:spPr>
          <a:xfrm>
            <a:off x="815975" y="2007236"/>
            <a:ext cx="10560050" cy="1260052"/>
          </a:xfrm>
          <a:prstGeom prst="roundRect">
            <a:avLst>
              <a:gd name="adj" fmla="val 7811"/>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997691" y="2388341"/>
            <a:ext cx="183134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Croston</a:t>
            </a:r>
            <a:endParaRPr sz="1700" b="0" i="0" u="none" strike="noStrike" cap="none">
              <a:solidFill>
                <a:schemeClr val="dk1"/>
              </a:solidFill>
              <a:latin typeface="Arial"/>
              <a:ea typeface="Arial"/>
              <a:cs typeface="Arial"/>
              <a:sym typeface="Arial"/>
            </a:endParaRPr>
          </a:p>
        </p:txBody>
      </p:sp>
      <p:sp>
        <p:nvSpPr>
          <p:cNvPr id="92" name="Google Shape;92;p4"/>
          <p:cNvSpPr/>
          <p:nvPr/>
        </p:nvSpPr>
        <p:spPr>
          <a:xfrm>
            <a:off x="997691" y="2672821"/>
            <a:ext cx="183134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Bản gốc</a:t>
            </a:r>
            <a:endParaRPr sz="1200" b="0" i="0" u="none" strike="noStrike" cap="none">
              <a:solidFill>
                <a:schemeClr val="dk1"/>
              </a:solidFill>
              <a:latin typeface="Arial"/>
              <a:ea typeface="Arial"/>
              <a:cs typeface="Arial"/>
              <a:sym typeface="Arial"/>
            </a:endParaRPr>
          </a:p>
        </p:txBody>
      </p:sp>
      <p:sp>
        <p:nvSpPr>
          <p:cNvPr id="93" name="Google Shape;93;p4"/>
          <p:cNvSpPr/>
          <p:nvPr/>
        </p:nvSpPr>
        <p:spPr>
          <a:xfrm>
            <a:off x="2978891" y="2163550"/>
            <a:ext cx="4710218" cy="947420"/>
          </a:xfrm>
          <a:prstGeom prst="roundRect">
            <a:avLst>
              <a:gd name="adj" fmla="val 6702"/>
            </a:avLst>
          </a:prstGeom>
          <a:solidFill>
            <a:srgbClr val="E2DD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3131291" y="2252450"/>
            <a:ext cx="4537581" cy="25654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Z(t) = α·y(t) + (1 − α)·Z(t−1)</a:t>
            </a:r>
            <a:endParaRPr sz="1400" b="0" i="0" u="none" strike="noStrike" cap="none">
              <a:solidFill>
                <a:schemeClr val="dk1"/>
              </a:solidFill>
              <a:latin typeface="Arial"/>
              <a:ea typeface="Arial"/>
              <a:cs typeface="Arial"/>
              <a:sym typeface="Arial"/>
            </a:endParaRPr>
          </a:p>
        </p:txBody>
      </p:sp>
      <p:sp>
        <p:nvSpPr>
          <p:cNvPr id="95" name="Google Shape;95;p4"/>
          <p:cNvSpPr/>
          <p:nvPr/>
        </p:nvSpPr>
        <p:spPr>
          <a:xfrm>
            <a:off x="3131291" y="2521691"/>
            <a:ext cx="4537581" cy="25654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P(t) = α·q + (1 − α)·P(t−1)</a:t>
            </a:r>
            <a:endParaRPr sz="1400" b="0" i="0" u="none" strike="noStrike" cap="none">
              <a:solidFill>
                <a:schemeClr val="dk1"/>
              </a:solidFill>
              <a:latin typeface="Arial"/>
              <a:ea typeface="Arial"/>
              <a:cs typeface="Arial"/>
              <a:sym typeface="Arial"/>
            </a:endParaRPr>
          </a:p>
        </p:txBody>
      </p:sp>
      <p:sp>
        <p:nvSpPr>
          <p:cNvPr id="96" name="Google Shape;96;p4"/>
          <p:cNvSpPr/>
          <p:nvPr/>
        </p:nvSpPr>
        <p:spPr>
          <a:xfrm>
            <a:off x="3131291" y="2790930"/>
            <a:ext cx="4537581" cy="25654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ŷ = Z(t) / P(t)</a:t>
            </a:r>
            <a:endParaRPr sz="1400" b="0" i="0" u="none" strike="noStrike" cap="none">
              <a:solidFill>
                <a:schemeClr val="dk1"/>
              </a:solidFill>
              <a:latin typeface="Arial"/>
              <a:ea typeface="Arial"/>
              <a:cs typeface="Arial"/>
              <a:sym typeface="Arial"/>
            </a:endParaRPr>
          </a:p>
        </p:txBody>
      </p:sp>
      <p:sp>
        <p:nvSpPr>
          <p:cNvPr id="97" name="Google Shape;97;p4"/>
          <p:cNvSpPr/>
          <p:nvPr/>
        </p:nvSpPr>
        <p:spPr>
          <a:xfrm>
            <a:off x="7892309" y="2398500"/>
            <a:ext cx="340106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Mạnh:</a:t>
            </a:r>
            <a:r>
              <a:rPr lang="en-US" sz="1200" b="0" i="0" u="none" strike="noStrike" cap="none">
                <a:solidFill>
                  <a:srgbClr val="1B2433"/>
                </a:solidFill>
                <a:latin typeface="Arial"/>
                <a:ea typeface="Arial"/>
                <a:cs typeface="Arial"/>
                <a:sym typeface="Arial"/>
              </a:rPr>
              <a:t> ổn định, dễ tính</a:t>
            </a:r>
            <a:endParaRPr sz="1200" b="0" i="0" u="none" strike="noStrike" cap="none">
              <a:solidFill>
                <a:schemeClr val="dk1"/>
              </a:solidFill>
              <a:latin typeface="Arial"/>
              <a:ea typeface="Arial"/>
              <a:cs typeface="Arial"/>
              <a:sym typeface="Arial"/>
            </a:endParaRPr>
          </a:p>
        </p:txBody>
      </p:sp>
      <p:sp>
        <p:nvSpPr>
          <p:cNvPr id="98" name="Google Shape;98;p4"/>
          <p:cNvSpPr/>
          <p:nvPr/>
        </p:nvSpPr>
        <p:spPr>
          <a:xfrm>
            <a:off x="7892309" y="2662661"/>
            <a:ext cx="340106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Yếu:</a:t>
            </a:r>
            <a:r>
              <a:rPr lang="en-US" sz="1200" b="0" i="0" u="none" strike="noStrike" cap="none">
                <a:solidFill>
                  <a:srgbClr val="1B2433"/>
                </a:solidFill>
                <a:latin typeface="Arial"/>
                <a:ea typeface="Arial"/>
                <a:cs typeface="Arial"/>
                <a:sym typeface="Arial"/>
              </a:rPr>
              <a:t> lệch lên, không tự giảm</a:t>
            </a:r>
            <a:endParaRPr sz="1200" b="0" i="0" u="none" strike="noStrike" cap="none">
              <a:solidFill>
                <a:schemeClr val="dk1"/>
              </a:solidFill>
              <a:latin typeface="Arial"/>
              <a:ea typeface="Arial"/>
              <a:cs typeface="Arial"/>
              <a:sym typeface="Arial"/>
            </a:endParaRPr>
          </a:p>
        </p:txBody>
      </p:sp>
      <p:sp>
        <p:nvSpPr>
          <p:cNvPr id="99" name="Google Shape;99;p4"/>
          <p:cNvSpPr/>
          <p:nvPr/>
        </p:nvSpPr>
        <p:spPr>
          <a:xfrm>
            <a:off x="815975" y="3349837"/>
            <a:ext cx="10560050" cy="810472"/>
          </a:xfrm>
          <a:prstGeom prst="roundRect">
            <a:avLst>
              <a:gd name="adj" fmla="val 12144"/>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997691" y="3506152"/>
            <a:ext cx="183134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SBA</a:t>
            </a:r>
            <a:endParaRPr sz="1700" b="0" i="0" u="none" strike="noStrike" cap="none">
              <a:solidFill>
                <a:schemeClr val="dk1"/>
              </a:solidFill>
              <a:latin typeface="Arial"/>
              <a:ea typeface="Arial"/>
              <a:cs typeface="Arial"/>
              <a:sym typeface="Arial"/>
            </a:endParaRPr>
          </a:p>
        </p:txBody>
      </p:sp>
      <p:sp>
        <p:nvSpPr>
          <p:cNvPr id="101" name="Google Shape;101;p4"/>
          <p:cNvSpPr/>
          <p:nvPr/>
        </p:nvSpPr>
        <p:spPr>
          <a:xfrm>
            <a:off x="997691" y="3790632"/>
            <a:ext cx="183134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Croston đã khử lệch</a:t>
            </a:r>
            <a:endParaRPr sz="1200" b="0" i="0" u="none" strike="noStrike" cap="none">
              <a:solidFill>
                <a:schemeClr val="dk1"/>
              </a:solidFill>
              <a:latin typeface="Arial"/>
              <a:ea typeface="Arial"/>
              <a:cs typeface="Arial"/>
              <a:sym typeface="Arial"/>
            </a:endParaRPr>
          </a:p>
        </p:txBody>
      </p:sp>
      <p:sp>
        <p:nvSpPr>
          <p:cNvPr id="102" name="Google Shape;102;p4"/>
          <p:cNvSpPr/>
          <p:nvPr/>
        </p:nvSpPr>
        <p:spPr>
          <a:xfrm>
            <a:off x="2978891" y="3550602"/>
            <a:ext cx="4710218" cy="408940"/>
          </a:xfrm>
          <a:prstGeom prst="roundRect">
            <a:avLst>
              <a:gd name="adj" fmla="val 15528"/>
            </a:avLst>
          </a:prstGeom>
          <a:solidFill>
            <a:srgbClr val="E2DDD0"/>
          </a:solidFill>
          <a:ln>
            <a:noFill/>
          </a:ln>
        </p:spPr>
        <p:txBody>
          <a:bodyPr spcFirstLastPara="1" wrap="square" lIns="133800" tIns="70300" rIns="1625" bIns="44900" anchor="t" anchorCtr="0">
            <a:normAutofit/>
          </a:bodyPr>
          <a:lstStyle/>
          <a:p>
            <a:pPr marL="0" marR="0" lvl="0" indent="0" algn="l" rtl="0">
              <a:lnSpc>
                <a:spcPct val="13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ŷ = (1 − α/2) · Z(t) / P(t)</a:t>
            </a:r>
            <a:endParaRPr sz="1400" b="0" i="0" u="none" strike="noStrike" cap="none">
              <a:solidFill>
                <a:schemeClr val="dk1"/>
              </a:solidFill>
              <a:latin typeface="Arial"/>
              <a:ea typeface="Arial"/>
              <a:cs typeface="Arial"/>
              <a:sym typeface="Arial"/>
            </a:endParaRPr>
          </a:p>
        </p:txBody>
      </p:sp>
      <p:sp>
        <p:nvSpPr>
          <p:cNvPr id="103" name="Google Shape;103;p4"/>
          <p:cNvSpPr/>
          <p:nvPr/>
        </p:nvSpPr>
        <p:spPr>
          <a:xfrm>
            <a:off x="7892309" y="3516313"/>
            <a:ext cx="340106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Mạnh:</a:t>
            </a:r>
            <a:r>
              <a:rPr lang="en-US" sz="1200" b="0" i="0" u="none" strike="noStrike" cap="none">
                <a:solidFill>
                  <a:srgbClr val="1B2433"/>
                </a:solidFill>
                <a:latin typeface="Arial"/>
                <a:ea typeface="Arial"/>
                <a:cs typeface="Arial"/>
                <a:sym typeface="Arial"/>
              </a:rPr>
              <a:t> giảm độ lệch của Croston</a:t>
            </a:r>
            <a:endParaRPr sz="1200" b="0" i="0" u="none" strike="noStrike" cap="none">
              <a:solidFill>
                <a:schemeClr val="dk1"/>
              </a:solidFill>
              <a:latin typeface="Arial"/>
              <a:ea typeface="Arial"/>
              <a:cs typeface="Arial"/>
              <a:sym typeface="Arial"/>
            </a:endParaRPr>
          </a:p>
        </p:txBody>
      </p:sp>
      <p:sp>
        <p:nvSpPr>
          <p:cNvPr id="104" name="Google Shape;104;p4"/>
          <p:cNvSpPr/>
          <p:nvPr/>
        </p:nvSpPr>
        <p:spPr>
          <a:xfrm>
            <a:off x="7892309" y="3780473"/>
            <a:ext cx="340106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Yếu:</a:t>
            </a:r>
            <a:r>
              <a:rPr lang="en-US" sz="1200" b="0" i="0" u="none" strike="noStrike" cap="none">
                <a:solidFill>
                  <a:srgbClr val="1B2433"/>
                </a:solidFill>
                <a:latin typeface="Arial"/>
                <a:ea typeface="Arial"/>
                <a:cs typeface="Arial"/>
                <a:sym typeface="Arial"/>
              </a:rPr>
              <a:t> vẫn giả định nhịp hình học</a:t>
            </a:r>
            <a:endParaRPr sz="1200" b="0" i="0" u="none" strike="noStrike" cap="none">
              <a:solidFill>
                <a:schemeClr val="dk1"/>
              </a:solidFill>
              <a:latin typeface="Arial"/>
              <a:ea typeface="Arial"/>
              <a:cs typeface="Arial"/>
              <a:sym typeface="Arial"/>
            </a:endParaRPr>
          </a:p>
        </p:txBody>
      </p:sp>
      <p:sp>
        <p:nvSpPr>
          <p:cNvPr id="105" name="Google Shape;105;p4"/>
          <p:cNvSpPr/>
          <p:nvPr/>
        </p:nvSpPr>
        <p:spPr>
          <a:xfrm>
            <a:off x="815975" y="4242859"/>
            <a:ext cx="10560050" cy="990812"/>
          </a:xfrm>
          <a:prstGeom prst="roundRect">
            <a:avLst>
              <a:gd name="adj" fmla="val 9934"/>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997691" y="4489345"/>
            <a:ext cx="183134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TSB</a:t>
            </a:r>
            <a:endParaRPr sz="1700" b="0" i="0" u="none" strike="noStrike" cap="none">
              <a:solidFill>
                <a:schemeClr val="dk1"/>
              </a:solidFill>
              <a:latin typeface="Arial"/>
              <a:ea typeface="Arial"/>
              <a:cs typeface="Arial"/>
              <a:sym typeface="Arial"/>
            </a:endParaRPr>
          </a:p>
        </p:txBody>
      </p:sp>
      <p:sp>
        <p:nvSpPr>
          <p:cNvPr id="107" name="Google Shape;107;p4"/>
          <p:cNvSpPr/>
          <p:nvPr/>
        </p:nvSpPr>
        <p:spPr>
          <a:xfrm>
            <a:off x="997691" y="4773825"/>
            <a:ext cx="183134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Theo xác suất có bán</a:t>
            </a:r>
            <a:endParaRPr sz="1200" b="0" i="0" u="none" strike="noStrike" cap="none">
              <a:solidFill>
                <a:schemeClr val="dk1"/>
              </a:solidFill>
              <a:latin typeface="Arial"/>
              <a:ea typeface="Arial"/>
              <a:cs typeface="Arial"/>
              <a:sym typeface="Arial"/>
            </a:endParaRPr>
          </a:p>
        </p:txBody>
      </p:sp>
      <p:sp>
        <p:nvSpPr>
          <p:cNvPr id="108" name="Google Shape;108;p4"/>
          <p:cNvSpPr/>
          <p:nvPr/>
        </p:nvSpPr>
        <p:spPr>
          <a:xfrm>
            <a:off x="2978891" y="4399175"/>
            <a:ext cx="4710218" cy="678180"/>
          </a:xfrm>
          <a:prstGeom prst="roundRect">
            <a:avLst>
              <a:gd name="adj" fmla="val 9363"/>
            </a:avLst>
          </a:prstGeom>
          <a:solidFill>
            <a:srgbClr val="E2DD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3131291" y="4488075"/>
            <a:ext cx="4537581" cy="25654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D(t) = β·1[y(t) &gt; 0] + (1 − β)·D(t−1)</a:t>
            </a:r>
            <a:endParaRPr sz="1400" b="0" i="0" u="none" strike="noStrike" cap="none">
              <a:solidFill>
                <a:schemeClr val="dk1"/>
              </a:solidFill>
              <a:latin typeface="Arial"/>
              <a:ea typeface="Arial"/>
              <a:cs typeface="Arial"/>
              <a:sym typeface="Arial"/>
            </a:endParaRPr>
          </a:p>
        </p:txBody>
      </p:sp>
      <p:sp>
        <p:nvSpPr>
          <p:cNvPr id="110" name="Google Shape;110;p4"/>
          <p:cNvSpPr/>
          <p:nvPr/>
        </p:nvSpPr>
        <p:spPr>
          <a:xfrm>
            <a:off x="3131291" y="4757314"/>
            <a:ext cx="4537581" cy="25654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ŷ = D(t) · Z(t)</a:t>
            </a:r>
            <a:endParaRPr sz="1400" b="0" i="0" u="none" strike="noStrike" cap="none">
              <a:solidFill>
                <a:schemeClr val="dk1"/>
              </a:solidFill>
              <a:latin typeface="Arial"/>
              <a:ea typeface="Arial"/>
              <a:cs typeface="Arial"/>
              <a:sym typeface="Arial"/>
            </a:endParaRPr>
          </a:p>
        </p:txBody>
      </p:sp>
      <p:sp>
        <p:nvSpPr>
          <p:cNvPr id="111" name="Google Shape;111;p4"/>
          <p:cNvSpPr/>
          <p:nvPr/>
        </p:nvSpPr>
        <p:spPr>
          <a:xfrm>
            <a:off x="7892309" y="4499504"/>
            <a:ext cx="340106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Mạnh:</a:t>
            </a:r>
            <a:r>
              <a:rPr lang="en-US" sz="1200" b="0" i="0" u="none" strike="noStrike" cap="none">
                <a:solidFill>
                  <a:srgbClr val="1B2433"/>
                </a:solidFill>
                <a:latin typeface="Arial"/>
                <a:ea typeface="Arial"/>
                <a:cs typeface="Arial"/>
                <a:sym typeface="Arial"/>
              </a:rPr>
              <a:t> tự giảm khi lâu không bán</a:t>
            </a:r>
            <a:endParaRPr sz="1200" b="0" i="0" u="none" strike="noStrike" cap="none">
              <a:solidFill>
                <a:schemeClr val="dk1"/>
              </a:solidFill>
              <a:latin typeface="Arial"/>
              <a:ea typeface="Arial"/>
              <a:cs typeface="Arial"/>
              <a:sym typeface="Arial"/>
            </a:endParaRPr>
          </a:p>
        </p:txBody>
      </p:sp>
      <p:sp>
        <p:nvSpPr>
          <p:cNvPr id="112" name="Google Shape;112;p4"/>
          <p:cNvSpPr/>
          <p:nvPr/>
        </p:nvSpPr>
        <p:spPr>
          <a:xfrm>
            <a:off x="7892309" y="4763664"/>
            <a:ext cx="340106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Yếu:</a:t>
            </a:r>
            <a:r>
              <a:rPr lang="en-US" sz="1200" b="0" i="0" u="none" strike="noStrike" cap="none">
                <a:solidFill>
                  <a:srgbClr val="1B2433"/>
                </a:solidFill>
                <a:latin typeface="Arial"/>
                <a:ea typeface="Arial"/>
                <a:cs typeface="Arial"/>
                <a:sym typeface="Arial"/>
              </a:rPr>
              <a:t> thêm tham số β cần chọn</a:t>
            </a:r>
            <a:endParaRPr sz="1200" b="0" i="0" u="none" strike="noStrike" cap="none">
              <a:solidFill>
                <a:schemeClr val="dk1"/>
              </a:solidFill>
              <a:latin typeface="Arial"/>
              <a:ea typeface="Arial"/>
              <a:cs typeface="Arial"/>
              <a:sym typeface="Arial"/>
            </a:endParaRPr>
          </a:p>
        </p:txBody>
      </p:sp>
      <p:sp>
        <p:nvSpPr>
          <p:cNvPr id="113" name="Google Shape;113;p4"/>
          <p:cNvSpPr/>
          <p:nvPr/>
        </p:nvSpPr>
        <p:spPr>
          <a:xfrm>
            <a:off x="812800" y="5440046"/>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Z: lượng bán mỗi lần có bán. P: khoảng cách giữa hai lần bán. D: xác suất có bán. q: số ngày từ lần bán trước. α, β: hệ số làm mượt.</a:t>
            </a:r>
            <a:endParaRPr sz="1200" b="0" i="0" u="none" strike="noStrike" cap="none">
              <a:solidFill>
                <a:schemeClr val="dk1"/>
              </a:solidFill>
              <a:latin typeface="Arial"/>
              <a:ea typeface="Arial"/>
              <a:cs typeface="Arial"/>
              <a:sym typeface="Arial"/>
            </a:endParaRPr>
          </a:p>
        </p:txBody>
      </p:sp>
      <p:sp>
        <p:nvSpPr>
          <p:cNvPr id="114" name="Google Shape;114;p4"/>
          <p:cNvSpPr/>
          <p:nvPr/>
        </p:nvSpPr>
        <p:spPr>
          <a:xfrm>
            <a:off x="812800" y="6238239"/>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115" name="Google Shape;115;p4"/>
          <p:cNvSpPr/>
          <p:nvPr/>
        </p:nvSpPr>
        <p:spPr>
          <a:xfrm>
            <a:off x="11243628" y="6238239"/>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4</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BE3"/>
        </a:solidFill>
        <a:effectLst/>
      </p:bgPr>
    </p:bg>
    <p:spTree>
      <p:nvGrpSpPr>
        <p:cNvPr id="1" name="Shape 120"/>
        <p:cNvGrpSpPr/>
        <p:nvPr/>
      </p:nvGrpSpPr>
      <p:grpSpPr>
        <a:xfrm>
          <a:off x="0" y="0"/>
          <a:ext cx="0" cy="0"/>
          <a:chOff x="0" y="0"/>
          <a:chExt cx="0" cy="0"/>
        </a:xfrm>
      </p:grpSpPr>
      <p:sp>
        <p:nvSpPr>
          <p:cNvPr id="121" name="Google Shape;121;p5"/>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PHƯƠNG PHÁP</a:t>
            </a:r>
            <a:endParaRPr sz="1200" b="0" i="0" u="none" strike="noStrike" cap="none">
              <a:solidFill>
                <a:schemeClr val="dk1"/>
              </a:solidFill>
              <a:latin typeface="Arial"/>
              <a:ea typeface="Arial"/>
              <a:cs typeface="Arial"/>
              <a:sym typeface="Arial"/>
            </a:endParaRPr>
          </a:p>
        </p:txBody>
      </p:sp>
      <p:sp>
        <p:nvSpPr>
          <p:cNvPr id="122" name="Google Shape;122;p5"/>
          <p:cNvSpPr txBox="1">
            <a:spLocks noGrp="1"/>
          </p:cNvSpPr>
          <p:nvPr>
            <p:ph type="title"/>
          </p:nvPr>
        </p:nvSpPr>
        <p:spPr>
          <a:xfrm>
            <a:off x="812800" y="1102361"/>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Foundation model</a:t>
            </a:r>
            <a:endParaRPr sz="2800"/>
          </a:p>
        </p:txBody>
      </p:sp>
      <p:sp>
        <p:nvSpPr>
          <p:cNvPr id="123" name="Google Shape;123;p5"/>
          <p:cNvSpPr/>
          <p:nvPr/>
        </p:nvSpPr>
        <p:spPr>
          <a:xfrm>
            <a:off x="812800" y="1714500"/>
            <a:ext cx="10883392"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400"/>
              <a:buFont typeface="Arial"/>
              <a:buNone/>
            </a:pPr>
            <a:r>
              <a:rPr lang="en-US" sz="1400" b="0" i="0" u="none" strike="noStrike" cap="none">
                <a:solidFill>
                  <a:srgbClr val="4A5361"/>
                </a:solidFill>
                <a:latin typeface="Arial"/>
                <a:ea typeface="Arial"/>
                <a:cs typeface="Arial"/>
                <a:sym typeface="Arial"/>
              </a:rPr>
              <a:t>Đã huấn luyện sẵn trên kho chuỗi thời gian lớn. Chỉ đọc lịch sử bán của chuỗi, không dùng SNAP hay giá.</a:t>
            </a:r>
            <a:endParaRPr sz="1400" b="0" i="0" u="none" strike="noStrike" cap="none">
              <a:solidFill>
                <a:schemeClr val="dk1"/>
              </a:solidFill>
              <a:latin typeface="Arial"/>
              <a:ea typeface="Arial"/>
              <a:cs typeface="Arial"/>
              <a:sym typeface="Arial"/>
            </a:endParaRPr>
          </a:p>
        </p:txBody>
      </p:sp>
      <p:sp>
        <p:nvSpPr>
          <p:cNvPr id="124" name="Google Shape;124;p5"/>
          <p:cNvSpPr/>
          <p:nvPr/>
        </p:nvSpPr>
        <p:spPr>
          <a:xfrm>
            <a:off x="815975" y="2169796"/>
            <a:ext cx="3414183" cy="3050752"/>
          </a:xfrm>
          <a:prstGeom prst="roundRect">
            <a:avLst>
              <a:gd name="adj" fmla="val 3226"/>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1023091" y="2376912"/>
            <a:ext cx="308995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Chronos-Bolt</a:t>
            </a:r>
            <a:endParaRPr sz="1700" b="0" i="0" u="none" strike="noStrike" cap="none">
              <a:solidFill>
                <a:schemeClr val="dk1"/>
              </a:solidFill>
              <a:latin typeface="Arial"/>
              <a:ea typeface="Arial"/>
              <a:cs typeface="Arial"/>
              <a:sym typeface="Arial"/>
            </a:endParaRPr>
          </a:p>
        </p:txBody>
      </p:sp>
      <p:sp>
        <p:nvSpPr>
          <p:cNvPr id="126" name="Google Shape;126;p5"/>
          <p:cNvSpPr/>
          <p:nvPr/>
        </p:nvSpPr>
        <p:spPr>
          <a:xfrm>
            <a:off x="1023091" y="2762991"/>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Kiến trúc</a:t>
            </a:r>
            <a:endParaRPr sz="1200" b="0" i="0" u="none" strike="noStrike" cap="none">
              <a:solidFill>
                <a:schemeClr val="dk1"/>
              </a:solidFill>
              <a:latin typeface="Arial"/>
              <a:ea typeface="Arial"/>
              <a:cs typeface="Arial"/>
              <a:sym typeface="Arial"/>
            </a:endParaRPr>
          </a:p>
        </p:txBody>
      </p:sp>
      <p:sp>
        <p:nvSpPr>
          <p:cNvPr id="127" name="Google Shape;127;p5"/>
          <p:cNvSpPr/>
          <p:nvPr/>
        </p:nvSpPr>
        <p:spPr>
          <a:xfrm>
            <a:off x="1023091" y="3001752"/>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T5 encoder và decoder, đọc chuỗi theo từng đoạn ngắn</a:t>
            </a:r>
            <a:endParaRPr sz="1200" b="0" i="0" u="none" strike="noStrike" cap="none">
              <a:solidFill>
                <a:schemeClr val="dk1"/>
              </a:solidFill>
              <a:latin typeface="Arial"/>
              <a:ea typeface="Arial"/>
              <a:cs typeface="Arial"/>
              <a:sym typeface="Arial"/>
            </a:endParaRPr>
          </a:p>
        </p:txBody>
      </p:sp>
      <p:sp>
        <p:nvSpPr>
          <p:cNvPr id="128" name="Google Shape;128;p5"/>
          <p:cNvSpPr/>
          <p:nvPr/>
        </p:nvSpPr>
        <p:spPr>
          <a:xfrm>
            <a:off x="1023091" y="3555470"/>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Đầu ra</a:t>
            </a:r>
            <a:endParaRPr sz="1200" b="0" i="0" u="none" strike="noStrike" cap="none">
              <a:solidFill>
                <a:schemeClr val="dk1"/>
              </a:solidFill>
              <a:latin typeface="Arial"/>
              <a:ea typeface="Arial"/>
              <a:cs typeface="Arial"/>
              <a:sym typeface="Arial"/>
            </a:endParaRPr>
          </a:p>
        </p:txBody>
      </p:sp>
      <p:sp>
        <p:nvSpPr>
          <p:cNvPr id="129" name="Google Shape;129;p5"/>
          <p:cNvSpPr/>
          <p:nvPr/>
        </p:nvSpPr>
        <p:spPr>
          <a:xfrm>
            <a:off x="1023091" y="3794230"/>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Sinh trực tiếp các phân vị</a:t>
            </a:r>
            <a:endParaRPr sz="1200" b="0" i="0" u="none" strike="noStrike" cap="none">
              <a:solidFill>
                <a:schemeClr val="dk1"/>
              </a:solidFill>
              <a:latin typeface="Arial"/>
              <a:ea typeface="Arial"/>
              <a:cs typeface="Arial"/>
              <a:sym typeface="Arial"/>
            </a:endParaRPr>
          </a:p>
        </p:txBody>
      </p:sp>
      <p:sp>
        <p:nvSpPr>
          <p:cNvPr id="130" name="Google Shape;130;p5"/>
          <p:cNvSpPr/>
          <p:nvPr/>
        </p:nvSpPr>
        <p:spPr>
          <a:xfrm>
            <a:off x="1023091" y="4134591"/>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Hạn chế</a:t>
            </a:r>
            <a:endParaRPr sz="1200" b="0" i="0" u="none" strike="noStrike" cap="none">
              <a:solidFill>
                <a:schemeClr val="dk1"/>
              </a:solidFill>
              <a:latin typeface="Arial"/>
              <a:ea typeface="Arial"/>
              <a:cs typeface="Arial"/>
              <a:sym typeface="Arial"/>
            </a:endParaRPr>
          </a:p>
        </p:txBody>
      </p:sp>
      <p:sp>
        <p:nvSpPr>
          <p:cNvPr id="131" name="Google Shape;131;p5"/>
          <p:cNvSpPr/>
          <p:nvPr/>
        </p:nvSpPr>
        <p:spPr>
          <a:xfrm>
            <a:off x="1023091" y="4373352"/>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Chỉ học phân vị từ 0,1 đến 0,9 nên hai đuôi bị kẹp</a:t>
            </a:r>
            <a:endParaRPr sz="1200" b="0" i="0" u="none" strike="noStrike" cap="none">
              <a:solidFill>
                <a:schemeClr val="dk1"/>
              </a:solidFill>
              <a:latin typeface="Arial"/>
              <a:ea typeface="Arial"/>
              <a:cs typeface="Arial"/>
              <a:sym typeface="Arial"/>
            </a:endParaRPr>
          </a:p>
        </p:txBody>
      </p:sp>
      <p:sp>
        <p:nvSpPr>
          <p:cNvPr id="132" name="Google Shape;132;p5"/>
          <p:cNvSpPr/>
          <p:nvPr/>
        </p:nvSpPr>
        <p:spPr>
          <a:xfrm>
            <a:off x="4388908" y="2169796"/>
            <a:ext cx="3414183" cy="3050752"/>
          </a:xfrm>
          <a:prstGeom prst="roundRect">
            <a:avLst>
              <a:gd name="adj" fmla="val 3226"/>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4596024" y="2376912"/>
            <a:ext cx="308995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TTM</a:t>
            </a:r>
            <a:endParaRPr sz="1700" b="0" i="0" u="none" strike="noStrike" cap="none">
              <a:solidFill>
                <a:schemeClr val="dk1"/>
              </a:solidFill>
              <a:latin typeface="Arial"/>
              <a:ea typeface="Arial"/>
              <a:cs typeface="Arial"/>
              <a:sym typeface="Arial"/>
            </a:endParaRPr>
          </a:p>
        </p:txBody>
      </p:sp>
      <p:sp>
        <p:nvSpPr>
          <p:cNvPr id="134" name="Google Shape;134;p5"/>
          <p:cNvSpPr/>
          <p:nvPr/>
        </p:nvSpPr>
        <p:spPr>
          <a:xfrm>
            <a:off x="4596024" y="2762991"/>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Kiến trúc</a:t>
            </a:r>
            <a:endParaRPr sz="1200" b="0" i="0" u="none" strike="noStrike" cap="none">
              <a:solidFill>
                <a:schemeClr val="dk1"/>
              </a:solidFill>
              <a:latin typeface="Arial"/>
              <a:ea typeface="Arial"/>
              <a:cs typeface="Arial"/>
              <a:sym typeface="Arial"/>
            </a:endParaRPr>
          </a:p>
        </p:txBody>
      </p:sp>
      <p:sp>
        <p:nvSpPr>
          <p:cNvPr id="135" name="Google Shape;135;p5"/>
          <p:cNvSpPr/>
          <p:nvPr/>
        </p:nvSpPr>
        <p:spPr>
          <a:xfrm>
            <a:off x="4596024" y="3001752"/>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MLP-Mixer cỡ nhỏ, không dùng attention, chạy rất nhanh</a:t>
            </a:r>
            <a:endParaRPr sz="1200" b="0" i="0" u="none" strike="noStrike" cap="none">
              <a:solidFill>
                <a:schemeClr val="dk1"/>
              </a:solidFill>
              <a:latin typeface="Arial"/>
              <a:ea typeface="Arial"/>
              <a:cs typeface="Arial"/>
              <a:sym typeface="Arial"/>
            </a:endParaRPr>
          </a:p>
        </p:txBody>
      </p:sp>
      <p:sp>
        <p:nvSpPr>
          <p:cNvPr id="136" name="Google Shape;136;p5"/>
          <p:cNvSpPr/>
          <p:nvPr/>
        </p:nvSpPr>
        <p:spPr>
          <a:xfrm>
            <a:off x="4596024" y="3555470"/>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Đầu ra</a:t>
            </a:r>
            <a:endParaRPr sz="1200" b="0" i="0" u="none" strike="noStrike" cap="none">
              <a:solidFill>
                <a:schemeClr val="dk1"/>
              </a:solidFill>
              <a:latin typeface="Arial"/>
              <a:ea typeface="Arial"/>
              <a:cs typeface="Arial"/>
              <a:sym typeface="Arial"/>
            </a:endParaRPr>
          </a:p>
        </p:txBody>
      </p:sp>
      <p:sp>
        <p:nvSpPr>
          <p:cNvPr id="137" name="Google Shape;137;p5"/>
          <p:cNvSpPr/>
          <p:nvPr/>
        </p:nvSpPr>
        <p:spPr>
          <a:xfrm>
            <a:off x="4596024" y="3794230"/>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Một con số, bọc Negative Binomial để ra phân vị</a:t>
            </a:r>
            <a:endParaRPr sz="1200" b="0" i="0" u="none" strike="noStrike" cap="none">
              <a:solidFill>
                <a:schemeClr val="dk1"/>
              </a:solidFill>
              <a:latin typeface="Arial"/>
              <a:ea typeface="Arial"/>
              <a:cs typeface="Arial"/>
              <a:sym typeface="Arial"/>
            </a:endParaRPr>
          </a:p>
        </p:txBody>
      </p:sp>
      <p:sp>
        <p:nvSpPr>
          <p:cNvPr id="138" name="Google Shape;138;p5"/>
          <p:cNvSpPr/>
          <p:nvPr/>
        </p:nvSpPr>
        <p:spPr>
          <a:xfrm>
            <a:off x="4596024" y="4347952"/>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Hạn chế</a:t>
            </a:r>
            <a:endParaRPr sz="1200" b="0" i="0" u="none" strike="noStrike" cap="none">
              <a:solidFill>
                <a:schemeClr val="dk1"/>
              </a:solidFill>
              <a:latin typeface="Arial"/>
              <a:ea typeface="Arial"/>
              <a:cs typeface="Arial"/>
              <a:sym typeface="Arial"/>
            </a:endParaRPr>
          </a:p>
        </p:txBody>
      </p:sp>
      <p:sp>
        <p:nvSpPr>
          <p:cNvPr id="139" name="Google Shape;139;p5"/>
          <p:cNvSpPr/>
          <p:nvPr/>
        </p:nvSpPr>
        <p:spPr>
          <a:xfrm>
            <a:off x="4596024" y="4586712"/>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Độ rộng dải phụ thuộc giả định Negative Binomial</a:t>
            </a:r>
            <a:endParaRPr sz="1200" b="0" i="0" u="none" strike="noStrike" cap="none">
              <a:solidFill>
                <a:schemeClr val="dk1"/>
              </a:solidFill>
              <a:latin typeface="Arial"/>
              <a:ea typeface="Arial"/>
              <a:cs typeface="Arial"/>
              <a:sym typeface="Arial"/>
            </a:endParaRPr>
          </a:p>
        </p:txBody>
      </p:sp>
      <p:sp>
        <p:nvSpPr>
          <p:cNvPr id="140" name="Google Shape;140;p5"/>
          <p:cNvSpPr/>
          <p:nvPr/>
        </p:nvSpPr>
        <p:spPr>
          <a:xfrm>
            <a:off x="7961842" y="2169796"/>
            <a:ext cx="3414183" cy="3050752"/>
          </a:xfrm>
          <a:prstGeom prst="roundRect">
            <a:avLst>
              <a:gd name="adj" fmla="val 3226"/>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8168957" y="2376912"/>
            <a:ext cx="308995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Moirai-2</a:t>
            </a:r>
            <a:endParaRPr sz="1700" b="0" i="0" u="none" strike="noStrike" cap="none">
              <a:solidFill>
                <a:schemeClr val="dk1"/>
              </a:solidFill>
              <a:latin typeface="Arial"/>
              <a:ea typeface="Arial"/>
              <a:cs typeface="Arial"/>
              <a:sym typeface="Arial"/>
            </a:endParaRPr>
          </a:p>
        </p:txBody>
      </p:sp>
      <p:sp>
        <p:nvSpPr>
          <p:cNvPr id="142" name="Google Shape;142;p5"/>
          <p:cNvSpPr/>
          <p:nvPr/>
        </p:nvSpPr>
        <p:spPr>
          <a:xfrm>
            <a:off x="8168957" y="2762991"/>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Kiến trúc</a:t>
            </a:r>
            <a:endParaRPr sz="1200" b="0" i="0" u="none" strike="noStrike" cap="none">
              <a:solidFill>
                <a:schemeClr val="dk1"/>
              </a:solidFill>
              <a:latin typeface="Arial"/>
              <a:ea typeface="Arial"/>
              <a:cs typeface="Arial"/>
              <a:sym typeface="Arial"/>
            </a:endParaRPr>
          </a:p>
        </p:txBody>
      </p:sp>
      <p:sp>
        <p:nvSpPr>
          <p:cNvPr id="143" name="Google Shape;143;p5"/>
          <p:cNvSpPr/>
          <p:nvPr/>
        </p:nvSpPr>
        <p:spPr>
          <a:xfrm>
            <a:off x="8168957" y="3001752"/>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Transformer chỉ có decoder, dự báo nhiều bước một lần</a:t>
            </a:r>
            <a:endParaRPr sz="1200" b="0" i="0" u="none" strike="noStrike" cap="none">
              <a:solidFill>
                <a:schemeClr val="dk1"/>
              </a:solidFill>
              <a:latin typeface="Arial"/>
              <a:ea typeface="Arial"/>
              <a:cs typeface="Arial"/>
              <a:sym typeface="Arial"/>
            </a:endParaRPr>
          </a:p>
        </p:txBody>
      </p:sp>
      <p:sp>
        <p:nvSpPr>
          <p:cNvPr id="144" name="Google Shape;144;p5"/>
          <p:cNvSpPr/>
          <p:nvPr/>
        </p:nvSpPr>
        <p:spPr>
          <a:xfrm>
            <a:off x="8168957" y="3555470"/>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Đầu ra</a:t>
            </a:r>
            <a:endParaRPr sz="1200" b="0" i="0" u="none" strike="noStrike" cap="none">
              <a:solidFill>
                <a:schemeClr val="dk1"/>
              </a:solidFill>
              <a:latin typeface="Arial"/>
              <a:ea typeface="Arial"/>
              <a:cs typeface="Arial"/>
              <a:sym typeface="Arial"/>
            </a:endParaRPr>
          </a:p>
        </p:txBody>
      </p:sp>
      <p:sp>
        <p:nvSpPr>
          <p:cNvPr id="145" name="Google Shape;145;p5"/>
          <p:cNvSpPr/>
          <p:nvPr/>
        </p:nvSpPr>
        <p:spPr>
          <a:xfrm>
            <a:off x="8168957" y="3794230"/>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Phân vị trên lưới 0,1 đến 0,9, nội suy về 9 mức</a:t>
            </a:r>
            <a:endParaRPr sz="1200" b="0" i="0" u="none" strike="noStrike" cap="none">
              <a:solidFill>
                <a:schemeClr val="dk1"/>
              </a:solidFill>
              <a:latin typeface="Arial"/>
              <a:ea typeface="Arial"/>
              <a:cs typeface="Arial"/>
              <a:sym typeface="Arial"/>
            </a:endParaRPr>
          </a:p>
        </p:txBody>
      </p:sp>
      <p:sp>
        <p:nvSpPr>
          <p:cNvPr id="146" name="Google Shape;146;p5"/>
          <p:cNvSpPr/>
          <p:nvPr/>
        </p:nvSpPr>
        <p:spPr>
          <a:xfrm>
            <a:off x="8168957" y="4347952"/>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Hạn chế</a:t>
            </a:r>
            <a:endParaRPr sz="1200" b="0" i="0" u="none" strike="noStrike" cap="none">
              <a:solidFill>
                <a:schemeClr val="dk1"/>
              </a:solidFill>
              <a:latin typeface="Arial"/>
              <a:ea typeface="Arial"/>
              <a:cs typeface="Arial"/>
              <a:sym typeface="Arial"/>
            </a:endParaRPr>
          </a:p>
        </p:txBody>
      </p:sp>
      <p:sp>
        <p:nvSpPr>
          <p:cNvPr id="147" name="Google Shape;147;p5"/>
          <p:cNvSpPr/>
          <p:nvPr/>
        </p:nvSpPr>
        <p:spPr>
          <a:xfrm>
            <a:off x="8168957" y="4586712"/>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Mức ngoài lưới phải nội suy nên đuôi hẹp</a:t>
            </a:r>
            <a:endParaRPr sz="1200" b="0" i="0" u="none" strike="noStrike" cap="none">
              <a:solidFill>
                <a:schemeClr val="dk1"/>
              </a:solidFill>
              <a:latin typeface="Arial"/>
              <a:ea typeface="Arial"/>
              <a:cs typeface="Arial"/>
              <a:sym typeface="Arial"/>
            </a:endParaRPr>
          </a:p>
        </p:txBody>
      </p:sp>
      <p:sp>
        <p:nvSpPr>
          <p:cNvPr id="148" name="Google Shape;148;p5"/>
          <p:cNvSpPr/>
          <p:nvPr/>
        </p:nvSpPr>
        <p:spPr>
          <a:xfrm>
            <a:off x="812800" y="5426921"/>
            <a:ext cx="10883392"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Đuôi dải của Chronos-Bolt và Moirai-2 quá hẹp, vì vậy cần hiệu chuẩn trước khi so sánh.</a:t>
            </a:r>
            <a:endParaRPr sz="1400" b="0" i="0" u="none" strike="noStrike" cap="none">
              <a:solidFill>
                <a:schemeClr val="dk1"/>
              </a:solidFill>
              <a:latin typeface="Arial"/>
              <a:ea typeface="Arial"/>
              <a:cs typeface="Arial"/>
              <a:sym typeface="Arial"/>
            </a:endParaRPr>
          </a:p>
        </p:txBody>
      </p:sp>
      <p:sp>
        <p:nvSpPr>
          <p:cNvPr id="149" name="Google Shape;149;p5"/>
          <p:cNvSpPr/>
          <p:nvPr/>
        </p:nvSpPr>
        <p:spPr>
          <a:xfrm>
            <a:off x="812800" y="6238239"/>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150" name="Google Shape;150;p5"/>
          <p:cNvSpPr/>
          <p:nvPr/>
        </p:nvSpPr>
        <p:spPr>
          <a:xfrm>
            <a:off x="11243628" y="6238239"/>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5</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BE3"/>
        </a:solidFill>
        <a:effectLst/>
      </p:bgPr>
    </p:bg>
    <p:spTree>
      <p:nvGrpSpPr>
        <p:cNvPr id="1" name="Shape 155"/>
        <p:cNvGrpSpPr/>
        <p:nvPr/>
      </p:nvGrpSpPr>
      <p:grpSpPr>
        <a:xfrm>
          <a:off x="0" y="0"/>
          <a:ext cx="0" cy="0"/>
          <a:chOff x="0" y="0"/>
          <a:chExt cx="0" cy="0"/>
        </a:xfrm>
      </p:grpSpPr>
      <p:sp>
        <p:nvSpPr>
          <p:cNvPr id="156" name="Google Shape;156;p6"/>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PHƯƠNG PHÁP</a:t>
            </a:r>
            <a:endParaRPr sz="1200" b="0" i="0" u="none" strike="noStrike" cap="none">
              <a:solidFill>
                <a:schemeClr val="dk1"/>
              </a:solidFill>
              <a:latin typeface="Arial"/>
              <a:ea typeface="Arial"/>
              <a:cs typeface="Arial"/>
              <a:sym typeface="Arial"/>
            </a:endParaRPr>
          </a:p>
        </p:txBody>
      </p:sp>
      <p:sp>
        <p:nvSpPr>
          <p:cNvPr id="157" name="Google Shape;157;p6"/>
          <p:cNvSpPr txBox="1">
            <a:spLocks noGrp="1"/>
          </p:cNvSpPr>
          <p:nvPr>
            <p:ph type="title"/>
          </p:nvPr>
        </p:nvSpPr>
        <p:spPr>
          <a:xfrm>
            <a:off x="812800" y="1102361"/>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Hiệu chuẩn chung đưa mọi mô hình về cùng một thước đo</a:t>
            </a:r>
            <a:endParaRPr sz="2800"/>
          </a:p>
        </p:txBody>
      </p:sp>
      <p:sp>
        <p:nvSpPr>
          <p:cNvPr id="158" name="Google Shape;158;p6"/>
          <p:cNvSpPr/>
          <p:nvPr/>
        </p:nvSpPr>
        <p:spPr>
          <a:xfrm>
            <a:off x="815975" y="1717675"/>
            <a:ext cx="3177117" cy="1216872"/>
          </a:xfrm>
          <a:prstGeom prst="roundRect">
            <a:avLst>
              <a:gd name="adj" fmla="val 8088"/>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p:cNvSpPr/>
          <p:nvPr/>
        </p:nvSpPr>
        <p:spPr>
          <a:xfrm>
            <a:off x="997691" y="1873991"/>
            <a:ext cx="2898095"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Bước 1</a:t>
            </a:r>
            <a:endParaRPr sz="1200" b="0" i="0" u="none" strike="noStrike" cap="none">
              <a:solidFill>
                <a:schemeClr val="dk1"/>
              </a:solidFill>
              <a:latin typeface="Arial"/>
              <a:ea typeface="Arial"/>
              <a:cs typeface="Arial"/>
              <a:sym typeface="Arial"/>
            </a:endParaRPr>
          </a:p>
        </p:txBody>
      </p:sp>
      <p:sp>
        <p:nvSpPr>
          <p:cNvPr id="160" name="Google Shape;160;p6"/>
          <p:cNvSpPr/>
          <p:nvPr/>
        </p:nvSpPr>
        <p:spPr>
          <a:xfrm>
            <a:off x="997691" y="2138152"/>
            <a:ext cx="2898095" cy="66548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Đo độ lệch của từng phân vị trên validation,th</a:t>
            </a:r>
            <a:r>
              <a:rPr lang="en-US" sz="1200">
                <a:solidFill>
                  <a:srgbClr val="1B2433"/>
                </a:solidFill>
              </a:rPr>
              <a:t>ực hiện</a:t>
            </a:r>
            <a:r>
              <a:rPr lang="en-US" sz="1200" b="0" i="0" u="none" strike="noStrike" cap="none">
                <a:solidFill>
                  <a:srgbClr val="1B2433"/>
                </a:solidFill>
                <a:latin typeface="Arial"/>
                <a:ea typeface="Arial"/>
                <a:cs typeface="Arial"/>
                <a:sym typeface="Arial"/>
              </a:rPr>
              <a:t> riêng cho mỗi nhóm SBC và mỗi mức</a:t>
            </a:r>
            <a:endParaRPr sz="1200" b="0" i="0" u="none" strike="noStrike" cap="none">
              <a:solidFill>
                <a:schemeClr val="dk1"/>
              </a:solidFill>
              <a:latin typeface="Arial"/>
              <a:ea typeface="Arial"/>
              <a:cs typeface="Arial"/>
              <a:sym typeface="Arial"/>
            </a:endParaRPr>
          </a:p>
        </p:txBody>
      </p:sp>
      <p:pic>
        <p:nvPicPr>
          <p:cNvPr id="161" name="Google Shape;161;p6" descr="arrow-right"/>
          <p:cNvPicPr preferRelativeResize="0"/>
          <p:nvPr/>
        </p:nvPicPr>
        <p:blipFill rotWithShape="1">
          <a:blip r:embed="rId3">
            <a:alphaModFix/>
          </a:blip>
          <a:srcRect/>
          <a:stretch/>
        </p:blipFill>
        <p:spPr>
          <a:xfrm>
            <a:off x="4097867" y="2249912"/>
            <a:ext cx="304800" cy="152400"/>
          </a:xfrm>
          <a:prstGeom prst="rect">
            <a:avLst/>
          </a:prstGeom>
          <a:noFill/>
          <a:ln>
            <a:noFill/>
          </a:ln>
        </p:spPr>
      </p:pic>
      <p:sp>
        <p:nvSpPr>
          <p:cNvPr id="162" name="Google Shape;162;p6"/>
          <p:cNvSpPr/>
          <p:nvPr/>
        </p:nvSpPr>
        <p:spPr>
          <a:xfrm>
            <a:off x="4507442" y="1717675"/>
            <a:ext cx="3177117" cy="1216872"/>
          </a:xfrm>
          <a:prstGeom prst="roundRect">
            <a:avLst>
              <a:gd name="adj" fmla="val 8088"/>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a:off x="4689158" y="1873991"/>
            <a:ext cx="2898096"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Bước 2</a:t>
            </a:r>
            <a:endParaRPr sz="1200" b="0" i="0" u="none" strike="noStrike" cap="none">
              <a:solidFill>
                <a:schemeClr val="dk1"/>
              </a:solidFill>
              <a:latin typeface="Arial"/>
              <a:ea typeface="Arial"/>
              <a:cs typeface="Arial"/>
              <a:sym typeface="Arial"/>
            </a:endParaRPr>
          </a:p>
        </p:txBody>
      </p:sp>
      <p:sp>
        <p:nvSpPr>
          <p:cNvPr id="164" name="Google Shape;164;p6"/>
          <p:cNvSpPr/>
          <p:nvPr/>
        </p:nvSpPr>
        <p:spPr>
          <a:xfrm>
            <a:off x="4689158" y="2138152"/>
            <a:ext cx="2898096"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Cộng độ lệch vào dự báo test, sắp xếp lại để phân vị tăng dần và không âm</a:t>
            </a:r>
            <a:endParaRPr sz="1200" b="0" i="0" u="none" strike="noStrike" cap="none">
              <a:solidFill>
                <a:schemeClr val="dk1"/>
              </a:solidFill>
              <a:latin typeface="Arial"/>
              <a:ea typeface="Arial"/>
              <a:cs typeface="Arial"/>
              <a:sym typeface="Arial"/>
            </a:endParaRPr>
          </a:p>
        </p:txBody>
      </p:sp>
      <p:pic>
        <p:nvPicPr>
          <p:cNvPr id="165" name="Google Shape;165;p6" descr="arrow-right"/>
          <p:cNvPicPr preferRelativeResize="0"/>
          <p:nvPr/>
        </p:nvPicPr>
        <p:blipFill rotWithShape="1">
          <a:blip r:embed="rId3">
            <a:alphaModFix/>
          </a:blip>
          <a:srcRect/>
          <a:stretch/>
        </p:blipFill>
        <p:spPr>
          <a:xfrm>
            <a:off x="7789333" y="2249912"/>
            <a:ext cx="304800" cy="152400"/>
          </a:xfrm>
          <a:prstGeom prst="rect">
            <a:avLst/>
          </a:prstGeom>
          <a:noFill/>
          <a:ln>
            <a:noFill/>
          </a:ln>
        </p:spPr>
      </p:pic>
      <p:sp>
        <p:nvSpPr>
          <p:cNvPr id="166" name="Google Shape;166;p6"/>
          <p:cNvSpPr/>
          <p:nvPr/>
        </p:nvSpPr>
        <p:spPr>
          <a:xfrm>
            <a:off x="8198908" y="1717675"/>
            <a:ext cx="3177117" cy="1216872"/>
          </a:xfrm>
          <a:prstGeom prst="roundRect">
            <a:avLst>
              <a:gd name="adj" fmla="val 8088"/>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p:nvPr/>
        </p:nvSpPr>
        <p:spPr>
          <a:xfrm>
            <a:off x="8380624" y="1873991"/>
            <a:ext cx="2898095"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Bước 3</a:t>
            </a:r>
            <a:endParaRPr sz="1200" b="0" i="0" u="none" strike="noStrike" cap="none">
              <a:solidFill>
                <a:schemeClr val="dk1"/>
              </a:solidFill>
              <a:latin typeface="Arial"/>
              <a:ea typeface="Arial"/>
              <a:cs typeface="Arial"/>
              <a:sym typeface="Arial"/>
            </a:endParaRPr>
          </a:p>
        </p:txBody>
      </p:sp>
      <p:sp>
        <p:nvSpPr>
          <p:cNvPr id="168" name="Google Shape;168;p6"/>
          <p:cNvSpPr/>
          <p:nvPr/>
        </p:nvSpPr>
        <p:spPr>
          <a:xfrm>
            <a:off x="8380624" y="2138152"/>
            <a:ext cx="2898095"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Kiểm tra coverage-95 trước và sau khi hiệu chuẩn</a:t>
            </a:r>
            <a:endParaRPr sz="1200" b="0" i="0" u="none" strike="noStrike" cap="none">
              <a:solidFill>
                <a:schemeClr val="dk1"/>
              </a:solidFill>
              <a:latin typeface="Arial"/>
              <a:ea typeface="Arial"/>
              <a:cs typeface="Arial"/>
              <a:sym typeface="Arial"/>
            </a:endParaRPr>
          </a:p>
        </p:txBody>
      </p:sp>
      <p:sp>
        <p:nvSpPr>
          <p:cNvPr id="169" name="Google Shape;169;p6"/>
          <p:cNvSpPr/>
          <p:nvPr/>
        </p:nvSpPr>
        <p:spPr>
          <a:xfrm>
            <a:off x="812800" y="3140921"/>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Coverage-95: tỷ lệ giá trị thật nằm trong dải 95%</a:t>
            </a:r>
            <a:endParaRPr sz="1200" b="0" i="0" u="none" strike="noStrike" cap="none">
              <a:solidFill>
                <a:schemeClr val="dk1"/>
              </a:solidFill>
              <a:latin typeface="Arial"/>
              <a:ea typeface="Arial"/>
              <a:cs typeface="Arial"/>
              <a:sym typeface="Arial"/>
            </a:endParaRPr>
          </a:p>
        </p:txBody>
      </p:sp>
      <p:cxnSp>
        <p:nvCxnSpPr>
          <p:cNvPr id="170" name="Google Shape;170;p6"/>
          <p:cNvCxnSpPr/>
          <p:nvPr/>
        </p:nvCxnSpPr>
        <p:spPr>
          <a:xfrm>
            <a:off x="9623425" y="3684482"/>
            <a:ext cx="0" cy="1358900"/>
          </a:xfrm>
          <a:prstGeom prst="straightConnector1">
            <a:avLst/>
          </a:prstGeom>
          <a:noFill/>
          <a:ln w="19050" cap="flat" cmpd="sng">
            <a:solidFill>
              <a:srgbClr val="1B2433"/>
            </a:solidFill>
            <a:prstDash val="dash"/>
            <a:round/>
            <a:headEnd type="none" w="sm" len="sm"/>
            <a:tailEnd type="none" w="sm" len="sm"/>
          </a:ln>
        </p:spPr>
      </p:cxnSp>
      <p:sp>
        <p:nvSpPr>
          <p:cNvPr id="171" name="Google Shape;171;p6"/>
          <p:cNvSpPr/>
          <p:nvPr/>
        </p:nvSpPr>
        <p:spPr>
          <a:xfrm>
            <a:off x="8896350" y="3455882"/>
            <a:ext cx="1447800"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0,95 danh nghĩa</a:t>
            </a:r>
            <a:endParaRPr sz="1200" b="0" i="0" u="none" strike="noStrike" cap="none">
              <a:solidFill>
                <a:schemeClr val="dk1"/>
              </a:solidFill>
              <a:latin typeface="Arial"/>
              <a:ea typeface="Arial"/>
              <a:cs typeface="Arial"/>
              <a:sym typeface="Arial"/>
            </a:endParaRPr>
          </a:p>
        </p:txBody>
      </p:sp>
      <p:sp>
        <p:nvSpPr>
          <p:cNvPr id="172" name="Google Shape;172;p6"/>
          <p:cNvSpPr/>
          <p:nvPr/>
        </p:nvSpPr>
        <p:spPr>
          <a:xfrm>
            <a:off x="9620250" y="3811482"/>
            <a:ext cx="927100" cy="228600"/>
          </a:xfrm>
          <a:prstGeom prst="roundRect">
            <a:avLst>
              <a:gd name="adj" fmla="val 11111"/>
            </a:avLst>
          </a:prstGeom>
          <a:solidFill>
            <a:srgbClr val="2A6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p:nvPr/>
        </p:nvSpPr>
        <p:spPr>
          <a:xfrm>
            <a:off x="9620250" y="4446482"/>
            <a:ext cx="927100" cy="228600"/>
          </a:xfrm>
          <a:prstGeom prst="roundRect">
            <a:avLst>
              <a:gd name="adj" fmla="val 11111"/>
            </a:avLst>
          </a:prstGeom>
          <a:solidFill>
            <a:srgbClr val="2A6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4" name="Google Shape;174;p6" descr="connector"/>
          <p:cNvPicPr preferRelativeResize="0"/>
          <p:nvPr/>
        </p:nvPicPr>
        <p:blipFill rotWithShape="1">
          <a:blip r:embed="rId4">
            <a:alphaModFix/>
          </a:blip>
          <a:srcRect/>
          <a:stretch/>
        </p:blipFill>
        <p:spPr>
          <a:xfrm>
            <a:off x="5048250" y="3874982"/>
            <a:ext cx="4578350" cy="101600"/>
          </a:xfrm>
          <a:prstGeom prst="rect">
            <a:avLst/>
          </a:prstGeom>
          <a:noFill/>
          <a:ln>
            <a:noFill/>
          </a:ln>
        </p:spPr>
      </p:pic>
      <p:pic>
        <p:nvPicPr>
          <p:cNvPr id="175" name="Google Shape;175;p6" descr="ellipse"/>
          <p:cNvPicPr preferRelativeResize="0"/>
          <p:nvPr/>
        </p:nvPicPr>
        <p:blipFill rotWithShape="1">
          <a:blip r:embed="rId5">
            <a:alphaModFix/>
          </a:blip>
          <a:srcRect/>
          <a:stretch/>
        </p:blipFill>
        <p:spPr>
          <a:xfrm>
            <a:off x="4857750" y="3824182"/>
            <a:ext cx="203200" cy="203200"/>
          </a:xfrm>
          <a:prstGeom prst="rect">
            <a:avLst/>
          </a:prstGeom>
          <a:noFill/>
          <a:ln>
            <a:noFill/>
          </a:ln>
        </p:spPr>
      </p:pic>
      <p:pic>
        <p:nvPicPr>
          <p:cNvPr id="176" name="Google Shape;176;p6" descr="ellipse"/>
          <p:cNvPicPr preferRelativeResize="0"/>
          <p:nvPr/>
        </p:nvPicPr>
        <p:blipFill rotWithShape="1">
          <a:blip r:embed="rId5">
            <a:alphaModFix/>
          </a:blip>
          <a:srcRect/>
          <a:stretch/>
        </p:blipFill>
        <p:spPr>
          <a:xfrm>
            <a:off x="10217150" y="4459182"/>
            <a:ext cx="203200" cy="203200"/>
          </a:xfrm>
          <a:prstGeom prst="rect">
            <a:avLst/>
          </a:prstGeom>
          <a:noFill/>
          <a:ln>
            <a:noFill/>
          </a:ln>
        </p:spPr>
      </p:pic>
      <p:sp>
        <p:nvSpPr>
          <p:cNvPr id="177" name="Google Shape;177;p6"/>
          <p:cNvSpPr/>
          <p:nvPr/>
        </p:nvSpPr>
        <p:spPr>
          <a:xfrm>
            <a:off x="4362450" y="3544782"/>
            <a:ext cx="1193800" cy="27432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 0,75</a:t>
            </a:r>
            <a:endParaRPr sz="1400" b="0" i="0" u="none" strike="noStrike" cap="none">
              <a:solidFill>
                <a:schemeClr val="dk1"/>
              </a:solidFill>
              <a:latin typeface="Arial"/>
              <a:ea typeface="Arial"/>
              <a:cs typeface="Arial"/>
              <a:sym typeface="Arial"/>
            </a:endParaRPr>
          </a:p>
        </p:txBody>
      </p:sp>
      <p:sp>
        <p:nvSpPr>
          <p:cNvPr id="178" name="Google Shape;178;p6"/>
          <p:cNvSpPr/>
          <p:nvPr/>
        </p:nvSpPr>
        <p:spPr>
          <a:xfrm>
            <a:off x="9969500" y="4725882"/>
            <a:ext cx="939800" cy="27432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 0,98</a:t>
            </a:r>
            <a:endParaRPr sz="1400" b="0" i="0" u="none" strike="noStrike" cap="none">
              <a:solidFill>
                <a:schemeClr val="dk1"/>
              </a:solidFill>
              <a:latin typeface="Arial"/>
              <a:ea typeface="Arial"/>
              <a:cs typeface="Arial"/>
              <a:sym typeface="Arial"/>
            </a:endParaRPr>
          </a:p>
        </p:txBody>
      </p:sp>
      <p:sp>
        <p:nvSpPr>
          <p:cNvPr id="179" name="Google Shape;179;p6"/>
          <p:cNvSpPr/>
          <p:nvPr/>
        </p:nvSpPr>
        <p:spPr>
          <a:xfrm>
            <a:off x="812800" y="3709882"/>
            <a:ext cx="2812415"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Chronos-Bolt, Moirai-2</a:t>
            </a:r>
            <a:endParaRPr sz="1400" b="0" i="0" u="none" strike="noStrike" cap="none">
              <a:solidFill>
                <a:schemeClr val="dk1"/>
              </a:solidFill>
              <a:latin typeface="Arial"/>
              <a:ea typeface="Arial"/>
              <a:cs typeface="Arial"/>
              <a:sym typeface="Arial"/>
            </a:endParaRPr>
          </a:p>
        </p:txBody>
      </p:sp>
      <p:sp>
        <p:nvSpPr>
          <p:cNvPr id="180" name="Google Shape;180;p6"/>
          <p:cNvSpPr/>
          <p:nvPr/>
        </p:nvSpPr>
        <p:spPr>
          <a:xfrm>
            <a:off x="812800" y="3963882"/>
            <a:ext cx="2812415"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phân vị gốc, thiếu phủ đuôi</a:t>
            </a:r>
            <a:endParaRPr sz="1200" b="0" i="0" u="none" strike="noStrike" cap="none">
              <a:solidFill>
                <a:schemeClr val="dk1"/>
              </a:solidFill>
              <a:latin typeface="Arial"/>
              <a:ea typeface="Arial"/>
              <a:cs typeface="Arial"/>
              <a:sym typeface="Arial"/>
            </a:endParaRPr>
          </a:p>
        </p:txBody>
      </p:sp>
      <p:sp>
        <p:nvSpPr>
          <p:cNvPr id="181" name="Google Shape;181;p6"/>
          <p:cNvSpPr/>
          <p:nvPr/>
        </p:nvSpPr>
        <p:spPr>
          <a:xfrm>
            <a:off x="812800" y="4344882"/>
            <a:ext cx="2812415"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Croston, SBA, TSB</a:t>
            </a:r>
            <a:endParaRPr sz="1400" b="0" i="0" u="none" strike="noStrike" cap="none">
              <a:solidFill>
                <a:schemeClr val="dk1"/>
              </a:solidFill>
              <a:latin typeface="Arial"/>
              <a:ea typeface="Arial"/>
              <a:cs typeface="Arial"/>
              <a:sym typeface="Arial"/>
            </a:endParaRPr>
          </a:p>
        </p:txBody>
      </p:sp>
      <p:sp>
        <p:nvSpPr>
          <p:cNvPr id="182" name="Google Shape;182;p6"/>
          <p:cNvSpPr/>
          <p:nvPr/>
        </p:nvSpPr>
        <p:spPr>
          <a:xfrm>
            <a:off x="812800" y="4598882"/>
            <a:ext cx="2812415"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bọc Negative Binomial, hơi thừa phủ</a:t>
            </a:r>
            <a:endParaRPr sz="1200" b="0" i="0" u="none" strike="noStrike" cap="none">
              <a:solidFill>
                <a:schemeClr val="dk1"/>
              </a:solidFill>
              <a:latin typeface="Arial"/>
              <a:ea typeface="Arial"/>
              <a:cs typeface="Arial"/>
              <a:sym typeface="Arial"/>
            </a:endParaRPr>
          </a:p>
        </p:txBody>
      </p:sp>
      <p:sp>
        <p:nvSpPr>
          <p:cNvPr id="183" name="Google Shape;183;p6"/>
          <p:cNvSpPr/>
          <p:nvPr/>
        </p:nvSpPr>
        <p:spPr>
          <a:xfrm>
            <a:off x="3797300" y="5043382"/>
            <a:ext cx="6985000" cy="12700"/>
          </a:xfrm>
          <a:prstGeom prst="rect">
            <a:avLst/>
          </a:prstGeom>
          <a:solidFill>
            <a:srgbClr val="8A9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p:nvPr/>
        </p:nvSpPr>
        <p:spPr>
          <a:xfrm>
            <a:off x="3454400" y="5094182"/>
            <a:ext cx="685800"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0,70</a:t>
            </a:r>
            <a:endParaRPr sz="1200" b="0" i="0" u="none" strike="noStrike" cap="none">
              <a:solidFill>
                <a:schemeClr val="dk1"/>
              </a:solidFill>
              <a:latin typeface="Arial"/>
              <a:ea typeface="Arial"/>
              <a:cs typeface="Arial"/>
              <a:sym typeface="Arial"/>
            </a:endParaRPr>
          </a:p>
        </p:txBody>
      </p:sp>
      <p:sp>
        <p:nvSpPr>
          <p:cNvPr id="185" name="Google Shape;185;p6"/>
          <p:cNvSpPr/>
          <p:nvPr/>
        </p:nvSpPr>
        <p:spPr>
          <a:xfrm>
            <a:off x="5784850" y="5094182"/>
            <a:ext cx="685800"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0,80</a:t>
            </a:r>
            <a:endParaRPr sz="1200" b="0" i="0" u="none" strike="noStrike" cap="none">
              <a:solidFill>
                <a:schemeClr val="dk1"/>
              </a:solidFill>
              <a:latin typeface="Arial"/>
              <a:ea typeface="Arial"/>
              <a:cs typeface="Arial"/>
              <a:sym typeface="Arial"/>
            </a:endParaRPr>
          </a:p>
        </p:txBody>
      </p:sp>
      <p:sp>
        <p:nvSpPr>
          <p:cNvPr id="186" name="Google Shape;186;p6"/>
          <p:cNvSpPr/>
          <p:nvPr/>
        </p:nvSpPr>
        <p:spPr>
          <a:xfrm>
            <a:off x="8108950" y="5094182"/>
            <a:ext cx="685800"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0,90</a:t>
            </a:r>
            <a:endParaRPr sz="1200" b="0" i="0" u="none" strike="noStrike" cap="none">
              <a:solidFill>
                <a:schemeClr val="dk1"/>
              </a:solidFill>
              <a:latin typeface="Arial"/>
              <a:ea typeface="Arial"/>
              <a:cs typeface="Arial"/>
              <a:sym typeface="Arial"/>
            </a:endParaRPr>
          </a:p>
        </p:txBody>
      </p:sp>
      <p:sp>
        <p:nvSpPr>
          <p:cNvPr id="187" name="Google Shape;187;p6"/>
          <p:cNvSpPr/>
          <p:nvPr/>
        </p:nvSpPr>
        <p:spPr>
          <a:xfrm>
            <a:off x="9277350" y="5094182"/>
            <a:ext cx="685800"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0,95</a:t>
            </a:r>
            <a:endParaRPr sz="1200" b="0" i="0" u="none" strike="noStrike" cap="none">
              <a:solidFill>
                <a:schemeClr val="dk1"/>
              </a:solidFill>
              <a:latin typeface="Arial"/>
              <a:ea typeface="Arial"/>
              <a:cs typeface="Arial"/>
              <a:sym typeface="Arial"/>
            </a:endParaRPr>
          </a:p>
        </p:txBody>
      </p:sp>
      <p:sp>
        <p:nvSpPr>
          <p:cNvPr id="188" name="Google Shape;188;p6"/>
          <p:cNvSpPr/>
          <p:nvPr/>
        </p:nvSpPr>
        <p:spPr>
          <a:xfrm>
            <a:off x="10439400" y="5094182"/>
            <a:ext cx="685800"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1,00</a:t>
            </a:r>
            <a:endParaRPr sz="1200" b="0" i="0" u="none" strike="noStrike" cap="none">
              <a:solidFill>
                <a:schemeClr val="dk1"/>
              </a:solidFill>
              <a:latin typeface="Arial"/>
              <a:ea typeface="Arial"/>
              <a:cs typeface="Arial"/>
              <a:sym typeface="Arial"/>
            </a:endParaRPr>
          </a:p>
        </p:txBody>
      </p:sp>
      <p:pic>
        <p:nvPicPr>
          <p:cNvPr id="189" name="Google Shape;189;p6" descr="ellipse"/>
          <p:cNvPicPr preferRelativeResize="0"/>
          <p:nvPr/>
        </p:nvPicPr>
        <p:blipFill rotWithShape="1">
          <a:blip r:embed="rId6">
            <a:alphaModFix/>
          </a:blip>
          <a:srcRect/>
          <a:stretch/>
        </p:blipFill>
        <p:spPr>
          <a:xfrm>
            <a:off x="812800" y="5492961"/>
            <a:ext cx="152400" cy="152400"/>
          </a:xfrm>
          <a:prstGeom prst="rect">
            <a:avLst/>
          </a:prstGeom>
          <a:noFill/>
          <a:ln>
            <a:noFill/>
          </a:ln>
        </p:spPr>
      </p:pic>
      <p:sp>
        <p:nvSpPr>
          <p:cNvPr id="190" name="Google Shape;190;p6"/>
          <p:cNvSpPr/>
          <p:nvPr/>
        </p:nvSpPr>
        <p:spPr>
          <a:xfrm>
            <a:off x="1028700" y="5462482"/>
            <a:ext cx="1445387"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Trước hiệu chuẩn</a:t>
            </a:r>
            <a:endParaRPr sz="1200" b="0" i="0" u="none" strike="noStrike" cap="none">
              <a:solidFill>
                <a:schemeClr val="dk1"/>
              </a:solidFill>
              <a:latin typeface="Arial"/>
              <a:ea typeface="Arial"/>
              <a:cs typeface="Arial"/>
              <a:sym typeface="Arial"/>
            </a:endParaRPr>
          </a:p>
        </p:txBody>
      </p:sp>
      <p:sp>
        <p:nvSpPr>
          <p:cNvPr id="191" name="Google Shape;191;p6"/>
          <p:cNvSpPr/>
          <p:nvPr/>
        </p:nvSpPr>
        <p:spPr>
          <a:xfrm>
            <a:off x="2487189" y="5492961"/>
            <a:ext cx="254000" cy="152400"/>
          </a:xfrm>
          <a:prstGeom prst="roundRect">
            <a:avLst>
              <a:gd name="adj" fmla="val 16667"/>
            </a:avLst>
          </a:prstGeom>
          <a:solidFill>
            <a:srgbClr val="2A6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a:off x="2804689" y="5462482"/>
            <a:ext cx="414348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Sau hiệu chuẩn: mọi mô hình trong khoảng 0,95 đến 0,99</a:t>
            </a:r>
            <a:endParaRPr sz="1200" b="0" i="0" u="none" strike="noStrike" cap="none">
              <a:solidFill>
                <a:schemeClr val="dk1"/>
              </a:solidFill>
              <a:latin typeface="Arial"/>
              <a:ea typeface="Arial"/>
              <a:cs typeface="Arial"/>
              <a:sym typeface="Arial"/>
            </a:endParaRPr>
          </a:p>
        </p:txBody>
      </p:sp>
      <p:sp>
        <p:nvSpPr>
          <p:cNvPr id="193" name="Google Shape;193;p6"/>
          <p:cNvSpPr/>
          <p:nvPr/>
        </p:nvSpPr>
        <p:spPr>
          <a:xfrm>
            <a:off x="6948170" y="5462482"/>
            <a:ext cx="1016381"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Giá trị xấp xỉ</a:t>
            </a:r>
            <a:endParaRPr sz="1200" b="0" i="0" u="none" strike="noStrike" cap="none">
              <a:solidFill>
                <a:schemeClr val="dk1"/>
              </a:solidFill>
              <a:latin typeface="Arial"/>
              <a:ea typeface="Arial"/>
              <a:cs typeface="Arial"/>
              <a:sym typeface="Arial"/>
            </a:endParaRPr>
          </a:p>
        </p:txBody>
      </p:sp>
      <p:sp>
        <p:nvSpPr>
          <p:cNvPr id="194" name="Google Shape;194;p6"/>
          <p:cNvSpPr/>
          <p:nvPr/>
        </p:nvSpPr>
        <p:spPr>
          <a:xfrm>
            <a:off x="812800" y="6238239"/>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195" name="Google Shape;195;p6"/>
          <p:cNvSpPr/>
          <p:nvPr/>
        </p:nvSpPr>
        <p:spPr>
          <a:xfrm>
            <a:off x="11243628" y="6238239"/>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6</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BE3"/>
        </a:solidFill>
        <a:effectLst/>
      </p:bgPr>
    </p:bg>
    <p:spTree>
      <p:nvGrpSpPr>
        <p:cNvPr id="1" name="Shape 200"/>
        <p:cNvGrpSpPr/>
        <p:nvPr/>
      </p:nvGrpSpPr>
      <p:grpSpPr>
        <a:xfrm>
          <a:off x="0" y="0"/>
          <a:ext cx="0" cy="0"/>
          <a:chOff x="0" y="0"/>
          <a:chExt cx="0" cy="0"/>
        </a:xfrm>
      </p:grpSpPr>
      <p:sp>
        <p:nvSpPr>
          <p:cNvPr id="201" name="Google Shape;201;p7"/>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PHƯƠNG PHÁP</a:t>
            </a:r>
            <a:endParaRPr sz="1200" b="0" i="0" u="none" strike="noStrike" cap="none">
              <a:solidFill>
                <a:schemeClr val="dk1"/>
              </a:solidFill>
              <a:latin typeface="Arial"/>
              <a:ea typeface="Arial"/>
              <a:cs typeface="Arial"/>
              <a:sym typeface="Arial"/>
            </a:endParaRPr>
          </a:p>
        </p:txBody>
      </p:sp>
      <p:sp>
        <p:nvSpPr>
          <p:cNvPr id="202" name="Google Shape;202;p7"/>
          <p:cNvSpPr txBox="1">
            <a:spLocks noGrp="1"/>
          </p:cNvSpPr>
          <p:nvPr>
            <p:ph type="title"/>
          </p:nvPr>
        </p:nvSpPr>
        <p:spPr>
          <a:xfrm>
            <a:off x="812800" y="1102361"/>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Chấm điểm và luật xác định mô hình </a:t>
            </a:r>
            <a:r>
              <a:rPr lang="en-US" b="1"/>
              <a:t>tốt nhất</a:t>
            </a:r>
            <a:endParaRPr sz="2800"/>
          </a:p>
        </p:txBody>
      </p:sp>
      <p:sp>
        <p:nvSpPr>
          <p:cNvPr id="203" name="Google Shape;203;p7"/>
          <p:cNvSpPr/>
          <p:nvPr/>
        </p:nvSpPr>
        <p:spPr>
          <a:xfrm>
            <a:off x="815975" y="1768475"/>
            <a:ext cx="5200650" cy="1074632"/>
          </a:xfrm>
          <a:prstGeom prst="roundRect">
            <a:avLst>
              <a:gd name="adj" fmla="val 9159"/>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1023091" y="1924791"/>
            <a:ext cx="4930011"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Chấm điểm</a:t>
            </a:r>
            <a:endParaRPr sz="1200" b="0" i="0" u="none" strike="noStrike" cap="none">
              <a:solidFill>
                <a:schemeClr val="dk1"/>
              </a:solidFill>
              <a:latin typeface="Arial"/>
              <a:ea typeface="Arial"/>
              <a:cs typeface="Arial"/>
              <a:sym typeface="Arial"/>
            </a:endParaRPr>
          </a:p>
        </p:txBody>
      </p:sp>
      <p:sp>
        <p:nvSpPr>
          <p:cNvPr id="205" name="Google Shape;205;p7"/>
          <p:cNvSpPr/>
          <p:nvPr/>
        </p:nvSpPr>
        <p:spPr>
          <a:xfrm>
            <a:off x="1023091" y="2188952"/>
            <a:ext cx="4930011" cy="52324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WSPL: pinball loss trung bình trên 9 phân vị, có trọng số theo doanh thu</a:t>
            </a:r>
            <a:endParaRPr sz="1400" b="0" i="0" u="none" strike="noStrike" cap="none">
              <a:solidFill>
                <a:schemeClr val="dk1"/>
              </a:solidFill>
              <a:latin typeface="Arial"/>
              <a:ea typeface="Arial"/>
              <a:cs typeface="Arial"/>
              <a:sym typeface="Arial"/>
            </a:endParaRPr>
          </a:p>
        </p:txBody>
      </p:sp>
      <p:pic>
        <p:nvPicPr>
          <p:cNvPr id="206" name="Google Shape;206;p7" descr="arrow-down"/>
          <p:cNvPicPr preferRelativeResize="0"/>
          <p:nvPr/>
        </p:nvPicPr>
        <p:blipFill rotWithShape="1">
          <a:blip r:embed="rId3">
            <a:alphaModFix/>
          </a:blip>
          <a:srcRect/>
          <a:stretch/>
        </p:blipFill>
        <p:spPr>
          <a:xfrm>
            <a:off x="3340100" y="2897082"/>
            <a:ext cx="152400" cy="203200"/>
          </a:xfrm>
          <a:prstGeom prst="rect">
            <a:avLst/>
          </a:prstGeom>
          <a:noFill/>
          <a:ln>
            <a:noFill/>
          </a:ln>
        </p:spPr>
      </p:pic>
      <p:sp>
        <p:nvSpPr>
          <p:cNvPr id="207" name="Google Shape;207;p7"/>
          <p:cNvSpPr/>
          <p:nvPr/>
        </p:nvSpPr>
        <p:spPr>
          <a:xfrm>
            <a:off x="815975" y="3154257"/>
            <a:ext cx="5200650" cy="1074632"/>
          </a:xfrm>
          <a:prstGeom prst="roundRect">
            <a:avLst>
              <a:gd name="adj" fmla="val 9159"/>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023091" y="3310573"/>
            <a:ext cx="4930011"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Kiểm định</a:t>
            </a:r>
            <a:endParaRPr sz="1200" b="0" i="0" u="none" strike="noStrike" cap="none">
              <a:solidFill>
                <a:schemeClr val="dk1"/>
              </a:solidFill>
              <a:latin typeface="Arial"/>
              <a:ea typeface="Arial"/>
              <a:cs typeface="Arial"/>
              <a:sym typeface="Arial"/>
            </a:endParaRPr>
          </a:p>
        </p:txBody>
      </p:sp>
      <p:sp>
        <p:nvSpPr>
          <p:cNvPr id="209" name="Google Shape;209;p7"/>
          <p:cNvSpPr/>
          <p:nvPr/>
        </p:nvSpPr>
        <p:spPr>
          <a:xfrm>
            <a:off x="1023091" y="3574734"/>
            <a:ext cx="4930011" cy="52324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Diebold–Mariano so từng mô hình với mô hình tốt nhất, gom cụm theo chuỗi, hiệu chỉnh Holm</a:t>
            </a:r>
            <a:endParaRPr sz="1400" b="0" i="0" u="none" strike="noStrike" cap="none">
              <a:solidFill>
                <a:schemeClr val="dk1"/>
              </a:solidFill>
              <a:latin typeface="Arial"/>
              <a:ea typeface="Arial"/>
              <a:cs typeface="Arial"/>
              <a:sym typeface="Arial"/>
            </a:endParaRPr>
          </a:p>
        </p:txBody>
      </p:sp>
      <p:pic>
        <p:nvPicPr>
          <p:cNvPr id="210" name="Google Shape;210;p7" descr="arrow-down"/>
          <p:cNvPicPr preferRelativeResize="0"/>
          <p:nvPr/>
        </p:nvPicPr>
        <p:blipFill rotWithShape="1">
          <a:blip r:embed="rId3">
            <a:alphaModFix/>
          </a:blip>
          <a:srcRect/>
          <a:stretch/>
        </p:blipFill>
        <p:spPr>
          <a:xfrm>
            <a:off x="3340100" y="4282864"/>
            <a:ext cx="152400" cy="203200"/>
          </a:xfrm>
          <a:prstGeom prst="rect">
            <a:avLst/>
          </a:prstGeom>
          <a:noFill/>
          <a:ln>
            <a:noFill/>
          </a:ln>
        </p:spPr>
      </p:pic>
      <p:sp>
        <p:nvSpPr>
          <p:cNvPr id="211" name="Google Shape;211;p7"/>
          <p:cNvSpPr/>
          <p:nvPr/>
        </p:nvSpPr>
        <p:spPr>
          <a:xfrm>
            <a:off x="815975" y="4540039"/>
            <a:ext cx="5200650" cy="1074632"/>
          </a:xfrm>
          <a:prstGeom prst="roundRect">
            <a:avLst>
              <a:gd name="adj" fmla="val 9159"/>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1023091" y="4696355"/>
            <a:ext cx="4930011"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Loại</a:t>
            </a:r>
            <a:endParaRPr sz="1200" b="0" i="0" u="none" strike="noStrike" cap="none">
              <a:solidFill>
                <a:schemeClr val="dk1"/>
              </a:solidFill>
              <a:latin typeface="Arial"/>
              <a:ea typeface="Arial"/>
              <a:cs typeface="Arial"/>
              <a:sym typeface="Arial"/>
            </a:endParaRPr>
          </a:p>
        </p:txBody>
      </p:sp>
      <p:sp>
        <p:nvSpPr>
          <p:cNvPr id="213" name="Google Shape;213;p7"/>
          <p:cNvSpPr/>
          <p:nvPr/>
        </p:nvSpPr>
        <p:spPr>
          <a:xfrm>
            <a:off x="1023091" y="4960513"/>
            <a:ext cx="4930011" cy="52324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Một mô hình thua rõ khi p sau hiệu chỉnh &lt; 0,05 và thua ở cả 3 cửa sổ</a:t>
            </a:r>
            <a:endParaRPr sz="1400" b="0" i="0" u="none" strike="noStrike" cap="none">
              <a:solidFill>
                <a:schemeClr val="dk1"/>
              </a:solidFill>
              <a:latin typeface="Arial"/>
              <a:ea typeface="Arial"/>
              <a:cs typeface="Arial"/>
              <a:sym typeface="Arial"/>
            </a:endParaRPr>
          </a:p>
        </p:txBody>
      </p:sp>
      <p:sp>
        <p:nvSpPr>
          <p:cNvPr id="214" name="Google Shape;214;p7"/>
          <p:cNvSpPr/>
          <p:nvPr/>
        </p:nvSpPr>
        <p:spPr>
          <a:xfrm>
            <a:off x="6432550" y="1771650"/>
            <a:ext cx="2413000" cy="997162"/>
          </a:xfrm>
          <a:prstGeom prst="roundRect">
            <a:avLst>
              <a:gd name="adj" fmla="val 9552"/>
            </a:avLst>
          </a:prstGeom>
          <a:solidFill>
            <a:srgbClr val="F6E3D4"/>
          </a:solidFill>
          <a:ln w="12700" cap="flat" cmpd="sng">
            <a:solidFill>
              <a:srgbClr val="C866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6611091" y="1924791"/>
            <a:ext cx="2117596"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A9521F"/>
              </a:buClr>
              <a:buSzPts val="1200"/>
              <a:buFont typeface="Arial"/>
              <a:buNone/>
            </a:pPr>
            <a:r>
              <a:rPr lang="en-US" sz="1200" b="1" i="0" u="none" strike="noStrike" cap="none">
                <a:solidFill>
                  <a:srgbClr val="A9521F"/>
                </a:solidFill>
                <a:latin typeface="Arial"/>
                <a:ea typeface="Arial"/>
                <a:cs typeface="Arial"/>
                <a:sym typeface="Arial"/>
              </a:rPr>
              <a:t>T</a:t>
            </a:r>
            <a:r>
              <a:rPr lang="en-US" sz="1200" b="1">
                <a:solidFill>
                  <a:srgbClr val="A9521F"/>
                </a:solidFill>
              </a:rPr>
              <a:t>ốt nhất</a:t>
            </a:r>
            <a:endParaRPr sz="1200" b="0" i="0" u="none" strike="noStrike" cap="none">
              <a:solidFill>
                <a:schemeClr val="dk1"/>
              </a:solidFill>
              <a:latin typeface="Arial"/>
              <a:ea typeface="Arial"/>
              <a:cs typeface="Arial"/>
              <a:sym typeface="Arial"/>
            </a:endParaRPr>
          </a:p>
        </p:txBody>
      </p:sp>
      <p:sp>
        <p:nvSpPr>
          <p:cNvPr id="216" name="Google Shape;216;p7"/>
          <p:cNvSpPr/>
          <p:nvPr/>
        </p:nvSpPr>
        <p:spPr>
          <a:xfrm>
            <a:off x="6611091" y="2188952"/>
            <a:ext cx="2117596"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Chỉ còn lại mô hình tốt nhất</a:t>
            </a:r>
            <a:endParaRPr sz="1200" b="0" i="0" u="none" strike="noStrike" cap="none">
              <a:solidFill>
                <a:schemeClr val="dk1"/>
              </a:solidFill>
              <a:latin typeface="Arial"/>
              <a:ea typeface="Arial"/>
              <a:cs typeface="Arial"/>
              <a:sym typeface="Arial"/>
            </a:endParaRPr>
          </a:p>
        </p:txBody>
      </p:sp>
      <p:sp>
        <p:nvSpPr>
          <p:cNvPr id="217" name="Google Shape;217;p7"/>
          <p:cNvSpPr/>
          <p:nvPr/>
        </p:nvSpPr>
        <p:spPr>
          <a:xfrm>
            <a:off x="8959850" y="1771650"/>
            <a:ext cx="2413000" cy="997162"/>
          </a:xfrm>
          <a:prstGeom prst="roundRect">
            <a:avLst>
              <a:gd name="adj" fmla="val 9552"/>
            </a:avLst>
          </a:prstGeom>
          <a:solidFill>
            <a:srgbClr val="DCE5EE"/>
          </a:solidFill>
          <a:ln w="12700" cap="flat" cmpd="sng">
            <a:solidFill>
              <a:srgbClr val="2A62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9138391" y="1924791"/>
            <a:ext cx="2117596"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4496F"/>
              </a:buClr>
              <a:buSzPts val="1200"/>
              <a:buFont typeface="Arial"/>
              <a:buNone/>
            </a:pPr>
            <a:r>
              <a:rPr lang="en-US" sz="1200" b="1" i="0" u="none" strike="noStrike" cap="none">
                <a:solidFill>
                  <a:srgbClr val="24496F"/>
                </a:solidFill>
                <a:latin typeface="Arial"/>
                <a:ea typeface="Arial"/>
                <a:cs typeface="Arial"/>
                <a:sym typeface="Arial"/>
              </a:rPr>
              <a:t>Tương đương</a:t>
            </a:r>
            <a:endParaRPr sz="1200" b="0" i="0" u="none" strike="noStrike" cap="none">
              <a:solidFill>
                <a:schemeClr val="dk1"/>
              </a:solidFill>
              <a:latin typeface="Arial"/>
              <a:ea typeface="Arial"/>
              <a:cs typeface="Arial"/>
              <a:sym typeface="Arial"/>
            </a:endParaRPr>
          </a:p>
        </p:txBody>
      </p:sp>
      <p:sp>
        <p:nvSpPr>
          <p:cNvPr id="219" name="Google Shape;219;p7"/>
          <p:cNvSpPr/>
          <p:nvPr/>
        </p:nvSpPr>
        <p:spPr>
          <a:xfrm>
            <a:off x="9138391" y="2188952"/>
            <a:ext cx="2117596"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Còn mô hình ngang hàng, chọn mô hình rẻ nhất</a:t>
            </a:r>
            <a:endParaRPr sz="1200" b="0" i="0" u="none" strike="noStrike" cap="none">
              <a:solidFill>
                <a:schemeClr val="dk1"/>
              </a:solidFill>
              <a:latin typeface="Arial"/>
              <a:ea typeface="Arial"/>
              <a:cs typeface="Arial"/>
              <a:sym typeface="Arial"/>
            </a:endParaRPr>
          </a:p>
        </p:txBody>
      </p:sp>
      <p:sp>
        <p:nvSpPr>
          <p:cNvPr id="220" name="Google Shape;220;p7"/>
          <p:cNvSpPr/>
          <p:nvPr/>
        </p:nvSpPr>
        <p:spPr>
          <a:xfrm>
            <a:off x="6429375" y="2930736"/>
            <a:ext cx="4946650" cy="1770592"/>
          </a:xfrm>
          <a:prstGeom prst="roundRect">
            <a:avLst>
              <a:gd name="adj" fmla="val 5559"/>
            </a:avLst>
          </a:prstGeom>
          <a:solidFill>
            <a:srgbClr val="F8F6F1"/>
          </a:solidFill>
          <a:ln w="9525" cap="flat" cmpd="sng">
            <a:solidFill>
              <a:srgbClr val="D6D1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6636491" y="3112452"/>
            <a:ext cx="4668391"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Vì sao đặt luật như vậy</a:t>
            </a:r>
            <a:endParaRPr sz="1400" b="0" i="0" u="none" strike="noStrike" cap="none">
              <a:solidFill>
                <a:schemeClr val="dk1"/>
              </a:solidFill>
              <a:latin typeface="Arial"/>
              <a:ea typeface="Arial"/>
              <a:cs typeface="Arial"/>
              <a:sym typeface="Arial"/>
            </a:endParaRPr>
          </a:p>
        </p:txBody>
      </p:sp>
      <p:sp>
        <p:nvSpPr>
          <p:cNvPr id="222" name="Google Shape;222;p7"/>
          <p:cNvSpPr/>
          <p:nvPr/>
        </p:nvSpPr>
        <p:spPr>
          <a:xfrm>
            <a:off x="6636538" y="3640899"/>
            <a:ext cx="4668300" cy="27420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Hai điều kiện độc lập nhau, tránh kết luận nhờ một cửa sổ may mắn.</a:t>
            </a:r>
            <a:endParaRPr sz="1200" b="0" i="0" u="none" strike="noStrike" cap="none">
              <a:solidFill>
                <a:schemeClr val="dk1"/>
              </a:solidFill>
              <a:latin typeface="Arial"/>
              <a:ea typeface="Arial"/>
              <a:cs typeface="Arial"/>
              <a:sym typeface="Arial"/>
            </a:endParaRPr>
          </a:p>
        </p:txBody>
      </p:sp>
      <p:sp>
        <p:nvSpPr>
          <p:cNvPr id="223" name="Google Shape;223;p7"/>
          <p:cNvSpPr/>
          <p:nvPr/>
        </p:nvSpPr>
        <p:spPr>
          <a:xfrm>
            <a:off x="6636491" y="3991291"/>
            <a:ext cx="4668391"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Chỉ gọi là thắng khi không còn mô hình nào ngang hàng.</a:t>
            </a:r>
            <a:endParaRPr sz="1200" b="0" i="0" u="none" strike="noStrike" cap="none">
              <a:solidFill>
                <a:schemeClr val="dk1"/>
              </a:solidFill>
              <a:latin typeface="Arial"/>
              <a:ea typeface="Arial"/>
              <a:cs typeface="Arial"/>
              <a:sym typeface="Arial"/>
            </a:endParaRPr>
          </a:p>
        </p:txBody>
      </p:sp>
      <p:sp>
        <p:nvSpPr>
          <p:cNvPr id="224" name="Google Shape;224;p7"/>
          <p:cNvSpPr/>
          <p:nvPr/>
        </p:nvSpPr>
        <p:spPr>
          <a:xfrm>
            <a:off x="6636491" y="4306252"/>
            <a:ext cx="4668391"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Khi kết quả ngang nhau, mô hình rẻ hơn dễ vận hành hơn.</a:t>
            </a:r>
            <a:endParaRPr sz="1200" b="0" i="0" u="none" strike="noStrike" cap="none">
              <a:solidFill>
                <a:schemeClr val="dk1"/>
              </a:solidFill>
              <a:latin typeface="Arial"/>
              <a:ea typeface="Arial"/>
              <a:cs typeface="Arial"/>
              <a:sym typeface="Arial"/>
            </a:endParaRPr>
          </a:p>
        </p:txBody>
      </p:sp>
      <p:sp>
        <p:nvSpPr>
          <p:cNvPr id="225" name="Google Shape;225;p7"/>
          <p:cNvSpPr/>
          <p:nvPr/>
        </p:nvSpPr>
        <p:spPr>
          <a:xfrm>
            <a:off x="812800" y="6238239"/>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226" name="Google Shape;226;p7"/>
          <p:cNvSpPr/>
          <p:nvPr/>
        </p:nvSpPr>
        <p:spPr>
          <a:xfrm>
            <a:off x="11243628" y="6238239"/>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7</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Shape 231"/>
        <p:cNvGrpSpPr/>
        <p:nvPr/>
      </p:nvGrpSpPr>
      <p:grpSpPr>
        <a:xfrm>
          <a:off x="0" y="0"/>
          <a:ext cx="0" cy="0"/>
          <a:chOff x="0" y="0"/>
          <a:chExt cx="0" cy="0"/>
        </a:xfrm>
      </p:grpSpPr>
      <p:sp>
        <p:nvSpPr>
          <p:cNvPr id="232" name="Google Shape;232;p8"/>
          <p:cNvSpPr/>
          <p:nvPr/>
        </p:nvSpPr>
        <p:spPr>
          <a:xfrm>
            <a:off x="812800" y="812800"/>
            <a:ext cx="10883392" cy="237913"/>
          </a:xfrm>
          <a:prstGeom prst="rect">
            <a:avLst/>
          </a:prstGeom>
          <a:noFill/>
          <a:ln>
            <a:noFill/>
          </a:ln>
        </p:spPr>
        <p:txBody>
          <a:bodyPr spcFirstLastPara="1" wrap="square" lIns="0" tIns="0" rIns="0" bIns="0" anchor="t" anchorCtr="0">
            <a:normAutofit/>
          </a:bodyPr>
          <a:lstStyle/>
          <a:p>
            <a:pPr marL="0" marR="0" lvl="0" indent="0" algn="l" rtl="0">
              <a:lnSpc>
                <a:spcPct val="139983"/>
              </a:lnSpc>
              <a:spcBef>
                <a:spcPts val="0"/>
              </a:spcBef>
              <a:spcAft>
                <a:spcPts val="0"/>
              </a:spcAft>
              <a:buClr>
                <a:srgbClr val="2A62A8"/>
              </a:buClr>
              <a:buSzPts val="1193"/>
              <a:buFont typeface="Arial"/>
              <a:buNone/>
            </a:pPr>
            <a:r>
              <a:rPr lang="en-US" sz="1193" b="1" i="0" u="none" strike="noStrike" cap="none">
                <a:solidFill>
                  <a:srgbClr val="2A62A8"/>
                </a:solidFill>
                <a:latin typeface="Arial"/>
                <a:ea typeface="Arial"/>
                <a:cs typeface="Arial"/>
                <a:sym typeface="Arial"/>
              </a:rPr>
              <a:t>KẾT QUẢ</a:t>
            </a:r>
            <a:endParaRPr sz="1193" b="0" i="0" u="none" strike="noStrike" cap="none">
              <a:solidFill>
                <a:schemeClr val="dk1"/>
              </a:solidFill>
              <a:latin typeface="Arial"/>
              <a:ea typeface="Arial"/>
              <a:cs typeface="Arial"/>
              <a:sym typeface="Arial"/>
            </a:endParaRPr>
          </a:p>
        </p:txBody>
      </p:sp>
      <p:sp>
        <p:nvSpPr>
          <p:cNvPr id="233" name="Google Shape;233;p8"/>
          <p:cNvSpPr txBox="1">
            <a:spLocks noGrp="1"/>
          </p:cNvSpPr>
          <p:nvPr>
            <p:ph type="title"/>
          </p:nvPr>
        </p:nvSpPr>
        <p:spPr>
          <a:xfrm>
            <a:off x="812800" y="1101514"/>
            <a:ext cx="10883392" cy="432858"/>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LightGBM có WSPL thấp nhất ở 3 trên 4 nhóm</a:t>
            </a:r>
            <a:endParaRPr sz="2800"/>
          </a:p>
        </p:txBody>
      </p:sp>
      <p:sp>
        <p:nvSpPr>
          <p:cNvPr id="234" name="Google Shape;234;p8"/>
          <p:cNvSpPr/>
          <p:nvPr/>
        </p:nvSpPr>
        <p:spPr>
          <a:xfrm>
            <a:off x="812800" y="1801071"/>
            <a:ext cx="106680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Họ</a:t>
            </a:r>
            <a:endParaRPr sz="1200" b="0" i="0" u="none" strike="noStrike" cap="none">
              <a:solidFill>
                <a:schemeClr val="dk1"/>
              </a:solidFill>
              <a:latin typeface="Arial"/>
              <a:ea typeface="Arial"/>
              <a:cs typeface="Arial"/>
              <a:sym typeface="Arial"/>
            </a:endParaRPr>
          </a:p>
        </p:txBody>
      </p:sp>
      <p:sp>
        <p:nvSpPr>
          <p:cNvPr id="235" name="Google Shape;235;p8"/>
          <p:cNvSpPr/>
          <p:nvPr/>
        </p:nvSpPr>
        <p:spPr>
          <a:xfrm>
            <a:off x="1981200" y="1801071"/>
            <a:ext cx="121920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Mô hình</a:t>
            </a:r>
            <a:endParaRPr sz="1200" b="0" i="0" u="none" strike="noStrike" cap="none">
              <a:solidFill>
                <a:schemeClr val="dk1"/>
              </a:solidFill>
              <a:latin typeface="Arial"/>
              <a:ea typeface="Arial"/>
              <a:cs typeface="Arial"/>
              <a:sym typeface="Arial"/>
            </a:endParaRPr>
          </a:p>
        </p:txBody>
      </p:sp>
      <p:sp>
        <p:nvSpPr>
          <p:cNvPr id="236" name="Google Shape;236;p8"/>
          <p:cNvSpPr/>
          <p:nvPr/>
        </p:nvSpPr>
        <p:spPr>
          <a:xfrm>
            <a:off x="3225800" y="1801071"/>
            <a:ext cx="1171575"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smooth</a:t>
            </a:r>
            <a:endParaRPr sz="1200" b="0" i="0" u="none" strike="noStrike" cap="none">
              <a:solidFill>
                <a:schemeClr val="dk1"/>
              </a:solidFill>
              <a:latin typeface="Arial"/>
              <a:ea typeface="Arial"/>
              <a:cs typeface="Arial"/>
              <a:sym typeface="Arial"/>
            </a:endParaRPr>
          </a:p>
        </p:txBody>
      </p:sp>
      <p:sp>
        <p:nvSpPr>
          <p:cNvPr id="237" name="Google Shape;237;p8"/>
          <p:cNvSpPr/>
          <p:nvPr/>
        </p:nvSpPr>
        <p:spPr>
          <a:xfrm>
            <a:off x="4422775" y="1801071"/>
            <a:ext cx="1171575"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erratic</a:t>
            </a:r>
            <a:endParaRPr sz="1200" b="0" i="0" u="none" strike="noStrike" cap="none">
              <a:solidFill>
                <a:schemeClr val="dk1"/>
              </a:solidFill>
              <a:latin typeface="Arial"/>
              <a:ea typeface="Arial"/>
              <a:cs typeface="Arial"/>
              <a:sym typeface="Arial"/>
            </a:endParaRPr>
          </a:p>
        </p:txBody>
      </p:sp>
      <p:sp>
        <p:nvSpPr>
          <p:cNvPr id="238" name="Google Shape;238;p8"/>
          <p:cNvSpPr/>
          <p:nvPr/>
        </p:nvSpPr>
        <p:spPr>
          <a:xfrm>
            <a:off x="5619750" y="1801071"/>
            <a:ext cx="1171575"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intermittent</a:t>
            </a:r>
            <a:endParaRPr sz="1200" b="0" i="0" u="none" strike="noStrike" cap="none">
              <a:solidFill>
                <a:schemeClr val="dk1"/>
              </a:solidFill>
              <a:latin typeface="Arial"/>
              <a:ea typeface="Arial"/>
              <a:cs typeface="Arial"/>
              <a:sym typeface="Arial"/>
            </a:endParaRPr>
          </a:p>
        </p:txBody>
      </p:sp>
      <p:sp>
        <p:nvSpPr>
          <p:cNvPr id="239" name="Google Shape;239;p8"/>
          <p:cNvSpPr/>
          <p:nvPr/>
        </p:nvSpPr>
        <p:spPr>
          <a:xfrm>
            <a:off x="6816725" y="1801071"/>
            <a:ext cx="1171575" cy="23876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lumpy</a:t>
            </a:r>
            <a:endParaRPr sz="1200" b="0" i="0" u="none" strike="noStrike" cap="none">
              <a:solidFill>
                <a:schemeClr val="dk1"/>
              </a:solidFill>
              <a:latin typeface="Arial"/>
              <a:ea typeface="Arial"/>
              <a:cs typeface="Arial"/>
              <a:sym typeface="Arial"/>
            </a:endParaRPr>
          </a:p>
        </p:txBody>
      </p:sp>
      <p:sp>
        <p:nvSpPr>
          <p:cNvPr id="240" name="Google Shape;240;p8"/>
          <p:cNvSpPr/>
          <p:nvPr/>
        </p:nvSpPr>
        <p:spPr>
          <a:xfrm>
            <a:off x="812800" y="2842261"/>
            <a:ext cx="106680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Cổ điển</a:t>
            </a:r>
            <a:endParaRPr sz="1200" b="0" i="0" u="none" strike="noStrike" cap="none">
              <a:solidFill>
                <a:schemeClr val="dk1"/>
              </a:solidFill>
              <a:latin typeface="Arial"/>
              <a:ea typeface="Arial"/>
              <a:cs typeface="Arial"/>
              <a:sym typeface="Arial"/>
            </a:endParaRPr>
          </a:p>
        </p:txBody>
      </p:sp>
      <p:sp>
        <p:nvSpPr>
          <p:cNvPr id="241" name="Google Shape;241;p8"/>
          <p:cNvSpPr/>
          <p:nvPr/>
        </p:nvSpPr>
        <p:spPr>
          <a:xfrm>
            <a:off x="1939925" y="2112857"/>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naive</a:t>
            </a:r>
            <a:endParaRPr sz="1200" b="0" i="0" u="none" strike="noStrike" cap="none">
              <a:solidFill>
                <a:schemeClr val="dk1"/>
              </a:solidFill>
              <a:latin typeface="Arial"/>
              <a:ea typeface="Arial"/>
              <a:cs typeface="Arial"/>
              <a:sym typeface="Arial"/>
            </a:endParaRPr>
          </a:p>
        </p:txBody>
      </p:sp>
      <p:sp>
        <p:nvSpPr>
          <p:cNvPr id="242" name="Google Shape;242;p8"/>
          <p:cNvSpPr/>
          <p:nvPr/>
        </p:nvSpPr>
        <p:spPr>
          <a:xfrm>
            <a:off x="3235325" y="2112857"/>
            <a:ext cx="1152525" cy="298873"/>
          </a:xfrm>
          <a:prstGeom prst="rect">
            <a:avLst/>
          </a:prstGeom>
          <a:solidFill>
            <a:srgbClr val="718DAA"/>
          </a:solidFill>
          <a:ln w="19050" cap="flat" cmpd="sng">
            <a:solidFill>
              <a:srgbClr val="718DAA"/>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0,294</a:t>
            </a:r>
            <a:endParaRPr sz="1200" b="0" i="0" u="none" strike="noStrike" cap="none">
              <a:solidFill>
                <a:schemeClr val="dk1"/>
              </a:solidFill>
              <a:latin typeface="Arial"/>
              <a:ea typeface="Arial"/>
              <a:cs typeface="Arial"/>
              <a:sym typeface="Arial"/>
            </a:endParaRPr>
          </a:p>
        </p:txBody>
      </p:sp>
      <p:sp>
        <p:nvSpPr>
          <p:cNvPr id="243" name="Google Shape;243;p8"/>
          <p:cNvSpPr/>
          <p:nvPr/>
        </p:nvSpPr>
        <p:spPr>
          <a:xfrm>
            <a:off x="4432300" y="2112857"/>
            <a:ext cx="1152525" cy="298873"/>
          </a:xfrm>
          <a:prstGeom prst="rect">
            <a:avLst/>
          </a:prstGeom>
          <a:solidFill>
            <a:srgbClr val="B2C2D2"/>
          </a:solidFill>
          <a:ln w="19050" cap="flat" cmpd="sng">
            <a:solidFill>
              <a:srgbClr val="B2C2D2"/>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0,368</a:t>
            </a:r>
            <a:endParaRPr sz="1200" b="0" i="0" u="none" strike="noStrike" cap="none">
              <a:solidFill>
                <a:schemeClr val="dk1"/>
              </a:solidFill>
              <a:latin typeface="Arial"/>
              <a:ea typeface="Arial"/>
              <a:cs typeface="Arial"/>
              <a:sym typeface="Arial"/>
            </a:endParaRPr>
          </a:p>
        </p:txBody>
      </p:sp>
      <p:sp>
        <p:nvSpPr>
          <p:cNvPr id="244" name="Google Shape;244;p8"/>
          <p:cNvSpPr/>
          <p:nvPr/>
        </p:nvSpPr>
        <p:spPr>
          <a:xfrm>
            <a:off x="5629275" y="2112857"/>
            <a:ext cx="1152525" cy="298873"/>
          </a:xfrm>
          <a:prstGeom prst="rect">
            <a:avLst/>
          </a:prstGeom>
          <a:solidFill>
            <a:srgbClr val="CDD7E2"/>
          </a:solidFill>
          <a:ln w="19050" cap="flat" cmpd="sng">
            <a:solidFill>
              <a:srgbClr val="CDD7E2"/>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0,398</a:t>
            </a:r>
            <a:endParaRPr sz="1200" b="0" i="0" u="none" strike="noStrike" cap="none">
              <a:solidFill>
                <a:schemeClr val="dk1"/>
              </a:solidFill>
              <a:latin typeface="Arial"/>
              <a:ea typeface="Arial"/>
              <a:cs typeface="Arial"/>
              <a:sym typeface="Arial"/>
            </a:endParaRPr>
          </a:p>
        </p:txBody>
      </p:sp>
      <p:sp>
        <p:nvSpPr>
          <p:cNvPr id="245" name="Google Shape;245;p8"/>
          <p:cNvSpPr/>
          <p:nvPr/>
        </p:nvSpPr>
        <p:spPr>
          <a:xfrm>
            <a:off x="6826250" y="2112857"/>
            <a:ext cx="1152525" cy="298873"/>
          </a:xfrm>
          <a:prstGeom prst="rect">
            <a:avLst/>
          </a:prstGeom>
          <a:solidFill>
            <a:srgbClr val="EAEFF4"/>
          </a:solidFill>
          <a:ln w="19050" cap="flat" cmpd="sng">
            <a:solidFill>
              <a:srgbClr val="EAEFF4"/>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0,431</a:t>
            </a:r>
            <a:endParaRPr sz="1200" b="0" i="0" u="none" strike="noStrike" cap="none">
              <a:solidFill>
                <a:schemeClr val="dk1"/>
              </a:solidFill>
              <a:latin typeface="Arial"/>
              <a:ea typeface="Arial"/>
              <a:cs typeface="Arial"/>
              <a:sym typeface="Arial"/>
            </a:endParaRPr>
          </a:p>
        </p:txBody>
      </p:sp>
      <p:sp>
        <p:nvSpPr>
          <p:cNvPr id="246" name="Google Shape;246;p8"/>
          <p:cNvSpPr/>
          <p:nvPr/>
        </p:nvSpPr>
        <p:spPr>
          <a:xfrm>
            <a:off x="1939925" y="2456179"/>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snaive</a:t>
            </a:r>
            <a:endParaRPr sz="1200" b="0" i="0" u="none" strike="noStrike" cap="none">
              <a:solidFill>
                <a:schemeClr val="dk1"/>
              </a:solidFill>
              <a:latin typeface="Arial"/>
              <a:ea typeface="Arial"/>
              <a:cs typeface="Arial"/>
              <a:sym typeface="Arial"/>
            </a:endParaRPr>
          </a:p>
        </p:txBody>
      </p:sp>
      <p:sp>
        <p:nvSpPr>
          <p:cNvPr id="247" name="Google Shape;247;p8"/>
          <p:cNvSpPr/>
          <p:nvPr/>
        </p:nvSpPr>
        <p:spPr>
          <a:xfrm>
            <a:off x="3235325" y="2456179"/>
            <a:ext cx="1152525" cy="298873"/>
          </a:xfrm>
          <a:prstGeom prst="rect">
            <a:avLst/>
          </a:prstGeom>
          <a:solidFill>
            <a:srgbClr val="4E7195"/>
          </a:solidFill>
          <a:ln w="19050" cap="flat" cmpd="sng">
            <a:solidFill>
              <a:srgbClr val="4E7195"/>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0,254</a:t>
            </a:r>
            <a:endParaRPr sz="1200" b="0" i="0" u="none" strike="noStrike" cap="none">
              <a:solidFill>
                <a:schemeClr val="dk1"/>
              </a:solidFill>
              <a:latin typeface="Arial"/>
              <a:ea typeface="Arial"/>
              <a:cs typeface="Arial"/>
              <a:sym typeface="Arial"/>
            </a:endParaRPr>
          </a:p>
        </p:txBody>
      </p:sp>
      <p:sp>
        <p:nvSpPr>
          <p:cNvPr id="248" name="Google Shape;248;p8"/>
          <p:cNvSpPr/>
          <p:nvPr/>
        </p:nvSpPr>
        <p:spPr>
          <a:xfrm>
            <a:off x="4432300" y="2456179"/>
            <a:ext cx="1152525" cy="298873"/>
          </a:xfrm>
          <a:prstGeom prst="rect">
            <a:avLst/>
          </a:prstGeom>
          <a:solidFill>
            <a:srgbClr val="9AAEC3"/>
          </a:solidFill>
          <a:ln w="19050" cap="flat" cmpd="sng">
            <a:solidFill>
              <a:srgbClr val="9AAEC3"/>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0,340</a:t>
            </a:r>
            <a:endParaRPr sz="1200" b="0" i="0" u="none" strike="noStrike" cap="none">
              <a:solidFill>
                <a:schemeClr val="dk1"/>
              </a:solidFill>
              <a:latin typeface="Arial"/>
              <a:ea typeface="Arial"/>
              <a:cs typeface="Arial"/>
              <a:sym typeface="Arial"/>
            </a:endParaRPr>
          </a:p>
        </p:txBody>
      </p:sp>
      <p:sp>
        <p:nvSpPr>
          <p:cNvPr id="249" name="Google Shape;249;p8"/>
          <p:cNvSpPr/>
          <p:nvPr/>
        </p:nvSpPr>
        <p:spPr>
          <a:xfrm>
            <a:off x="5629275" y="2456179"/>
            <a:ext cx="1152525" cy="298873"/>
          </a:xfrm>
          <a:prstGeom prst="rect">
            <a:avLst/>
          </a:prstGeom>
          <a:solidFill>
            <a:srgbClr val="B8C6D5"/>
          </a:solidFill>
          <a:ln w="19050" cap="flat" cmpd="sng">
            <a:solidFill>
              <a:srgbClr val="B8C6D5"/>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0,374</a:t>
            </a:r>
            <a:endParaRPr sz="1200" b="0" i="0" u="none" strike="noStrike" cap="none">
              <a:solidFill>
                <a:schemeClr val="dk1"/>
              </a:solidFill>
              <a:latin typeface="Arial"/>
              <a:ea typeface="Arial"/>
              <a:cs typeface="Arial"/>
              <a:sym typeface="Arial"/>
            </a:endParaRPr>
          </a:p>
        </p:txBody>
      </p:sp>
      <p:sp>
        <p:nvSpPr>
          <p:cNvPr id="250" name="Google Shape;250;p8"/>
          <p:cNvSpPr/>
          <p:nvPr/>
        </p:nvSpPr>
        <p:spPr>
          <a:xfrm>
            <a:off x="6826250" y="2456179"/>
            <a:ext cx="1152525" cy="298873"/>
          </a:xfrm>
          <a:prstGeom prst="rect">
            <a:avLst/>
          </a:prstGeom>
          <a:solidFill>
            <a:srgbClr val="DAE2EA"/>
          </a:solidFill>
          <a:ln w="19050" cap="flat" cmpd="sng">
            <a:solidFill>
              <a:srgbClr val="DAE2EA"/>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0,413</a:t>
            </a:r>
            <a:endParaRPr sz="1200" b="0" i="0" u="none" strike="noStrike" cap="none">
              <a:solidFill>
                <a:schemeClr val="dk1"/>
              </a:solidFill>
              <a:latin typeface="Arial"/>
              <a:ea typeface="Arial"/>
              <a:cs typeface="Arial"/>
              <a:sym typeface="Arial"/>
            </a:endParaRPr>
          </a:p>
        </p:txBody>
      </p:sp>
      <p:sp>
        <p:nvSpPr>
          <p:cNvPr id="251" name="Google Shape;251;p8"/>
          <p:cNvSpPr/>
          <p:nvPr/>
        </p:nvSpPr>
        <p:spPr>
          <a:xfrm>
            <a:off x="1939925" y="2799504"/>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croston</a:t>
            </a:r>
            <a:endParaRPr sz="1200" b="0" i="0" u="none" strike="noStrike" cap="none">
              <a:solidFill>
                <a:schemeClr val="dk1"/>
              </a:solidFill>
              <a:latin typeface="Arial"/>
              <a:ea typeface="Arial"/>
              <a:cs typeface="Arial"/>
              <a:sym typeface="Arial"/>
            </a:endParaRPr>
          </a:p>
        </p:txBody>
      </p:sp>
      <p:sp>
        <p:nvSpPr>
          <p:cNvPr id="252" name="Google Shape;252;p8"/>
          <p:cNvSpPr/>
          <p:nvPr/>
        </p:nvSpPr>
        <p:spPr>
          <a:xfrm>
            <a:off x="3235325" y="2799504"/>
            <a:ext cx="1152525" cy="298873"/>
          </a:xfrm>
          <a:prstGeom prst="rect">
            <a:avLst/>
          </a:prstGeom>
          <a:solidFill>
            <a:srgbClr val="28527E"/>
          </a:solidFill>
          <a:ln w="19050" cap="flat" cmpd="sng">
            <a:solidFill>
              <a:srgbClr val="28527E"/>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0,211</a:t>
            </a:r>
            <a:endParaRPr sz="1200" b="0" i="0" u="none" strike="noStrike" cap="none">
              <a:solidFill>
                <a:schemeClr val="dk1"/>
              </a:solidFill>
              <a:latin typeface="Arial"/>
              <a:ea typeface="Arial"/>
              <a:cs typeface="Arial"/>
              <a:sym typeface="Arial"/>
            </a:endParaRPr>
          </a:p>
        </p:txBody>
      </p:sp>
      <p:sp>
        <p:nvSpPr>
          <p:cNvPr id="253" name="Google Shape;253;p8"/>
          <p:cNvSpPr/>
          <p:nvPr/>
        </p:nvSpPr>
        <p:spPr>
          <a:xfrm>
            <a:off x="4432300" y="2799504"/>
            <a:ext cx="1152525" cy="298873"/>
          </a:xfrm>
          <a:prstGeom prst="rect">
            <a:avLst/>
          </a:prstGeom>
          <a:solidFill>
            <a:srgbClr val="7792AE"/>
          </a:solidFill>
          <a:ln w="19050" cap="flat" cmpd="sng">
            <a:solidFill>
              <a:srgbClr val="7792AE"/>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0,301</a:t>
            </a:r>
            <a:endParaRPr sz="1200" b="0" i="0" u="none" strike="noStrike" cap="none">
              <a:solidFill>
                <a:schemeClr val="dk1"/>
              </a:solidFill>
              <a:latin typeface="Arial"/>
              <a:ea typeface="Arial"/>
              <a:cs typeface="Arial"/>
              <a:sym typeface="Arial"/>
            </a:endParaRPr>
          </a:p>
        </p:txBody>
      </p:sp>
      <p:sp>
        <p:nvSpPr>
          <p:cNvPr id="254" name="Google Shape;254;p8"/>
          <p:cNvSpPr/>
          <p:nvPr/>
        </p:nvSpPr>
        <p:spPr>
          <a:xfrm>
            <a:off x="5629275" y="2799504"/>
            <a:ext cx="1152525" cy="298873"/>
          </a:xfrm>
          <a:prstGeom prst="rect">
            <a:avLst/>
          </a:prstGeom>
          <a:solidFill>
            <a:srgbClr val="849DB6"/>
          </a:solidFill>
          <a:ln w="19050" cap="flat" cmpd="sng">
            <a:solidFill>
              <a:srgbClr val="849DB6"/>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0,316</a:t>
            </a:r>
            <a:endParaRPr sz="1200" b="0" i="0" u="none" strike="noStrike" cap="none">
              <a:solidFill>
                <a:schemeClr val="dk1"/>
              </a:solidFill>
              <a:latin typeface="Arial"/>
              <a:ea typeface="Arial"/>
              <a:cs typeface="Arial"/>
              <a:sym typeface="Arial"/>
            </a:endParaRPr>
          </a:p>
        </p:txBody>
      </p:sp>
      <p:sp>
        <p:nvSpPr>
          <p:cNvPr id="255" name="Google Shape;255;p8"/>
          <p:cNvSpPr/>
          <p:nvPr/>
        </p:nvSpPr>
        <p:spPr>
          <a:xfrm>
            <a:off x="6826250" y="2799504"/>
            <a:ext cx="1152525" cy="298873"/>
          </a:xfrm>
          <a:prstGeom prst="rect">
            <a:avLst/>
          </a:prstGeom>
          <a:solidFill>
            <a:srgbClr val="A8B9CC"/>
          </a:solidFill>
          <a:ln w="19050" cap="flat" cmpd="sng">
            <a:solidFill>
              <a:srgbClr val="A8B9CC"/>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0,356</a:t>
            </a:r>
            <a:endParaRPr sz="1200" b="0" i="0" u="none" strike="noStrike" cap="none">
              <a:solidFill>
                <a:schemeClr val="dk1"/>
              </a:solidFill>
              <a:latin typeface="Arial"/>
              <a:ea typeface="Arial"/>
              <a:cs typeface="Arial"/>
              <a:sym typeface="Arial"/>
            </a:endParaRPr>
          </a:p>
        </p:txBody>
      </p:sp>
      <p:sp>
        <p:nvSpPr>
          <p:cNvPr id="256" name="Google Shape;256;p8"/>
          <p:cNvSpPr/>
          <p:nvPr/>
        </p:nvSpPr>
        <p:spPr>
          <a:xfrm>
            <a:off x="1939925" y="3142825"/>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sba</a:t>
            </a:r>
            <a:endParaRPr sz="1200" b="0" i="0" u="none" strike="noStrike" cap="none">
              <a:solidFill>
                <a:schemeClr val="dk1"/>
              </a:solidFill>
              <a:latin typeface="Arial"/>
              <a:ea typeface="Arial"/>
              <a:cs typeface="Arial"/>
              <a:sym typeface="Arial"/>
            </a:endParaRPr>
          </a:p>
        </p:txBody>
      </p:sp>
      <p:sp>
        <p:nvSpPr>
          <p:cNvPr id="257" name="Google Shape;257;p8"/>
          <p:cNvSpPr/>
          <p:nvPr/>
        </p:nvSpPr>
        <p:spPr>
          <a:xfrm>
            <a:off x="3235325" y="3142825"/>
            <a:ext cx="1152525" cy="298873"/>
          </a:xfrm>
          <a:prstGeom prst="rect">
            <a:avLst/>
          </a:prstGeom>
          <a:solidFill>
            <a:srgbClr val="28527E"/>
          </a:solidFill>
          <a:ln w="19050" cap="flat" cmpd="sng">
            <a:solidFill>
              <a:srgbClr val="28527E"/>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0,211</a:t>
            </a:r>
            <a:endParaRPr sz="1200" b="0" i="0" u="none" strike="noStrike" cap="none">
              <a:solidFill>
                <a:schemeClr val="dk1"/>
              </a:solidFill>
              <a:latin typeface="Arial"/>
              <a:ea typeface="Arial"/>
              <a:cs typeface="Arial"/>
              <a:sym typeface="Arial"/>
            </a:endParaRPr>
          </a:p>
        </p:txBody>
      </p:sp>
      <p:sp>
        <p:nvSpPr>
          <p:cNvPr id="258" name="Google Shape;258;p8"/>
          <p:cNvSpPr/>
          <p:nvPr/>
        </p:nvSpPr>
        <p:spPr>
          <a:xfrm>
            <a:off x="4432300" y="3142825"/>
            <a:ext cx="1152525" cy="298873"/>
          </a:xfrm>
          <a:prstGeom prst="rect">
            <a:avLst/>
          </a:prstGeom>
          <a:solidFill>
            <a:srgbClr val="7590AD"/>
          </a:solidFill>
          <a:ln w="19050" cap="flat" cmpd="sng">
            <a:solidFill>
              <a:srgbClr val="7590AD"/>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0,298</a:t>
            </a:r>
            <a:endParaRPr sz="1200" b="0" i="0" u="none" strike="noStrike" cap="none">
              <a:solidFill>
                <a:schemeClr val="dk1"/>
              </a:solidFill>
              <a:latin typeface="Arial"/>
              <a:ea typeface="Arial"/>
              <a:cs typeface="Arial"/>
              <a:sym typeface="Arial"/>
            </a:endParaRPr>
          </a:p>
        </p:txBody>
      </p:sp>
      <p:sp>
        <p:nvSpPr>
          <p:cNvPr id="259" name="Google Shape;259;p8"/>
          <p:cNvSpPr/>
          <p:nvPr/>
        </p:nvSpPr>
        <p:spPr>
          <a:xfrm>
            <a:off x="5629275" y="3142825"/>
            <a:ext cx="1152525" cy="298873"/>
          </a:xfrm>
          <a:prstGeom prst="rect">
            <a:avLst/>
          </a:prstGeom>
          <a:solidFill>
            <a:srgbClr val="849DB6"/>
          </a:solidFill>
          <a:ln w="19050" cap="flat" cmpd="sng">
            <a:solidFill>
              <a:srgbClr val="849DB6"/>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0,316</a:t>
            </a:r>
            <a:endParaRPr sz="1200" b="0" i="0" u="none" strike="noStrike" cap="none">
              <a:solidFill>
                <a:schemeClr val="dk1"/>
              </a:solidFill>
              <a:latin typeface="Arial"/>
              <a:ea typeface="Arial"/>
              <a:cs typeface="Arial"/>
              <a:sym typeface="Arial"/>
            </a:endParaRPr>
          </a:p>
        </p:txBody>
      </p:sp>
      <p:sp>
        <p:nvSpPr>
          <p:cNvPr id="260" name="Google Shape;260;p8"/>
          <p:cNvSpPr/>
          <p:nvPr/>
        </p:nvSpPr>
        <p:spPr>
          <a:xfrm>
            <a:off x="6826250" y="3142825"/>
            <a:ext cx="1152525" cy="298873"/>
          </a:xfrm>
          <a:prstGeom prst="rect">
            <a:avLst/>
          </a:prstGeom>
          <a:solidFill>
            <a:srgbClr val="A7B9CB"/>
          </a:solidFill>
          <a:ln w="19050" cap="flat" cmpd="sng">
            <a:solidFill>
              <a:srgbClr val="A7B9CB"/>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0,355</a:t>
            </a:r>
            <a:endParaRPr sz="1200" b="0" i="0" u="none" strike="noStrike" cap="none">
              <a:solidFill>
                <a:schemeClr val="dk1"/>
              </a:solidFill>
              <a:latin typeface="Arial"/>
              <a:ea typeface="Arial"/>
              <a:cs typeface="Arial"/>
              <a:sym typeface="Arial"/>
            </a:endParaRPr>
          </a:p>
        </p:txBody>
      </p:sp>
      <p:sp>
        <p:nvSpPr>
          <p:cNvPr id="261" name="Google Shape;261;p8"/>
          <p:cNvSpPr/>
          <p:nvPr/>
        </p:nvSpPr>
        <p:spPr>
          <a:xfrm>
            <a:off x="1939925" y="3486150"/>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tsb</a:t>
            </a:r>
            <a:endParaRPr sz="1200" b="0" i="0" u="none" strike="noStrike" cap="none">
              <a:solidFill>
                <a:schemeClr val="dk1"/>
              </a:solidFill>
              <a:latin typeface="Arial"/>
              <a:ea typeface="Arial"/>
              <a:cs typeface="Arial"/>
              <a:sym typeface="Arial"/>
            </a:endParaRPr>
          </a:p>
        </p:txBody>
      </p:sp>
      <p:sp>
        <p:nvSpPr>
          <p:cNvPr id="262" name="Google Shape;262;p8"/>
          <p:cNvSpPr/>
          <p:nvPr/>
        </p:nvSpPr>
        <p:spPr>
          <a:xfrm>
            <a:off x="3235325" y="3486150"/>
            <a:ext cx="1152525" cy="298873"/>
          </a:xfrm>
          <a:prstGeom prst="rect">
            <a:avLst/>
          </a:prstGeom>
          <a:solidFill>
            <a:srgbClr val="2C5581"/>
          </a:solidFill>
          <a:ln w="19050" cap="flat" cmpd="sng">
            <a:solidFill>
              <a:srgbClr val="2C5581"/>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0,216</a:t>
            </a:r>
            <a:endParaRPr sz="1200" b="0" i="0" u="none" strike="noStrike" cap="none">
              <a:solidFill>
                <a:schemeClr val="dk1"/>
              </a:solidFill>
              <a:latin typeface="Arial"/>
              <a:ea typeface="Arial"/>
              <a:cs typeface="Arial"/>
              <a:sym typeface="Arial"/>
            </a:endParaRPr>
          </a:p>
        </p:txBody>
      </p:sp>
      <p:sp>
        <p:nvSpPr>
          <p:cNvPr id="263" name="Google Shape;263;p8"/>
          <p:cNvSpPr/>
          <p:nvPr/>
        </p:nvSpPr>
        <p:spPr>
          <a:xfrm>
            <a:off x="4432300" y="3486150"/>
            <a:ext cx="1152525" cy="298873"/>
          </a:xfrm>
          <a:prstGeom prst="rect">
            <a:avLst/>
          </a:prstGeom>
          <a:solidFill>
            <a:srgbClr val="7B95B0"/>
          </a:solidFill>
          <a:ln w="19050" cap="flat" cmpd="sng">
            <a:solidFill>
              <a:srgbClr val="7B95B0"/>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0,305</a:t>
            </a:r>
            <a:endParaRPr sz="1200" b="0" i="0" u="none" strike="noStrike" cap="none">
              <a:solidFill>
                <a:schemeClr val="dk1"/>
              </a:solidFill>
              <a:latin typeface="Arial"/>
              <a:ea typeface="Arial"/>
              <a:cs typeface="Arial"/>
              <a:sym typeface="Arial"/>
            </a:endParaRPr>
          </a:p>
        </p:txBody>
      </p:sp>
      <p:sp>
        <p:nvSpPr>
          <p:cNvPr id="264" name="Google Shape;264;p8"/>
          <p:cNvSpPr/>
          <p:nvPr/>
        </p:nvSpPr>
        <p:spPr>
          <a:xfrm>
            <a:off x="5629275" y="3486150"/>
            <a:ext cx="1152525" cy="298873"/>
          </a:xfrm>
          <a:prstGeom prst="rect">
            <a:avLst/>
          </a:prstGeom>
          <a:solidFill>
            <a:srgbClr val="869EB7"/>
          </a:solidFill>
          <a:ln w="19050" cap="flat" cmpd="sng">
            <a:solidFill>
              <a:srgbClr val="869EB7"/>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0,318</a:t>
            </a:r>
            <a:endParaRPr sz="1200" b="0" i="0" u="none" strike="noStrike" cap="none">
              <a:solidFill>
                <a:schemeClr val="dk1"/>
              </a:solidFill>
              <a:latin typeface="Arial"/>
              <a:ea typeface="Arial"/>
              <a:cs typeface="Arial"/>
              <a:sym typeface="Arial"/>
            </a:endParaRPr>
          </a:p>
        </p:txBody>
      </p:sp>
      <p:sp>
        <p:nvSpPr>
          <p:cNvPr id="265" name="Google Shape;265;p8"/>
          <p:cNvSpPr/>
          <p:nvPr/>
        </p:nvSpPr>
        <p:spPr>
          <a:xfrm>
            <a:off x="6826250" y="3486150"/>
            <a:ext cx="1152525" cy="298873"/>
          </a:xfrm>
          <a:prstGeom prst="rect">
            <a:avLst/>
          </a:prstGeom>
          <a:solidFill>
            <a:srgbClr val="ADBECF"/>
          </a:solidFill>
          <a:ln w="19050" cap="flat" cmpd="sng">
            <a:solidFill>
              <a:srgbClr val="ADBECF"/>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0,362</a:t>
            </a:r>
            <a:endParaRPr sz="1200" b="0" i="0" u="none" strike="noStrike" cap="none">
              <a:solidFill>
                <a:schemeClr val="dk1"/>
              </a:solidFill>
              <a:latin typeface="Arial"/>
              <a:ea typeface="Arial"/>
              <a:cs typeface="Arial"/>
              <a:sym typeface="Arial"/>
            </a:endParaRPr>
          </a:p>
        </p:txBody>
      </p:sp>
      <p:sp>
        <p:nvSpPr>
          <p:cNvPr id="266" name="Google Shape;266;p8"/>
          <p:cNvSpPr/>
          <p:nvPr/>
        </p:nvSpPr>
        <p:spPr>
          <a:xfrm>
            <a:off x="812800" y="3845350"/>
            <a:ext cx="106680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Machine learning</a:t>
            </a:r>
            <a:endParaRPr sz="1200" b="0" i="0" u="none" strike="noStrike" cap="none">
              <a:solidFill>
                <a:schemeClr val="dk1"/>
              </a:solidFill>
              <a:latin typeface="Arial"/>
              <a:ea typeface="Arial"/>
              <a:cs typeface="Arial"/>
              <a:sym typeface="Arial"/>
            </a:endParaRPr>
          </a:p>
        </p:txBody>
      </p:sp>
      <p:sp>
        <p:nvSpPr>
          <p:cNvPr id="267" name="Google Shape;267;p8"/>
          <p:cNvSpPr/>
          <p:nvPr/>
        </p:nvSpPr>
        <p:spPr>
          <a:xfrm>
            <a:off x="1939925" y="3909271"/>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lgbm</a:t>
            </a:r>
            <a:endParaRPr sz="1200" b="0" i="0" u="none" strike="noStrike" cap="none">
              <a:solidFill>
                <a:schemeClr val="dk1"/>
              </a:solidFill>
              <a:latin typeface="Arial"/>
              <a:ea typeface="Arial"/>
              <a:cs typeface="Arial"/>
              <a:sym typeface="Arial"/>
            </a:endParaRPr>
          </a:p>
        </p:txBody>
      </p:sp>
      <p:sp>
        <p:nvSpPr>
          <p:cNvPr id="268" name="Google Shape;268;p8"/>
          <p:cNvSpPr/>
          <p:nvPr/>
        </p:nvSpPr>
        <p:spPr>
          <a:xfrm>
            <a:off x="3235325" y="3909271"/>
            <a:ext cx="1152525" cy="298873"/>
          </a:xfrm>
          <a:prstGeom prst="rect">
            <a:avLst/>
          </a:prstGeom>
          <a:solidFill>
            <a:srgbClr val="1E4A78"/>
          </a:solidFill>
          <a:ln w="19050" cap="flat" cmpd="sng">
            <a:solidFill>
              <a:srgbClr val="C8662B"/>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1" i="0" u="none" strike="noStrike" cap="none">
                <a:solidFill>
                  <a:srgbClr val="F6F4EE"/>
                </a:solidFill>
                <a:latin typeface="Arial"/>
                <a:ea typeface="Arial"/>
                <a:cs typeface="Arial"/>
                <a:sym typeface="Arial"/>
              </a:rPr>
              <a:t>0,200</a:t>
            </a:r>
            <a:endParaRPr sz="1200" b="0" i="0" u="none" strike="noStrike" cap="none">
              <a:solidFill>
                <a:schemeClr val="dk1"/>
              </a:solidFill>
              <a:latin typeface="Arial"/>
              <a:ea typeface="Arial"/>
              <a:cs typeface="Arial"/>
              <a:sym typeface="Arial"/>
            </a:endParaRPr>
          </a:p>
        </p:txBody>
      </p:sp>
      <p:sp>
        <p:nvSpPr>
          <p:cNvPr id="269" name="Google Shape;269;p8"/>
          <p:cNvSpPr/>
          <p:nvPr/>
        </p:nvSpPr>
        <p:spPr>
          <a:xfrm>
            <a:off x="4432300" y="3909271"/>
            <a:ext cx="1152525" cy="298873"/>
          </a:xfrm>
          <a:prstGeom prst="rect">
            <a:avLst/>
          </a:prstGeom>
          <a:solidFill>
            <a:srgbClr val="486C92"/>
          </a:solidFill>
          <a:ln w="19050" cap="flat" cmpd="sng">
            <a:solidFill>
              <a:srgbClr val="486C92"/>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0,248</a:t>
            </a:r>
            <a:endParaRPr sz="1200" b="0" i="0" u="none" strike="noStrike" cap="none">
              <a:solidFill>
                <a:schemeClr val="dk1"/>
              </a:solidFill>
              <a:latin typeface="Arial"/>
              <a:ea typeface="Arial"/>
              <a:cs typeface="Arial"/>
              <a:sym typeface="Arial"/>
            </a:endParaRPr>
          </a:p>
        </p:txBody>
      </p:sp>
      <p:sp>
        <p:nvSpPr>
          <p:cNvPr id="270" name="Google Shape;270;p8"/>
          <p:cNvSpPr/>
          <p:nvPr/>
        </p:nvSpPr>
        <p:spPr>
          <a:xfrm>
            <a:off x="5629275" y="3909271"/>
            <a:ext cx="1152525" cy="298873"/>
          </a:xfrm>
          <a:prstGeom prst="rect">
            <a:avLst/>
          </a:prstGeom>
          <a:solidFill>
            <a:srgbClr val="537598"/>
          </a:solidFill>
          <a:ln w="19050" cap="flat" cmpd="sng">
            <a:solidFill>
              <a:srgbClr val="C8662B"/>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1" i="0" u="none" strike="noStrike" cap="none">
                <a:solidFill>
                  <a:srgbClr val="F6F4EE"/>
                </a:solidFill>
                <a:latin typeface="Arial"/>
                <a:ea typeface="Arial"/>
                <a:cs typeface="Arial"/>
                <a:sym typeface="Arial"/>
              </a:rPr>
              <a:t>0,260</a:t>
            </a:r>
            <a:endParaRPr sz="1200" b="0" i="0" u="none" strike="noStrike" cap="none">
              <a:solidFill>
                <a:schemeClr val="dk1"/>
              </a:solidFill>
              <a:latin typeface="Arial"/>
              <a:ea typeface="Arial"/>
              <a:cs typeface="Arial"/>
              <a:sym typeface="Arial"/>
            </a:endParaRPr>
          </a:p>
        </p:txBody>
      </p:sp>
      <p:sp>
        <p:nvSpPr>
          <p:cNvPr id="271" name="Google Shape;271;p8"/>
          <p:cNvSpPr/>
          <p:nvPr/>
        </p:nvSpPr>
        <p:spPr>
          <a:xfrm>
            <a:off x="6826250" y="3909271"/>
            <a:ext cx="1152525" cy="298873"/>
          </a:xfrm>
          <a:prstGeom prst="rect">
            <a:avLst/>
          </a:prstGeom>
          <a:solidFill>
            <a:srgbClr val="7691AE"/>
          </a:solidFill>
          <a:ln w="19050" cap="flat" cmpd="sng">
            <a:solidFill>
              <a:srgbClr val="C8662B"/>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0,300</a:t>
            </a:r>
            <a:endParaRPr sz="1200" b="0" i="0" u="none" strike="noStrike" cap="none">
              <a:solidFill>
                <a:schemeClr val="dk1"/>
              </a:solidFill>
              <a:latin typeface="Arial"/>
              <a:ea typeface="Arial"/>
              <a:cs typeface="Arial"/>
              <a:sym typeface="Arial"/>
            </a:endParaRPr>
          </a:p>
        </p:txBody>
      </p:sp>
      <p:sp>
        <p:nvSpPr>
          <p:cNvPr id="272" name="Google Shape;272;p8"/>
          <p:cNvSpPr/>
          <p:nvPr/>
        </p:nvSpPr>
        <p:spPr>
          <a:xfrm>
            <a:off x="812800" y="4611793"/>
            <a:ext cx="106680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Foundation model</a:t>
            </a:r>
            <a:endParaRPr sz="1200" b="0" i="0" u="none" strike="noStrike" cap="none">
              <a:solidFill>
                <a:schemeClr val="dk1"/>
              </a:solidFill>
              <a:latin typeface="Arial"/>
              <a:ea typeface="Arial"/>
              <a:cs typeface="Arial"/>
              <a:sym typeface="Arial"/>
            </a:endParaRPr>
          </a:p>
        </p:txBody>
      </p:sp>
      <p:sp>
        <p:nvSpPr>
          <p:cNvPr id="273" name="Google Shape;273;p8"/>
          <p:cNvSpPr/>
          <p:nvPr/>
        </p:nvSpPr>
        <p:spPr>
          <a:xfrm>
            <a:off x="1939925" y="4332393"/>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chronos_bolt</a:t>
            </a:r>
            <a:endParaRPr sz="1200" b="0" i="0" u="none" strike="noStrike" cap="none">
              <a:solidFill>
                <a:schemeClr val="dk1"/>
              </a:solidFill>
              <a:latin typeface="Arial"/>
              <a:ea typeface="Arial"/>
              <a:cs typeface="Arial"/>
              <a:sym typeface="Arial"/>
            </a:endParaRPr>
          </a:p>
        </p:txBody>
      </p:sp>
      <p:sp>
        <p:nvSpPr>
          <p:cNvPr id="274" name="Google Shape;274;p8"/>
          <p:cNvSpPr/>
          <p:nvPr/>
        </p:nvSpPr>
        <p:spPr>
          <a:xfrm>
            <a:off x="3235325" y="4332393"/>
            <a:ext cx="1152525" cy="298873"/>
          </a:xfrm>
          <a:prstGeom prst="rect">
            <a:avLst/>
          </a:prstGeom>
          <a:solidFill>
            <a:srgbClr val="28527E"/>
          </a:solidFill>
          <a:ln w="19050" cap="flat" cmpd="sng">
            <a:solidFill>
              <a:srgbClr val="28527E"/>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0,211</a:t>
            </a:r>
            <a:endParaRPr sz="1200" b="0" i="0" u="none" strike="noStrike" cap="none">
              <a:solidFill>
                <a:schemeClr val="dk1"/>
              </a:solidFill>
              <a:latin typeface="Arial"/>
              <a:ea typeface="Arial"/>
              <a:cs typeface="Arial"/>
              <a:sym typeface="Arial"/>
            </a:endParaRPr>
          </a:p>
        </p:txBody>
      </p:sp>
      <p:sp>
        <p:nvSpPr>
          <p:cNvPr id="275" name="Google Shape;275;p8"/>
          <p:cNvSpPr/>
          <p:nvPr/>
        </p:nvSpPr>
        <p:spPr>
          <a:xfrm>
            <a:off x="4432300" y="4332393"/>
            <a:ext cx="1152525" cy="298873"/>
          </a:xfrm>
          <a:prstGeom prst="rect">
            <a:avLst/>
          </a:prstGeom>
          <a:solidFill>
            <a:srgbClr val="4E7195"/>
          </a:solidFill>
          <a:ln w="19050" cap="flat" cmpd="sng">
            <a:solidFill>
              <a:srgbClr val="4E7195"/>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0,254</a:t>
            </a:r>
            <a:endParaRPr sz="1200" b="0" i="0" u="none" strike="noStrike" cap="none">
              <a:solidFill>
                <a:schemeClr val="dk1"/>
              </a:solidFill>
              <a:latin typeface="Arial"/>
              <a:ea typeface="Arial"/>
              <a:cs typeface="Arial"/>
              <a:sym typeface="Arial"/>
            </a:endParaRPr>
          </a:p>
        </p:txBody>
      </p:sp>
      <p:sp>
        <p:nvSpPr>
          <p:cNvPr id="276" name="Google Shape;276;p8"/>
          <p:cNvSpPr/>
          <p:nvPr/>
        </p:nvSpPr>
        <p:spPr>
          <a:xfrm>
            <a:off x="5629275" y="4332393"/>
            <a:ext cx="1152525" cy="298873"/>
          </a:xfrm>
          <a:prstGeom prst="rect">
            <a:avLst/>
          </a:prstGeom>
          <a:solidFill>
            <a:srgbClr val="7691AE"/>
          </a:solidFill>
          <a:ln w="19050" cap="flat" cmpd="sng">
            <a:solidFill>
              <a:srgbClr val="7691AE"/>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0,300</a:t>
            </a:r>
            <a:endParaRPr sz="1200" b="0" i="0" u="none" strike="noStrike" cap="none">
              <a:solidFill>
                <a:schemeClr val="dk1"/>
              </a:solidFill>
              <a:latin typeface="Arial"/>
              <a:ea typeface="Arial"/>
              <a:cs typeface="Arial"/>
              <a:sym typeface="Arial"/>
            </a:endParaRPr>
          </a:p>
        </p:txBody>
      </p:sp>
      <p:sp>
        <p:nvSpPr>
          <p:cNvPr id="277" name="Google Shape;277;p8"/>
          <p:cNvSpPr/>
          <p:nvPr/>
        </p:nvSpPr>
        <p:spPr>
          <a:xfrm>
            <a:off x="6826250" y="4332393"/>
            <a:ext cx="1152525" cy="298873"/>
          </a:xfrm>
          <a:prstGeom prst="rect">
            <a:avLst/>
          </a:prstGeom>
          <a:solidFill>
            <a:srgbClr val="91A7BE"/>
          </a:solidFill>
          <a:ln w="19050" cap="flat" cmpd="sng">
            <a:solidFill>
              <a:srgbClr val="91A7BE"/>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0,330</a:t>
            </a:r>
            <a:endParaRPr sz="1200" b="0" i="0" u="none" strike="noStrike" cap="none">
              <a:solidFill>
                <a:schemeClr val="dk1"/>
              </a:solidFill>
              <a:latin typeface="Arial"/>
              <a:ea typeface="Arial"/>
              <a:cs typeface="Arial"/>
              <a:sym typeface="Arial"/>
            </a:endParaRPr>
          </a:p>
        </p:txBody>
      </p:sp>
      <p:sp>
        <p:nvSpPr>
          <p:cNvPr id="278" name="Google Shape;278;p8"/>
          <p:cNvSpPr/>
          <p:nvPr/>
        </p:nvSpPr>
        <p:spPr>
          <a:xfrm>
            <a:off x="1939925" y="4675715"/>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ttm</a:t>
            </a:r>
            <a:endParaRPr sz="1200" b="0" i="0" u="none" strike="noStrike" cap="none">
              <a:solidFill>
                <a:schemeClr val="dk1"/>
              </a:solidFill>
              <a:latin typeface="Arial"/>
              <a:ea typeface="Arial"/>
              <a:cs typeface="Arial"/>
              <a:sym typeface="Arial"/>
            </a:endParaRPr>
          </a:p>
        </p:txBody>
      </p:sp>
      <p:sp>
        <p:nvSpPr>
          <p:cNvPr id="279" name="Google Shape;279;p8"/>
          <p:cNvSpPr/>
          <p:nvPr/>
        </p:nvSpPr>
        <p:spPr>
          <a:xfrm>
            <a:off x="3235325" y="4675715"/>
            <a:ext cx="1152525" cy="298873"/>
          </a:xfrm>
          <a:prstGeom prst="rect">
            <a:avLst/>
          </a:prstGeom>
          <a:solidFill>
            <a:srgbClr val="335B85"/>
          </a:solidFill>
          <a:ln w="19050" cap="flat" cmpd="sng">
            <a:solidFill>
              <a:srgbClr val="335B85"/>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0,224</a:t>
            </a:r>
            <a:endParaRPr sz="1200" b="0" i="0" u="none" strike="noStrike" cap="none">
              <a:solidFill>
                <a:schemeClr val="dk1"/>
              </a:solidFill>
              <a:latin typeface="Arial"/>
              <a:ea typeface="Arial"/>
              <a:cs typeface="Arial"/>
              <a:sym typeface="Arial"/>
            </a:endParaRPr>
          </a:p>
        </p:txBody>
      </p:sp>
      <p:sp>
        <p:nvSpPr>
          <p:cNvPr id="280" name="Google Shape;280;p8"/>
          <p:cNvSpPr/>
          <p:nvPr/>
        </p:nvSpPr>
        <p:spPr>
          <a:xfrm>
            <a:off x="4432300" y="4675715"/>
            <a:ext cx="1152525" cy="298873"/>
          </a:xfrm>
          <a:prstGeom prst="rect">
            <a:avLst/>
          </a:prstGeom>
          <a:solidFill>
            <a:srgbClr val="7C96B1"/>
          </a:solidFill>
          <a:ln w="19050" cap="flat" cmpd="sng">
            <a:solidFill>
              <a:srgbClr val="7C96B1"/>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0,307</a:t>
            </a:r>
            <a:endParaRPr sz="1200" b="0" i="0" u="none" strike="noStrike" cap="none">
              <a:solidFill>
                <a:schemeClr val="dk1"/>
              </a:solidFill>
              <a:latin typeface="Arial"/>
              <a:ea typeface="Arial"/>
              <a:cs typeface="Arial"/>
              <a:sym typeface="Arial"/>
            </a:endParaRPr>
          </a:p>
        </p:txBody>
      </p:sp>
      <p:sp>
        <p:nvSpPr>
          <p:cNvPr id="281" name="Google Shape;281;p8"/>
          <p:cNvSpPr/>
          <p:nvPr/>
        </p:nvSpPr>
        <p:spPr>
          <a:xfrm>
            <a:off x="5629275" y="4675715"/>
            <a:ext cx="1152525" cy="298873"/>
          </a:xfrm>
          <a:prstGeom prst="rect">
            <a:avLst/>
          </a:prstGeom>
          <a:solidFill>
            <a:srgbClr val="92A8BE"/>
          </a:solidFill>
          <a:ln w="19050" cap="flat" cmpd="sng">
            <a:solidFill>
              <a:srgbClr val="92A8BE"/>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0,331</a:t>
            </a:r>
            <a:endParaRPr sz="1200" b="0" i="0" u="none" strike="noStrike" cap="none">
              <a:solidFill>
                <a:schemeClr val="dk1"/>
              </a:solidFill>
              <a:latin typeface="Arial"/>
              <a:ea typeface="Arial"/>
              <a:cs typeface="Arial"/>
              <a:sym typeface="Arial"/>
            </a:endParaRPr>
          </a:p>
        </p:txBody>
      </p:sp>
      <p:sp>
        <p:nvSpPr>
          <p:cNvPr id="282" name="Google Shape;282;p8"/>
          <p:cNvSpPr/>
          <p:nvPr/>
        </p:nvSpPr>
        <p:spPr>
          <a:xfrm>
            <a:off x="6826250" y="4675715"/>
            <a:ext cx="1152525" cy="298873"/>
          </a:xfrm>
          <a:prstGeom prst="rect">
            <a:avLst/>
          </a:prstGeom>
          <a:solidFill>
            <a:srgbClr val="B9C7D6"/>
          </a:solidFill>
          <a:ln w="19050" cap="flat" cmpd="sng">
            <a:solidFill>
              <a:srgbClr val="B9C7D6"/>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0,375</a:t>
            </a:r>
            <a:endParaRPr sz="1200" b="0" i="0" u="none" strike="noStrike" cap="none">
              <a:solidFill>
                <a:schemeClr val="dk1"/>
              </a:solidFill>
              <a:latin typeface="Arial"/>
              <a:ea typeface="Arial"/>
              <a:cs typeface="Arial"/>
              <a:sym typeface="Arial"/>
            </a:endParaRPr>
          </a:p>
        </p:txBody>
      </p:sp>
      <p:sp>
        <p:nvSpPr>
          <p:cNvPr id="283" name="Google Shape;283;p8"/>
          <p:cNvSpPr/>
          <p:nvPr/>
        </p:nvSpPr>
        <p:spPr>
          <a:xfrm>
            <a:off x="1939925" y="5019042"/>
            <a:ext cx="1250950" cy="298873"/>
          </a:xfrm>
          <a:prstGeom prst="rect">
            <a:avLst/>
          </a:prstGeom>
          <a:noFill/>
          <a:ln w="19050" cap="flat" cmpd="sng">
            <a:solidFill>
              <a:srgbClr val="F6F4EE"/>
            </a:solidFill>
            <a:prstDash val="solid"/>
            <a:round/>
            <a:headEnd type="none" w="sm" len="sm"/>
            <a:tailEnd type="none" w="sm" len="sm"/>
          </a:ln>
        </p:spPr>
        <p:txBody>
          <a:bodyPr spcFirstLastPara="1" wrap="square" lIns="55450" tIns="42750" rIns="4650" bIns="1735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moirai_2</a:t>
            </a:r>
            <a:endParaRPr sz="1200" b="0" i="0" u="none" strike="noStrike" cap="none">
              <a:solidFill>
                <a:schemeClr val="dk1"/>
              </a:solidFill>
              <a:latin typeface="Arial"/>
              <a:ea typeface="Arial"/>
              <a:cs typeface="Arial"/>
              <a:sym typeface="Arial"/>
            </a:endParaRPr>
          </a:p>
        </p:txBody>
      </p:sp>
      <p:sp>
        <p:nvSpPr>
          <p:cNvPr id="284" name="Google Shape;284;p8"/>
          <p:cNvSpPr/>
          <p:nvPr/>
        </p:nvSpPr>
        <p:spPr>
          <a:xfrm>
            <a:off x="3235325" y="5019042"/>
            <a:ext cx="1152525" cy="298873"/>
          </a:xfrm>
          <a:prstGeom prst="rect">
            <a:avLst/>
          </a:prstGeom>
          <a:solidFill>
            <a:srgbClr val="27517D"/>
          </a:solidFill>
          <a:ln w="19050" cap="flat" cmpd="sng">
            <a:solidFill>
              <a:srgbClr val="27517D"/>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0" i="0" u="none" strike="noStrike" cap="none">
                <a:solidFill>
                  <a:srgbClr val="F6F4EE"/>
                </a:solidFill>
                <a:latin typeface="Arial"/>
                <a:ea typeface="Arial"/>
                <a:cs typeface="Arial"/>
                <a:sym typeface="Arial"/>
              </a:rPr>
              <a:t>0,210</a:t>
            </a:r>
            <a:endParaRPr sz="1200" b="0" i="0" u="none" strike="noStrike" cap="none">
              <a:solidFill>
                <a:schemeClr val="dk1"/>
              </a:solidFill>
              <a:latin typeface="Arial"/>
              <a:ea typeface="Arial"/>
              <a:cs typeface="Arial"/>
              <a:sym typeface="Arial"/>
            </a:endParaRPr>
          </a:p>
        </p:txBody>
      </p:sp>
      <p:sp>
        <p:nvSpPr>
          <p:cNvPr id="285" name="Google Shape;285;p8"/>
          <p:cNvSpPr/>
          <p:nvPr/>
        </p:nvSpPr>
        <p:spPr>
          <a:xfrm>
            <a:off x="4432300" y="5019042"/>
            <a:ext cx="1152525" cy="298873"/>
          </a:xfrm>
          <a:prstGeom prst="rect">
            <a:avLst/>
          </a:prstGeom>
          <a:solidFill>
            <a:srgbClr val="42678E"/>
          </a:solidFill>
          <a:ln w="19050" cap="flat" cmpd="sng">
            <a:solidFill>
              <a:srgbClr val="C8662B"/>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F6F4EE"/>
              </a:buClr>
              <a:buSzPts val="1200"/>
              <a:buFont typeface="Arial"/>
              <a:buNone/>
            </a:pPr>
            <a:r>
              <a:rPr lang="en-US" sz="1200" b="1" i="0" u="none" strike="noStrike" cap="none">
                <a:solidFill>
                  <a:srgbClr val="F6F4EE"/>
                </a:solidFill>
                <a:latin typeface="Arial"/>
                <a:ea typeface="Arial"/>
                <a:cs typeface="Arial"/>
                <a:sym typeface="Arial"/>
              </a:rPr>
              <a:t>0,241</a:t>
            </a:r>
            <a:endParaRPr sz="1200" b="0" i="0" u="none" strike="noStrike" cap="none">
              <a:solidFill>
                <a:schemeClr val="dk1"/>
              </a:solidFill>
              <a:latin typeface="Arial"/>
              <a:ea typeface="Arial"/>
              <a:cs typeface="Arial"/>
              <a:sym typeface="Arial"/>
            </a:endParaRPr>
          </a:p>
        </p:txBody>
      </p:sp>
      <p:sp>
        <p:nvSpPr>
          <p:cNvPr id="286" name="Google Shape;286;p8"/>
          <p:cNvSpPr/>
          <p:nvPr/>
        </p:nvSpPr>
        <p:spPr>
          <a:xfrm>
            <a:off x="5629275" y="5019042"/>
            <a:ext cx="1152525" cy="298873"/>
          </a:xfrm>
          <a:prstGeom prst="rect">
            <a:avLst/>
          </a:prstGeom>
          <a:solidFill>
            <a:srgbClr val="6886A5"/>
          </a:solidFill>
          <a:ln w="19050" cap="flat" cmpd="sng">
            <a:solidFill>
              <a:srgbClr val="6886A5"/>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0,284</a:t>
            </a:r>
            <a:endParaRPr sz="1200" b="0" i="0" u="none" strike="noStrike" cap="none">
              <a:solidFill>
                <a:schemeClr val="dk1"/>
              </a:solidFill>
              <a:latin typeface="Arial"/>
              <a:ea typeface="Arial"/>
              <a:cs typeface="Arial"/>
              <a:sym typeface="Arial"/>
            </a:endParaRPr>
          </a:p>
        </p:txBody>
      </p:sp>
      <p:sp>
        <p:nvSpPr>
          <p:cNvPr id="287" name="Google Shape;287;p8"/>
          <p:cNvSpPr/>
          <p:nvPr/>
        </p:nvSpPr>
        <p:spPr>
          <a:xfrm>
            <a:off x="6826250" y="5019042"/>
            <a:ext cx="1152525" cy="298873"/>
          </a:xfrm>
          <a:prstGeom prst="rect">
            <a:avLst/>
          </a:prstGeom>
          <a:solidFill>
            <a:srgbClr val="7C96B1"/>
          </a:solidFill>
          <a:ln w="19050" cap="flat" cmpd="sng">
            <a:solidFill>
              <a:srgbClr val="7C96B1"/>
            </a:solidFill>
            <a:prstDash val="solid"/>
            <a:round/>
            <a:headEnd type="none" w="sm" len="sm"/>
            <a:tailEnd type="none" w="sm" len="sm"/>
          </a:ln>
        </p:spPr>
        <p:txBody>
          <a:bodyPr spcFirstLastPara="1" wrap="square" lIns="30050" tIns="42750" rIns="30050" bIns="17350" anchor="t" anchorCtr="0">
            <a:normAutofit/>
          </a:bodyPr>
          <a:lstStyle/>
          <a:p>
            <a:pPr marL="0" marR="0" lvl="0" indent="0" algn="ctr"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0,306</a:t>
            </a:r>
            <a:endParaRPr sz="1200" b="0" i="0" u="none" strike="noStrike" cap="none">
              <a:solidFill>
                <a:schemeClr val="dk1"/>
              </a:solidFill>
              <a:latin typeface="Arial"/>
              <a:ea typeface="Arial"/>
              <a:cs typeface="Arial"/>
              <a:sym typeface="Arial"/>
            </a:endParaRPr>
          </a:p>
        </p:txBody>
      </p:sp>
      <p:sp>
        <p:nvSpPr>
          <p:cNvPr id="288" name="Google Shape;288;p8"/>
          <p:cNvSpPr/>
          <p:nvPr/>
        </p:nvSpPr>
        <p:spPr>
          <a:xfrm>
            <a:off x="1930400" y="5429039"/>
            <a:ext cx="6239637"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WSPL sau hiệu chuẩn, trung bình 3 cửa sổ. Thấp hơn là tốt hơn, ô càng đậm càng thấp, viền cam là thấp nhất mỗi cột.</a:t>
            </a:r>
            <a:endParaRPr sz="1200" b="0" i="0" u="none" strike="noStrike" cap="none">
              <a:solidFill>
                <a:schemeClr val="dk1"/>
              </a:solidFill>
              <a:latin typeface="Arial"/>
              <a:ea typeface="Arial"/>
              <a:cs typeface="Arial"/>
              <a:sym typeface="Arial"/>
            </a:endParaRPr>
          </a:p>
        </p:txBody>
      </p:sp>
      <p:sp>
        <p:nvSpPr>
          <p:cNvPr id="289" name="Google Shape;289;p8"/>
          <p:cNvSpPr/>
          <p:nvPr/>
        </p:nvSpPr>
        <p:spPr>
          <a:xfrm>
            <a:off x="8343900" y="1762971"/>
            <a:ext cx="3126359"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LightGBM</a:t>
            </a:r>
            <a:endParaRPr sz="1200" b="0" i="0" u="none" strike="noStrike" cap="none">
              <a:solidFill>
                <a:schemeClr val="dk1"/>
              </a:solidFill>
              <a:latin typeface="Arial"/>
              <a:ea typeface="Arial"/>
              <a:cs typeface="Arial"/>
              <a:sym typeface="Arial"/>
            </a:endParaRPr>
          </a:p>
        </p:txBody>
      </p:sp>
      <p:sp>
        <p:nvSpPr>
          <p:cNvPr id="290" name="Google Shape;290;p8"/>
          <p:cNvSpPr/>
          <p:nvPr/>
        </p:nvSpPr>
        <p:spPr>
          <a:xfrm>
            <a:off x="8343900" y="2014432"/>
            <a:ext cx="3126359" cy="52324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Thấp nhất ở smooth, intermittent và lumpy</a:t>
            </a:r>
            <a:endParaRPr sz="1400" b="0" i="0" u="none" strike="noStrike" cap="none">
              <a:solidFill>
                <a:schemeClr val="dk1"/>
              </a:solidFill>
              <a:latin typeface="Arial"/>
              <a:ea typeface="Arial"/>
              <a:cs typeface="Arial"/>
              <a:sym typeface="Arial"/>
            </a:endParaRPr>
          </a:p>
        </p:txBody>
      </p:sp>
      <p:sp>
        <p:nvSpPr>
          <p:cNvPr id="291" name="Google Shape;291;p8"/>
          <p:cNvSpPr/>
          <p:nvPr/>
        </p:nvSpPr>
        <p:spPr>
          <a:xfrm>
            <a:off x="8343900" y="2690071"/>
            <a:ext cx="3126359"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Moirai-2</a:t>
            </a:r>
            <a:endParaRPr sz="1200" b="0" i="0" u="none" strike="noStrike" cap="none">
              <a:solidFill>
                <a:schemeClr val="dk1"/>
              </a:solidFill>
              <a:latin typeface="Arial"/>
              <a:ea typeface="Arial"/>
              <a:cs typeface="Arial"/>
              <a:sym typeface="Arial"/>
            </a:endParaRPr>
          </a:p>
        </p:txBody>
      </p:sp>
      <p:sp>
        <p:nvSpPr>
          <p:cNvPr id="292" name="Google Shape;292;p8"/>
          <p:cNvSpPr/>
          <p:nvPr/>
        </p:nvSpPr>
        <p:spPr>
          <a:xfrm>
            <a:off x="8343900" y="2941532"/>
            <a:ext cx="3126359" cy="52324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Thấp nhất ở erratic (0,241), sát LightGBM (0,248)</a:t>
            </a:r>
            <a:endParaRPr sz="1400" b="0" i="0" u="none" strike="noStrike" cap="none">
              <a:solidFill>
                <a:schemeClr val="dk1"/>
              </a:solidFill>
              <a:latin typeface="Arial"/>
              <a:ea typeface="Arial"/>
              <a:cs typeface="Arial"/>
              <a:sym typeface="Arial"/>
            </a:endParaRPr>
          </a:p>
        </p:txBody>
      </p:sp>
      <p:sp>
        <p:nvSpPr>
          <p:cNvPr id="293" name="Google Shape;293;p8"/>
          <p:cNvSpPr/>
          <p:nvPr/>
        </p:nvSpPr>
        <p:spPr>
          <a:xfrm>
            <a:off x="8343900" y="3617171"/>
            <a:ext cx="3126359"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Gộp toàn tập</a:t>
            </a:r>
            <a:endParaRPr sz="1200" b="0" i="0" u="none" strike="noStrike" cap="none">
              <a:solidFill>
                <a:schemeClr val="dk1"/>
              </a:solidFill>
              <a:latin typeface="Arial"/>
              <a:ea typeface="Arial"/>
              <a:cs typeface="Arial"/>
              <a:sym typeface="Arial"/>
            </a:endParaRPr>
          </a:p>
        </p:txBody>
      </p:sp>
      <p:sp>
        <p:nvSpPr>
          <p:cNvPr id="294" name="Google Shape;294;p8"/>
          <p:cNvSpPr/>
          <p:nvPr/>
        </p:nvSpPr>
        <p:spPr>
          <a:xfrm>
            <a:off x="8343900" y="3868632"/>
            <a:ext cx="3126359" cy="7721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0" i="0" u="none" strike="noStrike" cap="none">
                <a:solidFill>
                  <a:srgbClr val="1B2433"/>
                </a:solidFill>
                <a:latin typeface="Arial"/>
                <a:ea typeface="Arial"/>
                <a:cs typeface="Arial"/>
                <a:sym typeface="Arial"/>
              </a:rPr>
              <a:t>LightGBM vẫn thấp nhất: 0,252 khi chia đều 4 nhóm, 0,265 khi theo tỷ lệ thật</a:t>
            </a:r>
            <a:endParaRPr sz="1400" b="0" i="0" u="none" strike="noStrike" cap="none">
              <a:solidFill>
                <a:schemeClr val="dk1"/>
              </a:solidFill>
              <a:latin typeface="Arial"/>
              <a:ea typeface="Arial"/>
              <a:cs typeface="Arial"/>
              <a:sym typeface="Arial"/>
            </a:endParaRPr>
          </a:p>
        </p:txBody>
      </p:sp>
      <p:sp>
        <p:nvSpPr>
          <p:cNvPr id="295" name="Google Shape;295;p8"/>
          <p:cNvSpPr/>
          <p:nvPr/>
        </p:nvSpPr>
        <p:spPr>
          <a:xfrm>
            <a:off x="8343900" y="4793190"/>
            <a:ext cx="3126359" cy="66548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Naive và SeasonalNaive kém nhất ở mọi nhóm. Chênh lệch có ý nghĩa thống kê hay không được kiểm định ở slide 9.</a:t>
            </a:r>
            <a:endParaRPr sz="1200" b="0" i="0" u="none" strike="noStrike" cap="none">
              <a:solidFill>
                <a:schemeClr val="dk1"/>
              </a:solidFill>
              <a:latin typeface="Arial"/>
              <a:ea typeface="Arial"/>
              <a:cs typeface="Arial"/>
              <a:sym typeface="Arial"/>
            </a:endParaRPr>
          </a:p>
        </p:txBody>
      </p:sp>
      <p:sp>
        <p:nvSpPr>
          <p:cNvPr id="296" name="Google Shape;296;p8"/>
          <p:cNvSpPr/>
          <p:nvPr/>
        </p:nvSpPr>
        <p:spPr>
          <a:xfrm>
            <a:off x="812800" y="6238242"/>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297" name="Google Shape;297;p8"/>
          <p:cNvSpPr/>
          <p:nvPr/>
        </p:nvSpPr>
        <p:spPr>
          <a:xfrm>
            <a:off x="11243628" y="6238242"/>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8</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Shape 302"/>
        <p:cNvGrpSpPr/>
        <p:nvPr/>
      </p:nvGrpSpPr>
      <p:grpSpPr>
        <a:xfrm>
          <a:off x="0" y="0"/>
          <a:ext cx="0" cy="0"/>
          <a:chOff x="0" y="0"/>
          <a:chExt cx="0" cy="0"/>
        </a:xfrm>
      </p:grpSpPr>
      <p:sp>
        <p:nvSpPr>
          <p:cNvPr id="303" name="Google Shape;303;p9"/>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KẾT QUẢ</a:t>
            </a:r>
            <a:endParaRPr sz="1200" b="0" i="0" u="none" strike="noStrike" cap="none">
              <a:solidFill>
                <a:schemeClr val="dk1"/>
              </a:solidFill>
              <a:latin typeface="Arial"/>
              <a:ea typeface="Arial"/>
              <a:cs typeface="Arial"/>
              <a:sym typeface="Arial"/>
            </a:endParaRPr>
          </a:p>
        </p:txBody>
      </p:sp>
      <p:sp>
        <p:nvSpPr>
          <p:cNvPr id="304" name="Google Shape;304;p9"/>
          <p:cNvSpPr txBox="1">
            <a:spLocks noGrp="1"/>
          </p:cNvSpPr>
          <p:nvPr>
            <p:ph type="title"/>
          </p:nvPr>
        </p:nvSpPr>
        <p:spPr>
          <a:xfrm>
            <a:off x="812800" y="1102358"/>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b="1"/>
              <a:t>Nhóm smooth có kết quả mô hình tốt nhất</a:t>
            </a:r>
            <a:endParaRPr sz="2800"/>
          </a:p>
        </p:txBody>
      </p:sp>
      <p:cxnSp>
        <p:nvCxnSpPr>
          <p:cNvPr id="305" name="Google Shape;305;p9"/>
          <p:cNvCxnSpPr/>
          <p:nvPr/>
        </p:nvCxnSpPr>
        <p:spPr>
          <a:xfrm>
            <a:off x="11376025" y="1765300"/>
            <a:ext cx="0" cy="2432156"/>
          </a:xfrm>
          <a:prstGeom prst="straightConnector1">
            <a:avLst/>
          </a:prstGeom>
          <a:noFill/>
          <a:ln w="9525" cap="flat" cmpd="sng">
            <a:solidFill>
              <a:srgbClr val="D6D1C4"/>
            </a:solidFill>
            <a:prstDash val="solid"/>
            <a:round/>
            <a:headEnd type="none" w="sm" len="sm"/>
            <a:tailEnd type="none" w="sm" len="sm"/>
          </a:ln>
        </p:spPr>
      </p:cxnSp>
      <p:cxnSp>
        <p:nvCxnSpPr>
          <p:cNvPr id="306" name="Google Shape;306;p9"/>
          <p:cNvCxnSpPr/>
          <p:nvPr/>
        </p:nvCxnSpPr>
        <p:spPr>
          <a:xfrm>
            <a:off x="812800" y="4194281"/>
            <a:ext cx="10566400" cy="0"/>
          </a:xfrm>
          <a:prstGeom prst="straightConnector1">
            <a:avLst/>
          </a:prstGeom>
          <a:noFill/>
          <a:ln w="9525" cap="flat" cmpd="sng">
            <a:solidFill>
              <a:srgbClr val="D6D1C4"/>
            </a:solidFill>
            <a:prstDash val="solid"/>
            <a:round/>
            <a:headEnd type="none" w="sm" len="sm"/>
            <a:tailEnd type="none" w="sm" len="sm"/>
          </a:ln>
        </p:spPr>
      </p:cxnSp>
      <p:graphicFrame>
        <p:nvGraphicFramePr>
          <p:cNvPr id="307" name="Google Shape;307;p9"/>
          <p:cNvGraphicFramePr/>
          <p:nvPr/>
        </p:nvGraphicFramePr>
        <p:xfrm>
          <a:off x="819891" y="1772391"/>
          <a:ext cx="10552225" cy="2510094"/>
        </p:xfrm>
        <a:graphic>
          <a:graphicData uri="http://schemas.openxmlformats.org/drawingml/2006/table">
            <a:tbl>
              <a:tblPr>
                <a:noFill/>
                <a:tableStyleId>{99D1AD51-34DF-4AEA-9B01-C88AA91C9874}</a:tableStyleId>
              </a:tblPr>
              <a:tblGrid>
                <a:gridCol w="1582825">
                  <a:extLst>
                    <a:ext uri="{9D8B030D-6E8A-4147-A177-3AD203B41FA5}">
                      <a16:colId xmlns:a16="http://schemas.microsoft.com/office/drawing/2014/main" val="20000"/>
                    </a:ext>
                  </a:extLst>
                </a:gridCol>
                <a:gridCol w="1793875">
                  <a:extLst>
                    <a:ext uri="{9D8B030D-6E8A-4147-A177-3AD203B41FA5}">
                      <a16:colId xmlns:a16="http://schemas.microsoft.com/office/drawing/2014/main" val="20001"/>
                    </a:ext>
                  </a:extLst>
                </a:gridCol>
                <a:gridCol w="1582825">
                  <a:extLst>
                    <a:ext uri="{9D8B030D-6E8A-4147-A177-3AD203B41FA5}">
                      <a16:colId xmlns:a16="http://schemas.microsoft.com/office/drawing/2014/main" val="20002"/>
                    </a:ext>
                  </a:extLst>
                </a:gridCol>
                <a:gridCol w="1582825">
                  <a:extLst>
                    <a:ext uri="{9D8B030D-6E8A-4147-A177-3AD203B41FA5}">
                      <a16:colId xmlns:a16="http://schemas.microsoft.com/office/drawing/2014/main" val="20003"/>
                    </a:ext>
                  </a:extLst>
                </a:gridCol>
                <a:gridCol w="1371800">
                  <a:extLst>
                    <a:ext uri="{9D8B030D-6E8A-4147-A177-3AD203B41FA5}">
                      <a16:colId xmlns:a16="http://schemas.microsoft.com/office/drawing/2014/main" val="20004"/>
                    </a:ext>
                  </a:extLst>
                </a:gridCol>
                <a:gridCol w="1371800">
                  <a:extLst>
                    <a:ext uri="{9D8B030D-6E8A-4147-A177-3AD203B41FA5}">
                      <a16:colId xmlns:a16="http://schemas.microsoft.com/office/drawing/2014/main" val="20005"/>
                    </a:ext>
                  </a:extLst>
                </a:gridCol>
                <a:gridCol w="1266275">
                  <a:extLst>
                    <a:ext uri="{9D8B030D-6E8A-4147-A177-3AD203B41FA5}">
                      <a16:colId xmlns:a16="http://schemas.microsoft.com/office/drawing/2014/main" val="20006"/>
                    </a:ext>
                  </a:extLst>
                </a:gridCol>
              </a:tblGrid>
              <a:tr h="682725">
                <a:tc>
                  <a:txBody>
                    <a:bodyPr/>
                    <a:lstStyle/>
                    <a:p>
                      <a:pPr marL="0" marR="0" lvl="0" indent="0" algn="l"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Nhóm</a:t>
                      </a:r>
                      <a:endParaRPr sz="1400" u="none" strike="noStrike" cap="none">
                        <a:latin typeface="Arial"/>
                        <a:ea typeface="Arial"/>
                        <a:cs typeface="Arial"/>
                        <a:sym typeface="Arial"/>
                      </a:endParaRPr>
                    </a:p>
                  </a:txBody>
                  <a:tcPr marL="114300" marR="114300" marT="88900" marB="88900">
                    <a:lnL w="12700" cap="flat" cmpd="sng">
                      <a:solidFill>
                        <a:srgbClr val="C4C3BE"/>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l"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Khuyến nghị</a:t>
                      </a:r>
                      <a:endParaRPr sz="1400" u="none" strike="noStrike" cap="none">
                        <a:latin typeface="Arial"/>
                        <a:ea typeface="Arial"/>
                        <a:cs typeface="Arial"/>
                        <a:sym typeface="Arial"/>
                      </a:endParaRPr>
                    </a:p>
                  </a:txBody>
                  <a:tcPr marL="114300" marR="114300" marT="88900" marB="889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l"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Mạnh nhất (WSPL)</a:t>
                      </a:r>
                      <a:endParaRPr sz="1400" u="none" strike="noStrike" cap="none">
                        <a:latin typeface="Arial"/>
                        <a:ea typeface="Arial"/>
                        <a:cs typeface="Arial"/>
                        <a:sym typeface="Arial"/>
                      </a:endParaRPr>
                    </a:p>
                  </a:txBody>
                  <a:tcPr marL="114300" marR="114300" marT="88900" marB="889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l"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Kết luận</a:t>
                      </a:r>
                      <a:endParaRPr sz="1400" u="none" strike="noStrike" cap="none">
                        <a:latin typeface="Arial"/>
                        <a:ea typeface="Arial"/>
                        <a:cs typeface="Arial"/>
                        <a:sym typeface="Arial"/>
                      </a:endParaRPr>
                    </a:p>
                  </a:txBody>
                  <a:tcPr marL="114300" marR="114300" marT="88900" marB="889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r"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Chênh á quân</a:t>
                      </a:r>
                      <a:endParaRPr sz="1400" u="none" strike="noStrike" cap="none">
                        <a:latin typeface="Arial"/>
                        <a:ea typeface="Arial"/>
                        <a:cs typeface="Arial"/>
                        <a:sym typeface="Arial"/>
                      </a:endParaRPr>
                    </a:p>
                  </a:txBody>
                  <a:tcPr marL="114300" marR="114300" marT="88900" marB="889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r"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p (DM, Holm)</a:t>
                      </a:r>
                      <a:endParaRPr sz="1400" u="none" strike="noStrike" cap="none">
                        <a:latin typeface="Arial"/>
                        <a:ea typeface="Arial"/>
                        <a:cs typeface="Arial"/>
                        <a:sym typeface="Arial"/>
                      </a:endParaRPr>
                    </a:p>
                  </a:txBody>
                  <a:tcPr marL="114300" marR="114300" marT="88900" marB="889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tc>
                  <a:txBody>
                    <a:bodyPr/>
                    <a:lstStyle/>
                    <a:p>
                      <a:pPr marL="0" marR="0" lvl="0" indent="0" algn="r" rtl="0">
                        <a:lnSpc>
                          <a:spcPct val="140000"/>
                        </a:lnSpc>
                        <a:spcBef>
                          <a:spcPts val="0"/>
                        </a:spcBef>
                        <a:spcAft>
                          <a:spcPts val="0"/>
                        </a:spcAft>
                        <a:buClr>
                          <a:srgbClr val="F3F0E8"/>
                        </a:buClr>
                        <a:buSzPts val="1400"/>
                        <a:buFont typeface="Arial"/>
                        <a:buNone/>
                      </a:pPr>
                      <a:r>
                        <a:rPr lang="en-US" sz="1400" b="1" u="none" strike="noStrike" cap="none">
                          <a:solidFill>
                            <a:srgbClr val="F3F0E8"/>
                          </a:solidFill>
                          <a:latin typeface="Arial"/>
                          <a:ea typeface="Arial"/>
                          <a:cs typeface="Arial"/>
                          <a:sym typeface="Arial"/>
                        </a:rPr>
                        <a:t>Cov-95</a:t>
                      </a:r>
                      <a:endParaRPr sz="1400" u="none" strike="noStrike" cap="none">
                        <a:latin typeface="Arial"/>
                        <a:ea typeface="Arial"/>
                        <a:cs typeface="Arial"/>
                        <a:sym typeface="Arial"/>
                      </a:endParaRPr>
                    </a:p>
                  </a:txBody>
                  <a:tcPr marL="114300" marR="114300" marT="88900" marB="88900">
                    <a:lnL w="12700" cap="flat" cmpd="sng">
                      <a:solidFill>
                        <a:srgbClr val="19202C"/>
                      </a:solidFill>
                      <a:prstDash val="solid"/>
                      <a:round/>
                      <a:headEnd type="none" w="sm" len="sm"/>
                      <a:tailEnd type="none" w="sm" len="sm"/>
                    </a:lnL>
                    <a:lnR w="12700" cap="flat" cmpd="sng">
                      <a:solidFill>
                        <a:srgbClr val="19202C"/>
                      </a:solidFill>
                      <a:prstDash val="solid"/>
                      <a:round/>
                      <a:headEnd type="none" w="sm" len="sm"/>
                      <a:tailEnd type="none" w="sm" len="sm"/>
                    </a:lnR>
                    <a:lnT w="12700" cap="flat" cmpd="sng">
                      <a:solidFill>
                        <a:srgbClr val="C4C3BE"/>
                      </a:solidFill>
                      <a:prstDash val="solid"/>
                      <a:round/>
                      <a:headEnd type="none" w="sm" len="sm"/>
                      <a:tailEnd type="none" w="sm" len="sm"/>
                    </a:lnT>
                    <a:lnB w="12700" cap="flat" cmpd="sng">
                      <a:solidFill>
                        <a:srgbClr val="19202C"/>
                      </a:solidFill>
                      <a:prstDash val="solid"/>
                      <a:round/>
                      <a:headEnd type="none" w="sm" len="sm"/>
                      <a:tailEnd type="none" w="sm" len="sm"/>
                    </a:lnB>
                    <a:solidFill>
                      <a:srgbClr val="1B2433"/>
                    </a:solidFill>
                  </a:tcPr>
                </a:tc>
                <a:extLst>
                  <a:ext uri="{0D108BD9-81ED-4DB2-BD59-A6C34878D82A}">
                    <a16:rowId xmlns:a16="http://schemas.microsoft.com/office/drawing/2014/main" val="10000"/>
                  </a:ext>
                </a:extLst>
              </a:tr>
              <a:tr h="433800">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smooth</a:t>
                      </a:r>
                      <a:endParaRPr sz="1400" u="none" strike="noStrike" cap="none">
                        <a:latin typeface="Arial"/>
                        <a:ea typeface="Arial"/>
                        <a:cs typeface="Arial"/>
                        <a:sym typeface="Arial"/>
                      </a:endParaRPr>
                    </a:p>
                  </a:txBody>
                  <a:tcPr marL="114300" marR="114300" marT="88900" marB="88900">
                    <a:lnL w="12700" cap="flat" cmpd="sng">
                      <a:solidFill>
                        <a:srgbClr val="C4C3BE"/>
                      </a:solidFill>
                      <a:prstDash val="solid"/>
                      <a:round/>
                      <a:headEnd type="none" w="sm" len="sm"/>
                      <a:tailEnd type="none" w="sm" len="sm"/>
                    </a:lnL>
                    <a:lnR w="12700" cap="flat" cmpd="sng">
                      <a:solidFill>
                        <a:srgbClr val="C4B5AA"/>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4B5AA"/>
                      </a:solidFill>
                      <a:prstDash val="solid"/>
                      <a:round/>
                      <a:headEnd type="none" w="sm" len="sm"/>
                      <a:tailEnd type="none" w="sm" len="sm"/>
                    </a:lnB>
                    <a:solidFill>
                      <a:srgbClr val="F6E3D4"/>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LightGBM</a:t>
                      </a:r>
                      <a:endParaRPr sz="1400" u="none" strike="noStrike" cap="none">
                        <a:latin typeface="Arial"/>
                        <a:ea typeface="Arial"/>
                        <a:cs typeface="Arial"/>
                        <a:sym typeface="Arial"/>
                      </a:endParaRPr>
                    </a:p>
                  </a:txBody>
                  <a:tcPr marL="114300" marR="114300" marT="88900" marB="88900">
                    <a:lnL w="12700" cap="flat" cmpd="sng">
                      <a:solidFill>
                        <a:srgbClr val="C4B5AA"/>
                      </a:solidFill>
                      <a:prstDash val="solid"/>
                      <a:round/>
                      <a:headEnd type="none" w="sm" len="sm"/>
                      <a:tailEnd type="none" w="sm" len="sm"/>
                    </a:lnL>
                    <a:lnR w="12700" cap="flat" cmpd="sng">
                      <a:solidFill>
                        <a:srgbClr val="C4B5AA"/>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4B5AA"/>
                      </a:solidFill>
                      <a:prstDash val="solid"/>
                      <a:round/>
                      <a:headEnd type="none" w="sm" len="sm"/>
                      <a:tailEnd type="none" w="sm" len="sm"/>
                    </a:lnB>
                    <a:solidFill>
                      <a:srgbClr val="F6E3D4"/>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lgbm</a:t>
                      </a:r>
                      <a:endParaRPr sz="1400" u="none" strike="noStrike" cap="none">
                        <a:latin typeface="Arial"/>
                        <a:ea typeface="Arial"/>
                        <a:cs typeface="Arial"/>
                        <a:sym typeface="Arial"/>
                      </a:endParaRPr>
                    </a:p>
                  </a:txBody>
                  <a:tcPr marL="114300" marR="114300" marT="88900" marB="88900">
                    <a:lnL w="12700" cap="flat" cmpd="sng">
                      <a:solidFill>
                        <a:srgbClr val="C4B5AA"/>
                      </a:solidFill>
                      <a:prstDash val="solid"/>
                      <a:round/>
                      <a:headEnd type="none" w="sm" len="sm"/>
                      <a:tailEnd type="none" w="sm" len="sm"/>
                    </a:lnL>
                    <a:lnR w="12700" cap="flat" cmpd="sng">
                      <a:solidFill>
                        <a:srgbClr val="C4B5AA"/>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4B5AA"/>
                      </a:solidFill>
                      <a:prstDash val="solid"/>
                      <a:round/>
                      <a:headEnd type="none" w="sm" len="sm"/>
                      <a:tailEnd type="none" w="sm" len="sm"/>
                    </a:lnB>
                    <a:solidFill>
                      <a:srgbClr val="F6E3D4"/>
                    </a:solidFill>
                  </a:tcPr>
                </a:tc>
                <a:tc>
                  <a:txBody>
                    <a:bodyPr/>
                    <a:lstStyle/>
                    <a:p>
                      <a:pPr marL="0" marR="0" lvl="0" indent="0" algn="l" rtl="0">
                        <a:lnSpc>
                          <a:spcPct val="140000"/>
                        </a:lnSpc>
                        <a:spcBef>
                          <a:spcPts val="0"/>
                        </a:spcBef>
                        <a:spcAft>
                          <a:spcPts val="0"/>
                        </a:spcAft>
                        <a:buClr>
                          <a:srgbClr val="A9521F"/>
                        </a:buClr>
                        <a:buSzPts val="1400"/>
                        <a:buFont typeface="Arial"/>
                        <a:buNone/>
                      </a:pPr>
                      <a:r>
                        <a:rPr lang="en-US" sz="1400" u="none" strike="noStrike" cap="none">
                          <a:solidFill>
                            <a:srgbClr val="A9521F"/>
                          </a:solidFill>
                          <a:latin typeface="Arial"/>
                          <a:ea typeface="Arial"/>
                          <a:cs typeface="Arial"/>
                          <a:sym typeface="Arial"/>
                        </a:rPr>
                        <a:t>t</a:t>
                      </a:r>
                      <a:r>
                        <a:rPr lang="en-US">
                          <a:solidFill>
                            <a:srgbClr val="A9521F"/>
                          </a:solidFill>
                        </a:rPr>
                        <a:t>ốt nhất</a:t>
                      </a:r>
                      <a:endParaRPr sz="1400" u="none" strike="noStrike" cap="none">
                        <a:latin typeface="Arial"/>
                        <a:ea typeface="Arial"/>
                        <a:cs typeface="Arial"/>
                        <a:sym typeface="Arial"/>
                      </a:endParaRPr>
                    </a:p>
                  </a:txBody>
                  <a:tcPr marL="114300" marR="114300" marT="88900" marB="88900">
                    <a:lnL w="12700" cap="flat" cmpd="sng">
                      <a:solidFill>
                        <a:srgbClr val="C4B5AA"/>
                      </a:solidFill>
                      <a:prstDash val="solid"/>
                      <a:round/>
                      <a:headEnd type="none" w="sm" len="sm"/>
                      <a:tailEnd type="none" w="sm" len="sm"/>
                    </a:lnL>
                    <a:lnR w="12700" cap="flat" cmpd="sng">
                      <a:solidFill>
                        <a:srgbClr val="C4B5AA"/>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4B5AA"/>
                      </a:solidFill>
                      <a:prstDash val="solid"/>
                      <a:round/>
                      <a:headEnd type="none" w="sm" len="sm"/>
                      <a:tailEnd type="none" w="sm" len="sm"/>
                    </a:lnB>
                    <a:solidFill>
                      <a:srgbClr val="F6E3D4"/>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+4,9%</a:t>
                      </a:r>
                      <a:endParaRPr sz="1400" u="none" strike="noStrike" cap="none">
                        <a:latin typeface="Arial"/>
                        <a:ea typeface="Arial"/>
                        <a:cs typeface="Arial"/>
                        <a:sym typeface="Arial"/>
                      </a:endParaRPr>
                    </a:p>
                  </a:txBody>
                  <a:tcPr marL="114300" marR="114300" marT="88900" marB="88900">
                    <a:lnL w="12700" cap="flat" cmpd="sng">
                      <a:solidFill>
                        <a:srgbClr val="C4B5AA"/>
                      </a:solidFill>
                      <a:prstDash val="solid"/>
                      <a:round/>
                      <a:headEnd type="none" w="sm" len="sm"/>
                      <a:tailEnd type="none" w="sm" len="sm"/>
                    </a:lnL>
                    <a:lnR w="12700" cap="flat" cmpd="sng">
                      <a:solidFill>
                        <a:srgbClr val="C4B5AA"/>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4B5AA"/>
                      </a:solidFill>
                      <a:prstDash val="solid"/>
                      <a:round/>
                      <a:headEnd type="none" w="sm" len="sm"/>
                      <a:tailEnd type="none" w="sm" len="sm"/>
                    </a:lnB>
                    <a:solidFill>
                      <a:srgbClr val="F6E3D4"/>
                    </a:solidFill>
                  </a:tcPr>
                </a:tc>
                <a:tc>
                  <a:txBody>
                    <a:bodyPr/>
                    <a:lstStyle/>
                    <a:p>
                      <a:pPr marL="0" marR="0" lvl="0" indent="0" algn="r" rtl="0">
                        <a:lnSpc>
                          <a:spcPct val="140000"/>
                        </a:lnSpc>
                        <a:spcBef>
                          <a:spcPts val="0"/>
                        </a:spcBef>
                        <a:spcAft>
                          <a:spcPts val="0"/>
                        </a:spcAft>
                        <a:buClr>
                          <a:srgbClr val="A9521F"/>
                        </a:buClr>
                        <a:buSzPts val="1400"/>
                        <a:buFont typeface="Arial"/>
                        <a:buNone/>
                      </a:pPr>
                      <a:r>
                        <a:rPr lang="en-US" sz="1400" u="none" strike="noStrike" cap="none">
                          <a:solidFill>
                            <a:srgbClr val="A9521F"/>
                          </a:solidFill>
                          <a:latin typeface="Arial"/>
                          <a:ea typeface="Arial"/>
                          <a:cs typeface="Arial"/>
                          <a:sym typeface="Arial"/>
                        </a:rPr>
                        <a:t>0,007</a:t>
                      </a:r>
                      <a:endParaRPr sz="1400" u="none" strike="noStrike" cap="none">
                        <a:latin typeface="Arial"/>
                        <a:ea typeface="Arial"/>
                        <a:cs typeface="Arial"/>
                        <a:sym typeface="Arial"/>
                      </a:endParaRPr>
                    </a:p>
                  </a:txBody>
                  <a:tcPr marL="114300" marR="114300" marT="88900" marB="88900">
                    <a:lnL w="12700" cap="flat" cmpd="sng">
                      <a:solidFill>
                        <a:srgbClr val="C4B5AA"/>
                      </a:solidFill>
                      <a:prstDash val="solid"/>
                      <a:round/>
                      <a:headEnd type="none" w="sm" len="sm"/>
                      <a:tailEnd type="none" w="sm" len="sm"/>
                    </a:lnL>
                    <a:lnR w="12700" cap="flat" cmpd="sng">
                      <a:solidFill>
                        <a:srgbClr val="C4B5AA"/>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4B5AA"/>
                      </a:solidFill>
                      <a:prstDash val="solid"/>
                      <a:round/>
                      <a:headEnd type="none" w="sm" len="sm"/>
                      <a:tailEnd type="none" w="sm" len="sm"/>
                    </a:lnB>
                    <a:solidFill>
                      <a:srgbClr val="F6E3D4"/>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0,974</a:t>
                      </a:r>
                      <a:endParaRPr sz="1400" u="none" strike="noStrike" cap="none">
                        <a:latin typeface="Arial"/>
                        <a:ea typeface="Arial"/>
                        <a:cs typeface="Arial"/>
                        <a:sym typeface="Arial"/>
                      </a:endParaRPr>
                    </a:p>
                  </a:txBody>
                  <a:tcPr marL="114300" marR="114300" marT="88900" marB="88900">
                    <a:lnL w="12700" cap="flat" cmpd="sng">
                      <a:solidFill>
                        <a:srgbClr val="C4B5AA"/>
                      </a:solidFill>
                      <a:prstDash val="solid"/>
                      <a:round/>
                      <a:headEnd type="none" w="sm" len="sm"/>
                      <a:tailEnd type="none" w="sm" len="sm"/>
                    </a:lnL>
                    <a:lnR w="12700" cap="flat" cmpd="sng">
                      <a:solidFill>
                        <a:srgbClr val="C4B5AA"/>
                      </a:solidFill>
                      <a:prstDash val="solid"/>
                      <a:round/>
                      <a:headEnd type="none" w="sm" len="sm"/>
                      <a:tailEnd type="none" w="sm" len="sm"/>
                    </a:lnR>
                    <a:lnT w="12700" cap="flat" cmpd="sng">
                      <a:solidFill>
                        <a:srgbClr val="19202C"/>
                      </a:solidFill>
                      <a:prstDash val="solid"/>
                      <a:round/>
                      <a:headEnd type="none" w="sm" len="sm"/>
                      <a:tailEnd type="none" w="sm" len="sm"/>
                    </a:lnT>
                    <a:lnB w="12700" cap="flat" cmpd="sng">
                      <a:solidFill>
                        <a:srgbClr val="C4B5AA"/>
                      </a:solidFill>
                      <a:prstDash val="solid"/>
                      <a:round/>
                      <a:headEnd type="none" w="sm" len="sm"/>
                      <a:tailEnd type="none" w="sm" len="sm"/>
                    </a:lnB>
                    <a:solidFill>
                      <a:srgbClr val="F6E3D4"/>
                    </a:solidFill>
                  </a:tcPr>
                </a:tc>
                <a:extLst>
                  <a:ext uri="{0D108BD9-81ED-4DB2-BD59-A6C34878D82A}">
                    <a16:rowId xmlns:a16="http://schemas.microsoft.com/office/drawing/2014/main" val="10001"/>
                  </a:ext>
                </a:extLst>
              </a:tr>
              <a:tr h="433800">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erratic</a:t>
                      </a:r>
                      <a:endParaRPr sz="1400" u="none" strike="noStrike" cap="none">
                        <a:latin typeface="Arial"/>
                        <a:ea typeface="Arial"/>
                        <a:cs typeface="Arial"/>
                        <a:sym typeface="Arial"/>
                      </a:endParaRPr>
                    </a:p>
                  </a:txBody>
                  <a:tcPr marL="114300" marR="114300" marT="88900" marB="88900">
                    <a:lnL w="12700" cap="flat" cmpd="sng">
                      <a:solidFill>
                        <a:srgbClr val="C4C3BE"/>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4B5AA"/>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SeasonalNaive</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4B5AA"/>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moirai_2</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4B5AA"/>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tương đương</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4B5AA"/>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+3,1%</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4B5AA"/>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0,418</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4B5AA"/>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0,973</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4B5AA"/>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extLst>
                  <a:ext uri="{0D108BD9-81ED-4DB2-BD59-A6C34878D82A}">
                    <a16:rowId xmlns:a16="http://schemas.microsoft.com/office/drawing/2014/main" val="10002"/>
                  </a:ext>
                </a:extLst>
              </a:tr>
              <a:tr h="433800">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intermittent</a:t>
                      </a:r>
                      <a:endParaRPr sz="1400" u="none" strike="noStrike" cap="none">
                        <a:latin typeface="Arial"/>
                        <a:ea typeface="Arial"/>
                        <a:cs typeface="Arial"/>
                        <a:sym typeface="Arial"/>
                      </a:endParaRPr>
                    </a:p>
                  </a:txBody>
                  <a:tcPr marL="114300" marR="114300" marT="88900" marB="88900">
                    <a:lnL w="12700" cap="flat" cmpd="sng">
                      <a:solidFill>
                        <a:srgbClr val="C4C3BE"/>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Croston</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lgbm</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tương đương</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+9,4%</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0,163</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0,987</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extLst>
                  <a:ext uri="{0D108BD9-81ED-4DB2-BD59-A6C34878D82A}">
                    <a16:rowId xmlns:a16="http://schemas.microsoft.com/office/drawing/2014/main" val="10003"/>
                  </a:ext>
                </a:extLst>
              </a:tr>
              <a:tr h="433800">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lumpy</a:t>
                      </a:r>
                      <a:endParaRPr sz="1400" u="none" strike="noStrike" cap="none">
                        <a:latin typeface="Arial"/>
                        <a:ea typeface="Arial"/>
                        <a:cs typeface="Arial"/>
                        <a:sym typeface="Arial"/>
                      </a:endParaRPr>
                    </a:p>
                  </a:txBody>
                  <a:tcPr marL="114300" marR="114300" marT="88900" marB="88900">
                    <a:lnL w="12700" cap="flat" cmpd="sng">
                      <a:solidFill>
                        <a:srgbClr val="C4C3BE"/>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LightGBM</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lgbm</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l"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tương đương</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+2,2%</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0,302</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tc>
                  <a:txBody>
                    <a:bodyPr/>
                    <a:lstStyle/>
                    <a:p>
                      <a:pPr marL="0" marR="0" lvl="0" indent="0" algn="r" rtl="0">
                        <a:lnSpc>
                          <a:spcPct val="140000"/>
                        </a:lnSpc>
                        <a:spcBef>
                          <a:spcPts val="0"/>
                        </a:spcBef>
                        <a:spcAft>
                          <a:spcPts val="0"/>
                        </a:spcAft>
                        <a:buClr>
                          <a:srgbClr val="1B2433"/>
                        </a:buClr>
                        <a:buSzPts val="1400"/>
                        <a:buFont typeface="Arial"/>
                        <a:buNone/>
                      </a:pPr>
                      <a:r>
                        <a:rPr lang="en-US" sz="1400" u="none" strike="noStrike" cap="none">
                          <a:solidFill>
                            <a:srgbClr val="1B2433"/>
                          </a:solidFill>
                          <a:latin typeface="Arial"/>
                          <a:ea typeface="Arial"/>
                          <a:cs typeface="Arial"/>
                          <a:sym typeface="Arial"/>
                        </a:rPr>
                        <a:t>0,972</a:t>
                      </a:r>
                      <a:endParaRPr sz="1400" u="none" strike="noStrike" cap="none">
                        <a:latin typeface="Arial"/>
                        <a:ea typeface="Arial"/>
                        <a:cs typeface="Arial"/>
                        <a:sym typeface="Arial"/>
                      </a:endParaRPr>
                    </a:p>
                  </a:txBody>
                  <a:tcPr marL="114300" marR="114300" marT="88900" marB="88900">
                    <a:lnL w="12700" cap="flat" cmpd="sng">
                      <a:solidFill>
                        <a:srgbClr val="CAC9C6"/>
                      </a:solidFill>
                      <a:prstDash val="solid"/>
                      <a:round/>
                      <a:headEnd type="none" w="sm" len="sm"/>
                      <a:tailEnd type="none" w="sm" len="sm"/>
                    </a:lnL>
                    <a:lnR w="12700" cap="flat" cmpd="sng">
                      <a:solidFill>
                        <a:srgbClr val="CAC9C6"/>
                      </a:solidFill>
                      <a:prstDash val="solid"/>
                      <a:round/>
                      <a:headEnd type="none" w="sm" len="sm"/>
                      <a:tailEnd type="none" w="sm" len="sm"/>
                    </a:lnR>
                    <a:lnT w="12700" cap="flat" cmpd="sng">
                      <a:solidFill>
                        <a:srgbClr val="CAC9C6"/>
                      </a:solidFill>
                      <a:prstDash val="solid"/>
                      <a:round/>
                      <a:headEnd type="none" w="sm" len="sm"/>
                      <a:tailEnd type="none" w="sm" len="sm"/>
                    </a:lnT>
                    <a:lnB w="12700" cap="flat" cmpd="sng">
                      <a:solidFill>
                        <a:srgbClr val="CAC9C6"/>
                      </a:solidFill>
                      <a:prstDash val="solid"/>
                      <a:round/>
                      <a:headEnd type="none" w="sm" len="sm"/>
                      <a:tailEnd type="none" w="sm" len="sm"/>
                    </a:lnB>
                    <a:solidFill>
                      <a:srgbClr val="FDFCF9"/>
                    </a:solidFill>
                  </a:tcPr>
                </a:tc>
                <a:extLst>
                  <a:ext uri="{0D108BD9-81ED-4DB2-BD59-A6C34878D82A}">
                    <a16:rowId xmlns:a16="http://schemas.microsoft.com/office/drawing/2014/main" val="10004"/>
                  </a:ext>
                </a:extLst>
              </a:tr>
            </a:tbl>
          </a:graphicData>
        </a:graphic>
      </p:graphicFrame>
      <p:sp>
        <p:nvSpPr>
          <p:cNvPr id="308" name="Google Shape;308;p9"/>
          <p:cNvSpPr/>
          <p:nvPr/>
        </p:nvSpPr>
        <p:spPr>
          <a:xfrm>
            <a:off x="815975" y="4454630"/>
            <a:ext cx="5175250" cy="1039072"/>
          </a:xfrm>
          <a:prstGeom prst="roundRect">
            <a:avLst>
              <a:gd name="adj" fmla="val 9472"/>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9"/>
          <p:cNvSpPr/>
          <p:nvPr/>
        </p:nvSpPr>
        <p:spPr>
          <a:xfrm>
            <a:off x="1023091" y="4610950"/>
            <a:ext cx="4903849"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Cách đọc hai cột mô hình</a:t>
            </a:r>
            <a:endParaRPr sz="1400" b="0" i="0" u="none" strike="noStrike" cap="none">
              <a:solidFill>
                <a:schemeClr val="dk1"/>
              </a:solidFill>
              <a:latin typeface="Arial"/>
              <a:ea typeface="Arial"/>
              <a:cs typeface="Arial"/>
              <a:sym typeface="Arial"/>
            </a:endParaRPr>
          </a:p>
        </p:txBody>
      </p:sp>
      <p:sp>
        <p:nvSpPr>
          <p:cNvPr id="310" name="Google Shape;310;p9"/>
          <p:cNvSpPr/>
          <p:nvPr/>
        </p:nvSpPr>
        <p:spPr>
          <a:xfrm>
            <a:off x="1023091" y="4910665"/>
            <a:ext cx="4903849"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Cột Mạnh nhất là mô hình có WSPL thấp nhất. Cột Khuyến nghị là mô hình rẻ nhất trong nhóm tương đương, theo luật ở slide 7.</a:t>
            </a:r>
            <a:endParaRPr sz="1200" b="0" i="0" u="none" strike="noStrike" cap="none">
              <a:solidFill>
                <a:schemeClr val="dk1"/>
              </a:solidFill>
              <a:latin typeface="Arial"/>
              <a:ea typeface="Arial"/>
              <a:cs typeface="Arial"/>
              <a:sym typeface="Arial"/>
            </a:endParaRPr>
          </a:p>
        </p:txBody>
      </p:sp>
      <p:sp>
        <p:nvSpPr>
          <p:cNvPr id="311" name="Google Shape;311;p9"/>
          <p:cNvSpPr/>
          <p:nvPr/>
        </p:nvSpPr>
        <p:spPr>
          <a:xfrm>
            <a:off x="6200775" y="4454630"/>
            <a:ext cx="5175250" cy="1039072"/>
          </a:xfrm>
          <a:prstGeom prst="roundRect">
            <a:avLst>
              <a:gd name="adj" fmla="val 9472"/>
            </a:avLst>
          </a:prstGeom>
          <a:solidFill>
            <a:srgbClr val="DCE5EE"/>
          </a:solidFill>
          <a:ln w="9525" cap="flat" cmpd="sng">
            <a:solidFill>
              <a:srgbClr val="2A62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a:off x="6407891" y="4610950"/>
            <a:ext cx="4903849" cy="2743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400"/>
              <a:buFont typeface="Arial"/>
              <a:buNone/>
            </a:pPr>
            <a:r>
              <a:rPr lang="en-US" sz="1400" b="1" i="0" u="none" strike="noStrike" cap="none">
                <a:solidFill>
                  <a:srgbClr val="1B2433"/>
                </a:solidFill>
                <a:latin typeface="Arial"/>
                <a:ea typeface="Arial"/>
                <a:cs typeface="Arial"/>
                <a:sym typeface="Arial"/>
              </a:rPr>
              <a:t>Ba nhóm còn lại có p lớn hơn nhiều so với 0,05</a:t>
            </a:r>
            <a:endParaRPr sz="1400" b="0" i="0" u="none" strike="noStrike" cap="none">
              <a:solidFill>
                <a:schemeClr val="dk1"/>
              </a:solidFill>
              <a:latin typeface="Arial"/>
              <a:ea typeface="Arial"/>
              <a:cs typeface="Arial"/>
              <a:sym typeface="Arial"/>
            </a:endParaRPr>
          </a:p>
        </p:txBody>
      </p:sp>
      <p:sp>
        <p:nvSpPr>
          <p:cNvPr id="313" name="Google Shape;313;p9"/>
          <p:cNvSpPr/>
          <p:nvPr/>
        </p:nvSpPr>
        <p:spPr>
          <a:xfrm>
            <a:off x="6407891" y="4910665"/>
            <a:ext cx="4903849"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Mỗi nhóm có từ 2 đến 7 mô hình ngang hàng, nên ưu tiên mô hình đơn giản và rẻ.</a:t>
            </a:r>
            <a:endParaRPr sz="1200" b="0" i="0" u="none" strike="noStrike" cap="none">
              <a:solidFill>
                <a:schemeClr val="dk1"/>
              </a:solidFill>
              <a:latin typeface="Arial"/>
              <a:ea typeface="Arial"/>
              <a:cs typeface="Arial"/>
              <a:sym typeface="Arial"/>
            </a:endParaRPr>
          </a:p>
        </p:txBody>
      </p:sp>
      <p:sp>
        <p:nvSpPr>
          <p:cNvPr id="314" name="Google Shape;314;p9"/>
          <p:cNvSpPr/>
          <p:nvPr/>
        </p:nvSpPr>
        <p:spPr>
          <a:xfrm>
            <a:off x="812800" y="6238242"/>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315" name="Google Shape;315;p9"/>
          <p:cNvSpPr/>
          <p:nvPr/>
        </p:nvSpPr>
        <p:spPr>
          <a:xfrm>
            <a:off x="11243628" y="6238242"/>
            <a:ext cx="135573"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9</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Shape 320"/>
        <p:cNvGrpSpPr/>
        <p:nvPr/>
      </p:nvGrpSpPr>
      <p:grpSpPr>
        <a:xfrm>
          <a:off x="0" y="0"/>
          <a:ext cx="0" cy="0"/>
          <a:chOff x="0" y="0"/>
          <a:chExt cx="0" cy="0"/>
        </a:xfrm>
      </p:grpSpPr>
      <p:sp>
        <p:nvSpPr>
          <p:cNvPr id="321" name="Google Shape;321;p10"/>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KẾT QUẢ</a:t>
            </a:r>
            <a:endParaRPr sz="1200" b="0" i="0" u="none" strike="noStrike" cap="none">
              <a:solidFill>
                <a:schemeClr val="dk1"/>
              </a:solidFill>
              <a:latin typeface="Arial"/>
              <a:ea typeface="Arial"/>
              <a:cs typeface="Arial"/>
              <a:sym typeface="Arial"/>
            </a:endParaRPr>
          </a:p>
        </p:txBody>
      </p:sp>
      <p:sp>
        <p:nvSpPr>
          <p:cNvPr id="322" name="Google Shape;322;p10"/>
          <p:cNvSpPr txBox="1">
            <a:spLocks noGrp="1"/>
          </p:cNvSpPr>
          <p:nvPr>
            <p:ph type="title"/>
          </p:nvPr>
        </p:nvSpPr>
        <p:spPr>
          <a:xfrm>
            <a:off x="812800" y="1102358"/>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Chi phí, kiểm soát rò rỉ và foundation model</a:t>
            </a:r>
            <a:endParaRPr sz="2800"/>
          </a:p>
        </p:txBody>
      </p:sp>
      <p:sp>
        <p:nvSpPr>
          <p:cNvPr id="323" name="Google Shape;323;p10"/>
          <p:cNvSpPr/>
          <p:nvPr/>
        </p:nvSpPr>
        <p:spPr>
          <a:xfrm>
            <a:off x="815975" y="1768475"/>
            <a:ext cx="3414183" cy="2791672"/>
          </a:xfrm>
          <a:prstGeom prst="roundRect">
            <a:avLst>
              <a:gd name="adj" fmla="val 3526"/>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0"/>
          <p:cNvSpPr/>
          <p:nvPr/>
        </p:nvSpPr>
        <p:spPr>
          <a:xfrm>
            <a:off x="1023091" y="1975588"/>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Thời gian chạy</a:t>
            </a:r>
            <a:endParaRPr sz="1200" b="0" i="0" u="none" strike="noStrike" cap="none">
              <a:solidFill>
                <a:schemeClr val="dk1"/>
              </a:solidFill>
              <a:latin typeface="Arial"/>
              <a:ea typeface="Arial"/>
              <a:cs typeface="Arial"/>
              <a:sym typeface="Arial"/>
            </a:endParaRPr>
          </a:p>
        </p:txBody>
      </p:sp>
      <p:sp>
        <p:nvSpPr>
          <p:cNvPr id="325" name="Google Shape;325;p10"/>
          <p:cNvSpPr/>
          <p:nvPr/>
        </p:nvSpPr>
        <p:spPr>
          <a:xfrm>
            <a:off x="1023091" y="2214352"/>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3 cửa sổ, 3.474 chuỗi</a:t>
            </a:r>
            <a:endParaRPr sz="1200" b="0" i="0" u="none" strike="noStrike" cap="none">
              <a:solidFill>
                <a:schemeClr val="dk1"/>
              </a:solidFill>
              <a:latin typeface="Arial"/>
              <a:ea typeface="Arial"/>
              <a:cs typeface="Arial"/>
              <a:sym typeface="Arial"/>
            </a:endParaRPr>
          </a:p>
        </p:txBody>
      </p:sp>
      <p:sp>
        <p:nvSpPr>
          <p:cNvPr id="326" name="Google Shape;326;p10"/>
          <p:cNvSpPr/>
          <p:nvPr/>
        </p:nvSpPr>
        <p:spPr>
          <a:xfrm>
            <a:off x="1023091" y="2529309"/>
            <a:ext cx="119380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LightGBM</a:t>
            </a:r>
            <a:endParaRPr sz="1200" b="0" i="0" u="none" strike="noStrike" cap="none">
              <a:solidFill>
                <a:schemeClr val="dk1"/>
              </a:solidFill>
              <a:latin typeface="Arial"/>
              <a:ea typeface="Arial"/>
              <a:cs typeface="Arial"/>
              <a:sym typeface="Arial"/>
            </a:endParaRPr>
          </a:p>
        </p:txBody>
      </p:sp>
      <p:sp>
        <p:nvSpPr>
          <p:cNvPr id="327" name="Google Shape;327;p10"/>
          <p:cNvSpPr/>
          <p:nvPr/>
        </p:nvSpPr>
        <p:spPr>
          <a:xfrm>
            <a:off x="2242291" y="2534388"/>
            <a:ext cx="825500" cy="203200"/>
          </a:xfrm>
          <a:custGeom>
            <a:avLst/>
            <a:gdLst/>
            <a:ahLst/>
            <a:cxnLst/>
            <a:rect l="l" t="t" r="r" b="b"/>
            <a:pathLst>
              <a:path w="825500" h="203200" extrusionOk="0">
                <a:moveTo>
                  <a:pt x="0" y="0"/>
                </a:moveTo>
                <a:lnTo>
                  <a:pt x="800100" y="0"/>
                </a:lnTo>
                <a:cubicBezTo>
                  <a:pt x="806836" y="0"/>
                  <a:pt x="813297" y="2676"/>
                  <a:pt x="818061" y="7439"/>
                </a:cubicBezTo>
                <a:cubicBezTo>
                  <a:pt x="822824" y="12203"/>
                  <a:pt x="825500" y="18664"/>
                  <a:pt x="825500" y="25400"/>
                </a:cubicBezTo>
                <a:lnTo>
                  <a:pt x="825500" y="177800"/>
                </a:lnTo>
                <a:cubicBezTo>
                  <a:pt x="825500" y="191828"/>
                  <a:pt x="814128" y="203200"/>
                  <a:pt x="800100" y="203200"/>
                </a:cubicBezTo>
                <a:lnTo>
                  <a:pt x="0" y="203200"/>
                </a:lnTo>
                <a:lnTo>
                  <a:pt x="0" y="0"/>
                </a:lnTo>
                <a:close/>
              </a:path>
            </a:pathLst>
          </a:custGeom>
          <a:solidFill>
            <a:srgbClr val="2A6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p:nvPr/>
        </p:nvSpPr>
        <p:spPr>
          <a:xfrm>
            <a:off x="3143991" y="2529309"/>
            <a:ext cx="71704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~1.240 s</a:t>
            </a:r>
            <a:endParaRPr sz="1200" b="0" i="0" u="none" strike="noStrike" cap="none">
              <a:solidFill>
                <a:schemeClr val="dk1"/>
              </a:solidFill>
              <a:latin typeface="Arial"/>
              <a:ea typeface="Arial"/>
              <a:cs typeface="Arial"/>
              <a:sym typeface="Arial"/>
            </a:endParaRPr>
          </a:p>
        </p:txBody>
      </p:sp>
      <p:sp>
        <p:nvSpPr>
          <p:cNvPr id="329" name="Google Shape;329;p10"/>
          <p:cNvSpPr/>
          <p:nvPr/>
        </p:nvSpPr>
        <p:spPr>
          <a:xfrm>
            <a:off x="1023091" y="2818873"/>
            <a:ext cx="119380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Chronos-Bolt</a:t>
            </a:r>
            <a:endParaRPr sz="1200" b="0" i="0" u="none" strike="noStrike" cap="none">
              <a:solidFill>
                <a:schemeClr val="dk1"/>
              </a:solidFill>
              <a:latin typeface="Arial"/>
              <a:ea typeface="Arial"/>
              <a:cs typeface="Arial"/>
              <a:sym typeface="Arial"/>
            </a:endParaRPr>
          </a:p>
        </p:txBody>
      </p:sp>
      <p:sp>
        <p:nvSpPr>
          <p:cNvPr id="330" name="Google Shape;330;p10"/>
          <p:cNvSpPr/>
          <p:nvPr/>
        </p:nvSpPr>
        <p:spPr>
          <a:xfrm>
            <a:off x="2242291" y="2823952"/>
            <a:ext cx="63500" cy="203200"/>
          </a:xfrm>
          <a:custGeom>
            <a:avLst/>
            <a:gdLst/>
            <a:ahLst/>
            <a:cxnLst/>
            <a:rect l="l" t="t" r="r" b="b"/>
            <a:pathLst>
              <a:path w="63500" h="203200" extrusionOk="0">
                <a:moveTo>
                  <a:pt x="0" y="0"/>
                </a:moveTo>
                <a:lnTo>
                  <a:pt x="38100" y="0"/>
                </a:lnTo>
                <a:cubicBezTo>
                  <a:pt x="44836" y="0"/>
                  <a:pt x="51297" y="2676"/>
                  <a:pt x="56061" y="7439"/>
                </a:cubicBezTo>
                <a:cubicBezTo>
                  <a:pt x="60824" y="12203"/>
                  <a:pt x="63500" y="18664"/>
                  <a:pt x="63500" y="25400"/>
                </a:cubicBezTo>
                <a:lnTo>
                  <a:pt x="63500" y="177800"/>
                </a:lnTo>
                <a:cubicBezTo>
                  <a:pt x="63500" y="191828"/>
                  <a:pt x="52128" y="203200"/>
                  <a:pt x="38100" y="203200"/>
                </a:cubicBezTo>
                <a:lnTo>
                  <a:pt x="0" y="203200"/>
                </a:lnTo>
                <a:lnTo>
                  <a:pt x="0" y="0"/>
                </a:lnTo>
                <a:close/>
              </a:path>
            </a:pathLst>
          </a:custGeom>
          <a:solidFill>
            <a:srgbClr val="2A6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0"/>
          <p:cNvSpPr/>
          <p:nvPr/>
        </p:nvSpPr>
        <p:spPr>
          <a:xfrm>
            <a:off x="2381991" y="2818873"/>
            <a:ext cx="462788"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~94 s</a:t>
            </a:r>
            <a:endParaRPr sz="1200" b="0" i="0" u="none" strike="noStrike" cap="none">
              <a:solidFill>
                <a:schemeClr val="dk1"/>
              </a:solidFill>
              <a:latin typeface="Arial"/>
              <a:ea typeface="Arial"/>
              <a:cs typeface="Arial"/>
              <a:sym typeface="Arial"/>
            </a:endParaRPr>
          </a:p>
        </p:txBody>
      </p:sp>
      <p:sp>
        <p:nvSpPr>
          <p:cNvPr id="332" name="Google Shape;332;p10"/>
          <p:cNvSpPr/>
          <p:nvPr/>
        </p:nvSpPr>
        <p:spPr>
          <a:xfrm>
            <a:off x="1023091" y="3108430"/>
            <a:ext cx="119380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Moirai-2</a:t>
            </a:r>
            <a:endParaRPr sz="1200" b="0" i="0" u="none" strike="noStrike" cap="none">
              <a:solidFill>
                <a:schemeClr val="dk1"/>
              </a:solidFill>
              <a:latin typeface="Arial"/>
              <a:ea typeface="Arial"/>
              <a:cs typeface="Arial"/>
              <a:sym typeface="Arial"/>
            </a:endParaRPr>
          </a:p>
        </p:txBody>
      </p:sp>
      <p:sp>
        <p:nvSpPr>
          <p:cNvPr id="333" name="Google Shape;333;p10"/>
          <p:cNvSpPr/>
          <p:nvPr/>
        </p:nvSpPr>
        <p:spPr>
          <a:xfrm>
            <a:off x="2242291" y="3113509"/>
            <a:ext cx="25400" cy="203200"/>
          </a:xfrm>
          <a:custGeom>
            <a:avLst/>
            <a:gdLst/>
            <a:ahLst/>
            <a:cxnLst/>
            <a:rect l="l" t="t" r="r" b="b"/>
            <a:pathLst>
              <a:path w="25400" h="203200" extrusionOk="0">
                <a:moveTo>
                  <a:pt x="0" y="0"/>
                </a:moveTo>
                <a:lnTo>
                  <a:pt x="0" y="0"/>
                </a:lnTo>
                <a:cubicBezTo>
                  <a:pt x="6736" y="0"/>
                  <a:pt x="13197" y="2676"/>
                  <a:pt x="17961" y="7439"/>
                </a:cubicBezTo>
                <a:cubicBezTo>
                  <a:pt x="22724" y="12203"/>
                  <a:pt x="25400" y="18664"/>
                  <a:pt x="25400" y="25400"/>
                </a:cubicBezTo>
                <a:lnTo>
                  <a:pt x="25400" y="177800"/>
                </a:lnTo>
                <a:cubicBezTo>
                  <a:pt x="25400" y="191828"/>
                  <a:pt x="14028" y="203200"/>
                  <a:pt x="0" y="203200"/>
                </a:cubicBezTo>
                <a:lnTo>
                  <a:pt x="0" y="203200"/>
                </a:lnTo>
                <a:lnTo>
                  <a:pt x="0" y="0"/>
                </a:lnTo>
                <a:close/>
              </a:path>
            </a:pathLst>
          </a:custGeom>
          <a:solidFill>
            <a:srgbClr val="2A6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0"/>
          <p:cNvSpPr/>
          <p:nvPr/>
        </p:nvSpPr>
        <p:spPr>
          <a:xfrm>
            <a:off x="2343891" y="3108430"/>
            <a:ext cx="462788"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~37 s</a:t>
            </a:r>
            <a:endParaRPr sz="1200" b="0" i="0" u="none" strike="noStrike" cap="none">
              <a:solidFill>
                <a:schemeClr val="dk1"/>
              </a:solidFill>
              <a:latin typeface="Arial"/>
              <a:ea typeface="Arial"/>
              <a:cs typeface="Arial"/>
              <a:sym typeface="Arial"/>
            </a:endParaRPr>
          </a:p>
        </p:txBody>
      </p:sp>
      <p:sp>
        <p:nvSpPr>
          <p:cNvPr id="335" name="Google Shape;335;p10"/>
          <p:cNvSpPr/>
          <p:nvPr/>
        </p:nvSpPr>
        <p:spPr>
          <a:xfrm>
            <a:off x="1023091" y="3397988"/>
            <a:ext cx="119380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TTM</a:t>
            </a:r>
            <a:endParaRPr sz="1200" b="0" i="0" u="none" strike="noStrike" cap="none">
              <a:solidFill>
                <a:schemeClr val="dk1"/>
              </a:solidFill>
              <a:latin typeface="Arial"/>
              <a:ea typeface="Arial"/>
              <a:cs typeface="Arial"/>
              <a:sym typeface="Arial"/>
            </a:endParaRPr>
          </a:p>
        </p:txBody>
      </p:sp>
      <p:sp>
        <p:nvSpPr>
          <p:cNvPr id="336" name="Google Shape;336;p10"/>
          <p:cNvSpPr/>
          <p:nvPr/>
        </p:nvSpPr>
        <p:spPr>
          <a:xfrm>
            <a:off x="2242291" y="3403073"/>
            <a:ext cx="12700" cy="203200"/>
          </a:xfrm>
          <a:prstGeom prst="rect">
            <a:avLst/>
          </a:prstGeom>
          <a:solidFill>
            <a:srgbClr val="2A6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0"/>
          <p:cNvSpPr/>
          <p:nvPr/>
        </p:nvSpPr>
        <p:spPr>
          <a:xfrm>
            <a:off x="2331191" y="3397988"/>
            <a:ext cx="361061"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1" i="0" u="none" strike="noStrike" cap="none">
                <a:solidFill>
                  <a:srgbClr val="1B2433"/>
                </a:solidFill>
                <a:latin typeface="Arial"/>
                <a:ea typeface="Arial"/>
                <a:cs typeface="Arial"/>
                <a:sym typeface="Arial"/>
              </a:rPr>
              <a:t>~8 s</a:t>
            </a:r>
            <a:endParaRPr sz="1200" b="0" i="0" u="none" strike="noStrike" cap="none">
              <a:solidFill>
                <a:schemeClr val="dk1"/>
              </a:solidFill>
              <a:latin typeface="Arial"/>
              <a:ea typeface="Arial"/>
              <a:cs typeface="Arial"/>
              <a:sym typeface="Arial"/>
            </a:endParaRPr>
          </a:p>
        </p:txBody>
      </p:sp>
      <p:sp>
        <p:nvSpPr>
          <p:cNvPr id="338" name="Google Shape;338;p10"/>
          <p:cNvSpPr/>
          <p:nvPr/>
        </p:nvSpPr>
        <p:spPr>
          <a:xfrm>
            <a:off x="1023091" y="3712952"/>
            <a:ext cx="3089950" cy="66548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LightGBM gồm cả huấn luyện 27 mô hình, foundation model chỉ suy luận. Mô hình cổ điển rẻ nhất.</a:t>
            </a:r>
            <a:endParaRPr sz="1200" b="0" i="0" u="none" strike="noStrike" cap="none">
              <a:solidFill>
                <a:schemeClr val="dk1"/>
              </a:solidFill>
              <a:latin typeface="Arial"/>
              <a:ea typeface="Arial"/>
              <a:cs typeface="Arial"/>
              <a:sym typeface="Arial"/>
            </a:endParaRPr>
          </a:p>
        </p:txBody>
      </p:sp>
      <p:sp>
        <p:nvSpPr>
          <p:cNvPr id="339" name="Google Shape;339;p10"/>
          <p:cNvSpPr/>
          <p:nvPr/>
        </p:nvSpPr>
        <p:spPr>
          <a:xfrm>
            <a:off x="4388908" y="1768475"/>
            <a:ext cx="3414183" cy="2791672"/>
          </a:xfrm>
          <a:prstGeom prst="roundRect">
            <a:avLst>
              <a:gd name="adj" fmla="val 3526"/>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0"/>
          <p:cNvSpPr/>
          <p:nvPr/>
        </p:nvSpPr>
        <p:spPr>
          <a:xfrm>
            <a:off x="4596024" y="1975588"/>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Kiểm soát rò rỉ</a:t>
            </a:r>
            <a:endParaRPr sz="1200" b="0" i="0" u="none" strike="noStrike" cap="none">
              <a:solidFill>
                <a:schemeClr val="dk1"/>
              </a:solidFill>
              <a:latin typeface="Arial"/>
              <a:ea typeface="Arial"/>
              <a:cs typeface="Arial"/>
              <a:sym typeface="Arial"/>
            </a:endParaRPr>
          </a:p>
        </p:txBody>
      </p:sp>
      <p:sp>
        <p:nvSpPr>
          <p:cNvPr id="341" name="Google Shape;341;p10"/>
          <p:cNvSpPr/>
          <p:nvPr/>
        </p:nvSpPr>
        <p:spPr>
          <a:xfrm>
            <a:off x="4596024" y="2290552"/>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LightGBM chỉ dùng lag từ 28 ngày trở lên, bằng đúng độ dài dự báo.</a:t>
            </a:r>
            <a:endParaRPr sz="1200" b="0" i="0" u="none" strike="noStrike" cap="none">
              <a:solidFill>
                <a:schemeClr val="dk1"/>
              </a:solidFill>
              <a:latin typeface="Arial"/>
              <a:ea typeface="Arial"/>
              <a:cs typeface="Arial"/>
              <a:sym typeface="Arial"/>
            </a:endParaRPr>
          </a:p>
        </p:txBody>
      </p:sp>
      <p:sp>
        <p:nvSpPr>
          <p:cNvPr id="342" name="Google Shape;342;p10"/>
          <p:cNvSpPr/>
          <p:nvPr/>
        </p:nvSpPr>
        <p:spPr>
          <a:xfrm>
            <a:off x="4596024" y="2818873"/>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Foundation model chỉ đọc dữ liệu đến hết tập train.</a:t>
            </a:r>
            <a:endParaRPr sz="1200" b="0" i="0" u="none" strike="noStrike" cap="none">
              <a:solidFill>
                <a:schemeClr val="dk1"/>
              </a:solidFill>
              <a:latin typeface="Arial"/>
              <a:ea typeface="Arial"/>
              <a:cs typeface="Arial"/>
              <a:sym typeface="Arial"/>
            </a:endParaRPr>
          </a:p>
        </p:txBody>
      </p:sp>
      <p:sp>
        <p:nvSpPr>
          <p:cNvPr id="343" name="Google Shape;343;p10"/>
          <p:cNvSpPr/>
          <p:nvPr/>
        </p:nvSpPr>
        <p:spPr>
          <a:xfrm>
            <a:off x="4596024" y="3347188"/>
            <a:ext cx="3089950" cy="66548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M5 nằm ngoài dữ liệu huấn luyện của Chronos và TTM, nên rủi ro rò rỉ từ khâu huấn luyện sẵn thấp.</a:t>
            </a:r>
            <a:endParaRPr sz="1200" b="0" i="0" u="none" strike="noStrike" cap="none">
              <a:solidFill>
                <a:schemeClr val="dk1"/>
              </a:solidFill>
              <a:latin typeface="Arial"/>
              <a:ea typeface="Arial"/>
              <a:cs typeface="Arial"/>
              <a:sym typeface="Arial"/>
            </a:endParaRPr>
          </a:p>
        </p:txBody>
      </p:sp>
      <p:sp>
        <p:nvSpPr>
          <p:cNvPr id="344" name="Google Shape;344;p10"/>
          <p:cNvSpPr/>
          <p:nvPr/>
        </p:nvSpPr>
        <p:spPr>
          <a:xfrm>
            <a:off x="7961842" y="1768475"/>
            <a:ext cx="3414183" cy="2791672"/>
          </a:xfrm>
          <a:prstGeom prst="roundRect">
            <a:avLst>
              <a:gd name="adj" fmla="val 3526"/>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0"/>
          <p:cNvSpPr/>
          <p:nvPr/>
        </p:nvSpPr>
        <p:spPr>
          <a:xfrm>
            <a:off x="8168957" y="1975588"/>
            <a:ext cx="308995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Foundation model</a:t>
            </a:r>
            <a:endParaRPr sz="1200" b="0" i="0" u="none" strike="noStrike" cap="none">
              <a:solidFill>
                <a:schemeClr val="dk1"/>
              </a:solidFill>
              <a:latin typeface="Arial"/>
              <a:ea typeface="Arial"/>
              <a:cs typeface="Arial"/>
              <a:sym typeface="Arial"/>
            </a:endParaRPr>
          </a:p>
        </p:txBody>
      </p:sp>
      <p:sp>
        <p:nvSpPr>
          <p:cNvPr id="346" name="Google Shape;346;p10"/>
          <p:cNvSpPr/>
          <p:nvPr/>
        </p:nvSpPr>
        <p:spPr>
          <a:xfrm>
            <a:off x="8168957" y="2290552"/>
            <a:ext cx="3089950" cy="41656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1B2433"/>
              </a:buClr>
              <a:buSzPts val="2800"/>
              <a:buFont typeface="Arial"/>
              <a:buNone/>
            </a:pPr>
            <a:r>
              <a:rPr lang="en-US" sz="2800" b="1" i="0" u="none" strike="noStrike" cap="none">
                <a:solidFill>
                  <a:srgbClr val="1B2433"/>
                </a:solidFill>
                <a:latin typeface="Arial"/>
                <a:ea typeface="Arial"/>
                <a:cs typeface="Arial"/>
                <a:sym typeface="Arial"/>
              </a:rPr>
              <a:t>p = 0,418</a:t>
            </a:r>
            <a:endParaRPr sz="2800" b="0" i="0" u="none" strike="noStrike" cap="none">
              <a:solidFill>
                <a:schemeClr val="dk1"/>
              </a:solidFill>
              <a:latin typeface="Arial"/>
              <a:ea typeface="Arial"/>
              <a:cs typeface="Arial"/>
              <a:sym typeface="Arial"/>
            </a:endParaRPr>
          </a:p>
        </p:txBody>
      </p:sp>
      <p:sp>
        <p:nvSpPr>
          <p:cNvPr id="347" name="Google Shape;347;p10"/>
          <p:cNvSpPr/>
          <p:nvPr/>
        </p:nvSpPr>
        <p:spPr>
          <a:xfrm>
            <a:off x="8168957" y="2783309"/>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Moirai-2 tốt nhất ở erratic nhưng chỉ hơn á quân 3,1%, không có ý nghĩa thống kê.</a:t>
            </a:r>
            <a:endParaRPr sz="1200" b="0" i="0" u="none" strike="noStrike" cap="none">
              <a:solidFill>
                <a:schemeClr val="dk1"/>
              </a:solidFill>
              <a:latin typeface="Arial"/>
              <a:ea typeface="Arial"/>
              <a:cs typeface="Arial"/>
              <a:sym typeface="Arial"/>
            </a:endParaRPr>
          </a:p>
        </p:txBody>
      </p:sp>
      <p:sp>
        <p:nvSpPr>
          <p:cNvPr id="348" name="Google Shape;348;p10"/>
          <p:cNvSpPr/>
          <p:nvPr/>
        </p:nvSpPr>
        <p:spPr>
          <a:xfrm>
            <a:off x="8168957" y="3311630"/>
            <a:ext cx="3089950"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Chưa đủ bằng chứng để ưu tiên foundation model zero-shot trên M5.</a:t>
            </a:r>
            <a:endParaRPr sz="1200" b="0" i="0" u="none" strike="noStrike" cap="none">
              <a:solidFill>
                <a:schemeClr val="dk1"/>
              </a:solidFill>
              <a:latin typeface="Arial"/>
              <a:ea typeface="Arial"/>
              <a:cs typeface="Arial"/>
              <a:sym typeface="Arial"/>
            </a:endParaRPr>
          </a:p>
        </p:txBody>
      </p:sp>
      <p:sp>
        <p:nvSpPr>
          <p:cNvPr id="349" name="Google Shape;349;p10"/>
          <p:cNvSpPr/>
          <p:nvPr/>
        </p:nvSpPr>
        <p:spPr>
          <a:xfrm>
            <a:off x="812800" y="4817325"/>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Hai feature quan trọng nhất của LightGBM là rmean_28 (khoảng 67%) và rstd_28 (khoảng 17%), tức mức bán và độ dao động trong 28 ngày gần nhất.</a:t>
            </a:r>
            <a:endParaRPr sz="1200" b="0" i="0" u="none" strike="noStrike" cap="none">
              <a:solidFill>
                <a:schemeClr val="dk1"/>
              </a:solidFill>
              <a:latin typeface="Arial"/>
              <a:ea typeface="Arial"/>
              <a:cs typeface="Arial"/>
              <a:sym typeface="Arial"/>
            </a:endParaRPr>
          </a:p>
        </p:txBody>
      </p:sp>
      <p:sp>
        <p:nvSpPr>
          <p:cNvPr id="350" name="Google Shape;350;p10"/>
          <p:cNvSpPr/>
          <p:nvPr/>
        </p:nvSpPr>
        <p:spPr>
          <a:xfrm>
            <a:off x="812800" y="6238242"/>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351" name="Google Shape;351;p10"/>
          <p:cNvSpPr/>
          <p:nvPr/>
        </p:nvSpPr>
        <p:spPr>
          <a:xfrm>
            <a:off x="11158855" y="6238242"/>
            <a:ext cx="220345"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10</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Shape 356"/>
        <p:cNvGrpSpPr/>
        <p:nvPr/>
      </p:nvGrpSpPr>
      <p:grpSpPr>
        <a:xfrm>
          <a:off x="0" y="0"/>
          <a:ext cx="0" cy="0"/>
          <a:chOff x="0" y="0"/>
          <a:chExt cx="0" cy="0"/>
        </a:xfrm>
      </p:grpSpPr>
      <p:sp>
        <p:nvSpPr>
          <p:cNvPr id="357" name="Google Shape;357;p11"/>
          <p:cNvSpPr/>
          <p:nvPr/>
        </p:nvSpPr>
        <p:spPr>
          <a:xfrm>
            <a:off x="812800" y="812800"/>
            <a:ext cx="10883392"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A62A8"/>
              </a:buClr>
              <a:buSzPts val="1200"/>
              <a:buFont typeface="Arial"/>
              <a:buNone/>
            </a:pPr>
            <a:r>
              <a:rPr lang="en-US" sz="1200" b="1" i="0" u="none" strike="noStrike" cap="none">
                <a:solidFill>
                  <a:srgbClr val="2A62A8"/>
                </a:solidFill>
                <a:latin typeface="Arial"/>
                <a:ea typeface="Arial"/>
                <a:cs typeface="Arial"/>
                <a:sym typeface="Arial"/>
              </a:rPr>
              <a:t>KẾT LUẬN</a:t>
            </a:r>
            <a:endParaRPr sz="1200" b="0" i="0" u="none" strike="noStrike" cap="none">
              <a:solidFill>
                <a:schemeClr val="dk1"/>
              </a:solidFill>
              <a:latin typeface="Arial"/>
              <a:ea typeface="Arial"/>
              <a:cs typeface="Arial"/>
              <a:sym typeface="Arial"/>
            </a:endParaRPr>
          </a:p>
        </p:txBody>
      </p:sp>
      <p:sp>
        <p:nvSpPr>
          <p:cNvPr id="358" name="Google Shape;358;p11"/>
          <p:cNvSpPr txBox="1">
            <a:spLocks noGrp="1"/>
          </p:cNvSpPr>
          <p:nvPr>
            <p:ph type="title"/>
          </p:nvPr>
        </p:nvSpPr>
        <p:spPr>
          <a:xfrm>
            <a:off x="812800" y="1102358"/>
            <a:ext cx="10883392" cy="43434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rgbClr val="1B2433"/>
              </a:buClr>
              <a:buSzPts val="2800"/>
              <a:buFont typeface="Arial"/>
              <a:buNone/>
            </a:pPr>
            <a:r>
              <a:rPr lang="en-US" sz="2800" b="1" i="0">
                <a:solidFill>
                  <a:srgbClr val="1B2433"/>
                </a:solidFill>
                <a:latin typeface="Arial"/>
                <a:ea typeface="Arial"/>
                <a:cs typeface="Arial"/>
                <a:sym typeface="Arial"/>
              </a:rPr>
              <a:t>Chọn mô hình theo nhóm nhu cầu</a:t>
            </a:r>
            <a:endParaRPr sz="2800"/>
          </a:p>
        </p:txBody>
      </p:sp>
      <p:sp>
        <p:nvSpPr>
          <p:cNvPr id="359" name="Google Shape;359;p11"/>
          <p:cNvSpPr/>
          <p:nvPr/>
        </p:nvSpPr>
        <p:spPr>
          <a:xfrm>
            <a:off x="819150" y="1720850"/>
            <a:ext cx="2514600" cy="1535642"/>
          </a:xfrm>
          <a:prstGeom prst="roundRect">
            <a:avLst>
              <a:gd name="adj" fmla="val 6203"/>
            </a:avLst>
          </a:prstGeom>
          <a:solidFill>
            <a:srgbClr val="FDFCF9"/>
          </a:solidFill>
          <a:ln w="12700" cap="flat" cmpd="sng">
            <a:solidFill>
              <a:srgbClr val="C866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1"/>
          <p:cNvSpPr/>
          <p:nvPr/>
        </p:nvSpPr>
        <p:spPr>
          <a:xfrm>
            <a:off x="1023091" y="18993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smooth</a:t>
            </a:r>
            <a:endParaRPr sz="1200" b="0" i="0" u="none" strike="noStrike" cap="none">
              <a:solidFill>
                <a:schemeClr val="dk1"/>
              </a:solidFill>
              <a:latin typeface="Arial"/>
              <a:ea typeface="Arial"/>
              <a:cs typeface="Arial"/>
              <a:sym typeface="Arial"/>
            </a:endParaRPr>
          </a:p>
        </p:txBody>
      </p:sp>
      <p:sp>
        <p:nvSpPr>
          <p:cNvPr id="361" name="Google Shape;361;p11"/>
          <p:cNvSpPr/>
          <p:nvPr/>
        </p:nvSpPr>
        <p:spPr>
          <a:xfrm>
            <a:off x="1023091" y="2188952"/>
            <a:ext cx="216992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LightGBM</a:t>
            </a:r>
            <a:endParaRPr sz="1700" b="0" i="0" u="none" strike="noStrike" cap="none">
              <a:solidFill>
                <a:schemeClr val="dk1"/>
              </a:solidFill>
              <a:latin typeface="Arial"/>
              <a:ea typeface="Arial"/>
              <a:cs typeface="Arial"/>
              <a:sym typeface="Arial"/>
            </a:endParaRPr>
          </a:p>
        </p:txBody>
      </p:sp>
      <p:sp>
        <p:nvSpPr>
          <p:cNvPr id="362" name="Google Shape;362;p11"/>
          <p:cNvSpPr/>
          <p:nvPr/>
        </p:nvSpPr>
        <p:spPr>
          <a:xfrm>
            <a:off x="1023091" y="2524230"/>
            <a:ext cx="1588135" cy="264160"/>
          </a:xfrm>
          <a:custGeom>
            <a:avLst/>
            <a:gdLst/>
            <a:ahLst/>
            <a:cxnLst/>
            <a:rect l="l" t="t" r="r" b="b"/>
            <a:pathLst>
              <a:path w="1588135" h="264160" extrusionOk="0">
                <a:moveTo>
                  <a:pt x="132080" y="0"/>
                </a:moveTo>
                <a:lnTo>
                  <a:pt x="1456055" y="0"/>
                </a:lnTo>
                <a:cubicBezTo>
                  <a:pt x="1491085" y="0"/>
                  <a:pt x="1524680" y="13916"/>
                  <a:pt x="1549450" y="38685"/>
                </a:cubicBezTo>
                <a:cubicBezTo>
                  <a:pt x="1574219" y="63455"/>
                  <a:pt x="1588135" y="97050"/>
                  <a:pt x="1588135" y="132080"/>
                </a:cubicBezTo>
                <a:lnTo>
                  <a:pt x="1588135" y="132080"/>
                </a:lnTo>
                <a:cubicBezTo>
                  <a:pt x="1588135" y="205026"/>
                  <a:pt x="1529001" y="264160"/>
                  <a:pt x="1456055" y="264160"/>
                </a:cubicBezTo>
                <a:lnTo>
                  <a:pt x="132080" y="264160"/>
                </a:lnTo>
                <a:cubicBezTo>
                  <a:pt x="59134" y="264160"/>
                  <a:pt x="0" y="205026"/>
                  <a:pt x="0" y="132080"/>
                </a:cubicBezTo>
                <a:lnTo>
                  <a:pt x="0" y="132080"/>
                </a:lnTo>
                <a:cubicBezTo>
                  <a:pt x="0" y="59134"/>
                  <a:pt x="59134" y="0"/>
                  <a:pt x="132080" y="0"/>
                </a:cubicBezTo>
                <a:close/>
              </a:path>
            </a:pathLst>
          </a:custGeom>
          <a:solidFill>
            <a:srgbClr val="F6E3D4"/>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A9521F"/>
              </a:buClr>
              <a:buSzPts val="1200"/>
              <a:buFont typeface="Arial"/>
              <a:buNone/>
            </a:pPr>
            <a:r>
              <a:rPr lang="en-US" sz="1200" b="1" i="0" u="none" strike="noStrike" cap="none">
                <a:solidFill>
                  <a:srgbClr val="A9521F"/>
                </a:solidFill>
                <a:latin typeface="Arial"/>
                <a:ea typeface="Arial"/>
                <a:cs typeface="Arial"/>
                <a:sym typeface="Arial"/>
              </a:rPr>
              <a:t>T</a:t>
            </a:r>
            <a:r>
              <a:rPr lang="en-US" sz="1200" b="1">
                <a:solidFill>
                  <a:srgbClr val="A9521F"/>
                </a:solidFill>
              </a:rPr>
              <a:t>ốt nhất</a:t>
            </a:r>
            <a:r>
              <a:rPr lang="en-US" sz="1200" b="1" i="0" u="none" strike="noStrike" cap="none">
                <a:solidFill>
                  <a:srgbClr val="A9521F"/>
                </a:solidFill>
                <a:latin typeface="Arial"/>
                <a:ea typeface="Arial"/>
                <a:cs typeface="Arial"/>
                <a:sym typeface="Arial"/>
              </a:rPr>
              <a:t>, p = 0,007</a:t>
            </a:r>
            <a:endParaRPr sz="1200" b="0" i="0" u="none" strike="noStrike" cap="none">
              <a:solidFill>
                <a:schemeClr val="dk1"/>
              </a:solidFill>
              <a:latin typeface="Arial"/>
              <a:ea typeface="Arial"/>
              <a:cs typeface="Arial"/>
              <a:sym typeface="Arial"/>
            </a:endParaRPr>
          </a:p>
        </p:txBody>
      </p:sp>
      <p:sp>
        <p:nvSpPr>
          <p:cNvPr id="363" name="Google Shape;363;p11"/>
          <p:cNvSpPr/>
          <p:nvPr/>
        </p:nvSpPr>
        <p:spPr>
          <a:xfrm>
            <a:off x="1023091" y="28645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Cũng là mô hình mạnh nhất</a:t>
            </a:r>
            <a:endParaRPr sz="1200" b="0" i="0" u="none" strike="noStrike" cap="none">
              <a:solidFill>
                <a:schemeClr val="dk1"/>
              </a:solidFill>
              <a:latin typeface="Arial"/>
              <a:ea typeface="Arial"/>
              <a:cs typeface="Arial"/>
              <a:sym typeface="Arial"/>
            </a:endParaRPr>
          </a:p>
        </p:txBody>
      </p:sp>
      <p:sp>
        <p:nvSpPr>
          <p:cNvPr id="364" name="Google Shape;364;p11"/>
          <p:cNvSpPr/>
          <p:nvPr/>
        </p:nvSpPr>
        <p:spPr>
          <a:xfrm>
            <a:off x="3495675" y="1717675"/>
            <a:ext cx="2520950" cy="1541992"/>
          </a:xfrm>
          <a:prstGeom prst="roundRect">
            <a:avLst>
              <a:gd name="adj" fmla="val 6383"/>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1"/>
          <p:cNvSpPr/>
          <p:nvPr/>
        </p:nvSpPr>
        <p:spPr>
          <a:xfrm>
            <a:off x="3702791" y="18993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erratic</a:t>
            </a:r>
            <a:endParaRPr sz="1200" b="0" i="0" u="none" strike="noStrike" cap="none">
              <a:solidFill>
                <a:schemeClr val="dk1"/>
              </a:solidFill>
              <a:latin typeface="Arial"/>
              <a:ea typeface="Arial"/>
              <a:cs typeface="Arial"/>
              <a:sym typeface="Arial"/>
            </a:endParaRPr>
          </a:p>
        </p:txBody>
      </p:sp>
      <p:sp>
        <p:nvSpPr>
          <p:cNvPr id="366" name="Google Shape;366;p11"/>
          <p:cNvSpPr/>
          <p:nvPr/>
        </p:nvSpPr>
        <p:spPr>
          <a:xfrm>
            <a:off x="3702791" y="2188952"/>
            <a:ext cx="216992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SeasonalNaive</a:t>
            </a:r>
            <a:endParaRPr sz="1700" b="0" i="0" u="none" strike="noStrike" cap="none">
              <a:solidFill>
                <a:schemeClr val="dk1"/>
              </a:solidFill>
              <a:latin typeface="Arial"/>
              <a:ea typeface="Arial"/>
              <a:cs typeface="Arial"/>
              <a:sym typeface="Arial"/>
            </a:endParaRPr>
          </a:p>
        </p:txBody>
      </p:sp>
      <p:sp>
        <p:nvSpPr>
          <p:cNvPr id="367" name="Google Shape;367;p11"/>
          <p:cNvSpPr/>
          <p:nvPr/>
        </p:nvSpPr>
        <p:spPr>
          <a:xfrm>
            <a:off x="3702791" y="2524230"/>
            <a:ext cx="1241848" cy="264160"/>
          </a:xfrm>
          <a:custGeom>
            <a:avLst/>
            <a:gdLst/>
            <a:ahLst/>
            <a:cxnLst/>
            <a:rect l="l" t="t" r="r" b="b"/>
            <a:pathLst>
              <a:path w="1241848" h="264160" extrusionOk="0">
                <a:moveTo>
                  <a:pt x="132080" y="0"/>
                </a:moveTo>
                <a:lnTo>
                  <a:pt x="1109768" y="0"/>
                </a:lnTo>
                <a:cubicBezTo>
                  <a:pt x="1144798" y="0"/>
                  <a:pt x="1178393" y="13916"/>
                  <a:pt x="1203163" y="38685"/>
                </a:cubicBezTo>
                <a:cubicBezTo>
                  <a:pt x="1227932" y="63455"/>
                  <a:pt x="1241848" y="97050"/>
                  <a:pt x="1241848" y="132080"/>
                </a:cubicBezTo>
                <a:lnTo>
                  <a:pt x="1241848" y="132080"/>
                </a:lnTo>
                <a:cubicBezTo>
                  <a:pt x="1241848" y="205026"/>
                  <a:pt x="1182714" y="264160"/>
                  <a:pt x="1109768" y="264160"/>
                </a:cubicBezTo>
                <a:lnTo>
                  <a:pt x="132080" y="264160"/>
                </a:lnTo>
                <a:cubicBezTo>
                  <a:pt x="59134" y="264160"/>
                  <a:pt x="0" y="205026"/>
                  <a:pt x="0" y="132080"/>
                </a:cubicBezTo>
                <a:lnTo>
                  <a:pt x="0" y="132080"/>
                </a:lnTo>
                <a:cubicBezTo>
                  <a:pt x="0" y="59134"/>
                  <a:pt x="59134" y="0"/>
                  <a:pt x="132080" y="0"/>
                </a:cubicBezTo>
                <a:close/>
              </a:path>
            </a:pathLst>
          </a:custGeom>
          <a:solidFill>
            <a:srgbClr val="DCE5EE"/>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24496F"/>
              </a:buClr>
              <a:buSzPts val="1200"/>
              <a:buFont typeface="Arial"/>
              <a:buNone/>
            </a:pPr>
            <a:r>
              <a:rPr lang="en-US" sz="1200" b="1" i="0" u="none" strike="noStrike" cap="none">
                <a:solidFill>
                  <a:srgbClr val="24496F"/>
                </a:solidFill>
                <a:latin typeface="Arial"/>
                <a:ea typeface="Arial"/>
                <a:cs typeface="Arial"/>
                <a:sym typeface="Arial"/>
              </a:rPr>
              <a:t>Tương đương</a:t>
            </a:r>
            <a:endParaRPr sz="1200" b="0" i="0" u="none" strike="noStrike" cap="none">
              <a:solidFill>
                <a:schemeClr val="dk1"/>
              </a:solidFill>
              <a:latin typeface="Arial"/>
              <a:ea typeface="Arial"/>
              <a:cs typeface="Arial"/>
              <a:sym typeface="Arial"/>
            </a:endParaRPr>
          </a:p>
        </p:txBody>
      </p:sp>
      <p:sp>
        <p:nvSpPr>
          <p:cNvPr id="368" name="Google Shape;368;p11"/>
          <p:cNvSpPr/>
          <p:nvPr/>
        </p:nvSpPr>
        <p:spPr>
          <a:xfrm>
            <a:off x="3702791" y="28645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Mạnh nhất: moirai_2</a:t>
            </a:r>
            <a:endParaRPr sz="1200" b="0" i="0" u="none" strike="noStrike" cap="none">
              <a:solidFill>
                <a:schemeClr val="dk1"/>
              </a:solidFill>
              <a:latin typeface="Arial"/>
              <a:ea typeface="Arial"/>
              <a:cs typeface="Arial"/>
              <a:sym typeface="Arial"/>
            </a:endParaRPr>
          </a:p>
        </p:txBody>
      </p:sp>
      <p:sp>
        <p:nvSpPr>
          <p:cNvPr id="369" name="Google Shape;369;p11"/>
          <p:cNvSpPr/>
          <p:nvPr/>
        </p:nvSpPr>
        <p:spPr>
          <a:xfrm>
            <a:off x="6175375" y="1717675"/>
            <a:ext cx="2520950" cy="1541992"/>
          </a:xfrm>
          <a:prstGeom prst="roundRect">
            <a:avLst>
              <a:gd name="adj" fmla="val 6383"/>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1"/>
          <p:cNvSpPr/>
          <p:nvPr/>
        </p:nvSpPr>
        <p:spPr>
          <a:xfrm>
            <a:off x="6382491" y="18993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intermittent</a:t>
            </a:r>
            <a:endParaRPr sz="1200" b="0" i="0" u="none" strike="noStrike" cap="none">
              <a:solidFill>
                <a:schemeClr val="dk1"/>
              </a:solidFill>
              <a:latin typeface="Arial"/>
              <a:ea typeface="Arial"/>
              <a:cs typeface="Arial"/>
              <a:sym typeface="Arial"/>
            </a:endParaRPr>
          </a:p>
        </p:txBody>
      </p:sp>
      <p:sp>
        <p:nvSpPr>
          <p:cNvPr id="371" name="Google Shape;371;p11"/>
          <p:cNvSpPr/>
          <p:nvPr/>
        </p:nvSpPr>
        <p:spPr>
          <a:xfrm>
            <a:off x="6382491" y="2188952"/>
            <a:ext cx="216992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Croston</a:t>
            </a:r>
            <a:endParaRPr sz="1700" b="0" i="0" u="none" strike="noStrike" cap="none">
              <a:solidFill>
                <a:schemeClr val="dk1"/>
              </a:solidFill>
              <a:latin typeface="Arial"/>
              <a:ea typeface="Arial"/>
              <a:cs typeface="Arial"/>
              <a:sym typeface="Arial"/>
            </a:endParaRPr>
          </a:p>
        </p:txBody>
      </p:sp>
      <p:sp>
        <p:nvSpPr>
          <p:cNvPr id="372" name="Google Shape;372;p11"/>
          <p:cNvSpPr/>
          <p:nvPr/>
        </p:nvSpPr>
        <p:spPr>
          <a:xfrm>
            <a:off x="6382491" y="2524230"/>
            <a:ext cx="1241848" cy="264160"/>
          </a:xfrm>
          <a:custGeom>
            <a:avLst/>
            <a:gdLst/>
            <a:ahLst/>
            <a:cxnLst/>
            <a:rect l="l" t="t" r="r" b="b"/>
            <a:pathLst>
              <a:path w="1241848" h="264160" extrusionOk="0">
                <a:moveTo>
                  <a:pt x="132080" y="0"/>
                </a:moveTo>
                <a:lnTo>
                  <a:pt x="1109768" y="0"/>
                </a:lnTo>
                <a:cubicBezTo>
                  <a:pt x="1144798" y="0"/>
                  <a:pt x="1178393" y="13916"/>
                  <a:pt x="1203163" y="38685"/>
                </a:cubicBezTo>
                <a:cubicBezTo>
                  <a:pt x="1227932" y="63455"/>
                  <a:pt x="1241848" y="97050"/>
                  <a:pt x="1241848" y="132080"/>
                </a:cubicBezTo>
                <a:lnTo>
                  <a:pt x="1241848" y="132080"/>
                </a:lnTo>
                <a:cubicBezTo>
                  <a:pt x="1241848" y="205026"/>
                  <a:pt x="1182714" y="264160"/>
                  <a:pt x="1109768" y="264160"/>
                </a:cubicBezTo>
                <a:lnTo>
                  <a:pt x="132080" y="264160"/>
                </a:lnTo>
                <a:cubicBezTo>
                  <a:pt x="59134" y="264160"/>
                  <a:pt x="0" y="205026"/>
                  <a:pt x="0" y="132080"/>
                </a:cubicBezTo>
                <a:lnTo>
                  <a:pt x="0" y="132080"/>
                </a:lnTo>
                <a:cubicBezTo>
                  <a:pt x="0" y="59134"/>
                  <a:pt x="59134" y="0"/>
                  <a:pt x="132080" y="0"/>
                </a:cubicBezTo>
                <a:close/>
              </a:path>
            </a:pathLst>
          </a:custGeom>
          <a:solidFill>
            <a:srgbClr val="DCE5EE"/>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24496F"/>
              </a:buClr>
              <a:buSzPts val="1200"/>
              <a:buFont typeface="Arial"/>
              <a:buNone/>
            </a:pPr>
            <a:r>
              <a:rPr lang="en-US" sz="1200" b="1" i="0" u="none" strike="noStrike" cap="none">
                <a:solidFill>
                  <a:srgbClr val="24496F"/>
                </a:solidFill>
                <a:latin typeface="Arial"/>
                <a:ea typeface="Arial"/>
                <a:cs typeface="Arial"/>
                <a:sym typeface="Arial"/>
              </a:rPr>
              <a:t>Tương đương</a:t>
            </a:r>
            <a:endParaRPr sz="1200" b="0" i="0" u="none" strike="noStrike" cap="none">
              <a:solidFill>
                <a:schemeClr val="dk1"/>
              </a:solidFill>
              <a:latin typeface="Arial"/>
              <a:ea typeface="Arial"/>
              <a:cs typeface="Arial"/>
              <a:sym typeface="Arial"/>
            </a:endParaRPr>
          </a:p>
        </p:txBody>
      </p:sp>
      <p:sp>
        <p:nvSpPr>
          <p:cNvPr id="373" name="Google Shape;373;p11"/>
          <p:cNvSpPr/>
          <p:nvPr/>
        </p:nvSpPr>
        <p:spPr>
          <a:xfrm>
            <a:off x="6382491" y="28645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Mạnh nhất: lgbm</a:t>
            </a:r>
            <a:endParaRPr sz="1200" b="0" i="0" u="none" strike="noStrike" cap="none">
              <a:solidFill>
                <a:schemeClr val="dk1"/>
              </a:solidFill>
              <a:latin typeface="Arial"/>
              <a:ea typeface="Arial"/>
              <a:cs typeface="Arial"/>
              <a:sym typeface="Arial"/>
            </a:endParaRPr>
          </a:p>
        </p:txBody>
      </p:sp>
      <p:sp>
        <p:nvSpPr>
          <p:cNvPr id="374" name="Google Shape;374;p11"/>
          <p:cNvSpPr/>
          <p:nvPr/>
        </p:nvSpPr>
        <p:spPr>
          <a:xfrm>
            <a:off x="8855075" y="1717675"/>
            <a:ext cx="2520950" cy="1541992"/>
          </a:xfrm>
          <a:prstGeom prst="roundRect">
            <a:avLst>
              <a:gd name="adj" fmla="val 6383"/>
            </a:avLst>
          </a:prstGeom>
          <a:solidFill>
            <a:srgbClr val="FDFCF9"/>
          </a:solidFill>
          <a:ln w="9525" cap="flat" cmpd="sng">
            <a:solidFill>
              <a:srgbClr val="DCD7C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1"/>
          <p:cNvSpPr/>
          <p:nvPr/>
        </p:nvSpPr>
        <p:spPr>
          <a:xfrm>
            <a:off x="9062191" y="18993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1" i="0" u="none" strike="noStrike" cap="none">
                <a:solidFill>
                  <a:srgbClr val="5E6673"/>
                </a:solidFill>
                <a:latin typeface="Arial"/>
                <a:ea typeface="Arial"/>
                <a:cs typeface="Arial"/>
                <a:sym typeface="Arial"/>
              </a:rPr>
              <a:t>lumpy</a:t>
            </a:r>
            <a:endParaRPr sz="1200" b="0" i="0" u="none" strike="noStrike" cap="none">
              <a:solidFill>
                <a:schemeClr val="dk1"/>
              </a:solidFill>
              <a:latin typeface="Arial"/>
              <a:ea typeface="Arial"/>
              <a:cs typeface="Arial"/>
              <a:sym typeface="Arial"/>
            </a:endParaRPr>
          </a:p>
        </p:txBody>
      </p:sp>
      <p:sp>
        <p:nvSpPr>
          <p:cNvPr id="376" name="Google Shape;376;p11"/>
          <p:cNvSpPr/>
          <p:nvPr/>
        </p:nvSpPr>
        <p:spPr>
          <a:xfrm>
            <a:off x="9062191" y="2188952"/>
            <a:ext cx="2169920" cy="2844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B2433"/>
              </a:buClr>
              <a:buSzPts val="1700"/>
              <a:buFont typeface="Arial"/>
              <a:buNone/>
            </a:pPr>
            <a:r>
              <a:rPr lang="en-US" sz="1700" b="1" i="0" u="none" strike="noStrike" cap="none">
                <a:solidFill>
                  <a:srgbClr val="1B2433"/>
                </a:solidFill>
                <a:latin typeface="Arial"/>
                <a:ea typeface="Arial"/>
                <a:cs typeface="Arial"/>
                <a:sym typeface="Arial"/>
              </a:rPr>
              <a:t>LightGBM</a:t>
            </a:r>
            <a:endParaRPr sz="1700" b="0" i="0" u="none" strike="noStrike" cap="none">
              <a:solidFill>
                <a:schemeClr val="dk1"/>
              </a:solidFill>
              <a:latin typeface="Arial"/>
              <a:ea typeface="Arial"/>
              <a:cs typeface="Arial"/>
              <a:sym typeface="Arial"/>
            </a:endParaRPr>
          </a:p>
        </p:txBody>
      </p:sp>
      <p:sp>
        <p:nvSpPr>
          <p:cNvPr id="377" name="Google Shape;377;p11"/>
          <p:cNvSpPr/>
          <p:nvPr/>
        </p:nvSpPr>
        <p:spPr>
          <a:xfrm>
            <a:off x="9062191" y="2524230"/>
            <a:ext cx="1241848" cy="264160"/>
          </a:xfrm>
          <a:custGeom>
            <a:avLst/>
            <a:gdLst/>
            <a:ahLst/>
            <a:cxnLst/>
            <a:rect l="l" t="t" r="r" b="b"/>
            <a:pathLst>
              <a:path w="1241848" h="264160" extrusionOk="0">
                <a:moveTo>
                  <a:pt x="132080" y="0"/>
                </a:moveTo>
                <a:lnTo>
                  <a:pt x="1109768" y="0"/>
                </a:lnTo>
                <a:cubicBezTo>
                  <a:pt x="1144798" y="0"/>
                  <a:pt x="1178393" y="13916"/>
                  <a:pt x="1203163" y="38685"/>
                </a:cubicBezTo>
                <a:cubicBezTo>
                  <a:pt x="1227932" y="63455"/>
                  <a:pt x="1241848" y="97050"/>
                  <a:pt x="1241848" y="132080"/>
                </a:cubicBezTo>
                <a:lnTo>
                  <a:pt x="1241848" y="132080"/>
                </a:lnTo>
                <a:cubicBezTo>
                  <a:pt x="1241848" y="205026"/>
                  <a:pt x="1182714" y="264160"/>
                  <a:pt x="1109768" y="264160"/>
                </a:cubicBezTo>
                <a:lnTo>
                  <a:pt x="132080" y="264160"/>
                </a:lnTo>
                <a:cubicBezTo>
                  <a:pt x="59134" y="264160"/>
                  <a:pt x="0" y="205026"/>
                  <a:pt x="0" y="132080"/>
                </a:cubicBezTo>
                <a:lnTo>
                  <a:pt x="0" y="132080"/>
                </a:lnTo>
                <a:cubicBezTo>
                  <a:pt x="0" y="59134"/>
                  <a:pt x="59134" y="0"/>
                  <a:pt x="132080" y="0"/>
                </a:cubicBezTo>
                <a:close/>
              </a:path>
            </a:pathLst>
          </a:custGeom>
          <a:solidFill>
            <a:srgbClr val="DCE5EE"/>
          </a:solidFill>
          <a:ln>
            <a:noFill/>
          </a:ln>
        </p:spPr>
        <p:txBody>
          <a:bodyPr spcFirstLastPara="1" wrap="square" lIns="0" tIns="0" rIns="0" bIns="0" anchor="ctr" anchorCtr="0">
            <a:normAutofit/>
          </a:bodyPr>
          <a:lstStyle/>
          <a:p>
            <a:pPr marL="0" marR="0" lvl="0" indent="0" algn="ctr" rtl="0">
              <a:lnSpc>
                <a:spcPct val="140000"/>
              </a:lnSpc>
              <a:spcBef>
                <a:spcPts val="0"/>
              </a:spcBef>
              <a:spcAft>
                <a:spcPts val="0"/>
              </a:spcAft>
              <a:buClr>
                <a:srgbClr val="24496F"/>
              </a:buClr>
              <a:buSzPts val="1200"/>
              <a:buFont typeface="Arial"/>
              <a:buNone/>
            </a:pPr>
            <a:r>
              <a:rPr lang="en-US" sz="1200" b="1" i="0" u="none" strike="noStrike" cap="none">
                <a:solidFill>
                  <a:srgbClr val="24496F"/>
                </a:solidFill>
                <a:latin typeface="Arial"/>
                <a:ea typeface="Arial"/>
                <a:cs typeface="Arial"/>
                <a:sym typeface="Arial"/>
              </a:rPr>
              <a:t>Tương đương</a:t>
            </a:r>
            <a:endParaRPr sz="1200" b="0" i="0" u="none" strike="noStrike" cap="none">
              <a:solidFill>
                <a:schemeClr val="dk1"/>
              </a:solidFill>
              <a:latin typeface="Arial"/>
              <a:ea typeface="Arial"/>
              <a:cs typeface="Arial"/>
              <a:sym typeface="Arial"/>
            </a:endParaRPr>
          </a:p>
        </p:txBody>
      </p:sp>
      <p:sp>
        <p:nvSpPr>
          <p:cNvPr id="378" name="Google Shape;378;p11"/>
          <p:cNvSpPr/>
          <p:nvPr/>
        </p:nvSpPr>
        <p:spPr>
          <a:xfrm>
            <a:off x="9062191" y="2864588"/>
            <a:ext cx="2169920"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4A5361"/>
              </a:buClr>
              <a:buSzPts val="1200"/>
              <a:buFont typeface="Arial"/>
              <a:buNone/>
            </a:pPr>
            <a:r>
              <a:rPr lang="en-US" sz="1200" b="0" i="0" u="none" strike="noStrike" cap="none">
                <a:solidFill>
                  <a:srgbClr val="4A5361"/>
                </a:solidFill>
                <a:latin typeface="Arial"/>
                <a:ea typeface="Arial"/>
                <a:cs typeface="Arial"/>
                <a:sym typeface="Arial"/>
              </a:rPr>
              <a:t>Mạnh nhất: lgbm</a:t>
            </a:r>
            <a:endParaRPr sz="1200" b="0" i="0" u="none" strike="noStrike" cap="none">
              <a:solidFill>
                <a:schemeClr val="dk1"/>
              </a:solidFill>
              <a:latin typeface="Arial"/>
              <a:ea typeface="Arial"/>
              <a:cs typeface="Arial"/>
              <a:sym typeface="Arial"/>
            </a:endParaRPr>
          </a:p>
        </p:txBody>
      </p:sp>
      <p:sp>
        <p:nvSpPr>
          <p:cNvPr id="379" name="Google Shape;379;p11"/>
          <p:cNvSpPr/>
          <p:nvPr/>
        </p:nvSpPr>
        <p:spPr>
          <a:xfrm>
            <a:off x="815975" y="3469215"/>
            <a:ext cx="2520950" cy="901912"/>
          </a:xfrm>
          <a:prstGeom prst="roundRect">
            <a:avLst>
              <a:gd name="adj" fmla="val 8097"/>
            </a:avLst>
          </a:prstGeom>
          <a:solidFill>
            <a:srgbClr val="FDFCF9"/>
          </a:solidFill>
          <a:ln w="9525" cap="flat" cmpd="sng">
            <a:solidFill>
              <a:srgbClr val="DCD7CB"/>
            </a:solidFill>
            <a:prstDash val="solid"/>
            <a:round/>
            <a:headEnd type="none" w="sm" len="sm"/>
            <a:tailEnd type="none" w="sm" len="sm"/>
          </a:ln>
        </p:spPr>
        <p:txBody>
          <a:bodyPr spcFirstLastPara="1" wrap="square" lIns="160325" tIns="109525" rIns="95600" bIns="84125"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Phân nhóm theo SBC là điều kiện cần để kết luận đúng.</a:t>
            </a:r>
            <a:endParaRPr sz="1200" b="0" i="0" u="none" strike="noStrike" cap="none">
              <a:solidFill>
                <a:schemeClr val="dk1"/>
              </a:solidFill>
              <a:latin typeface="Arial"/>
              <a:ea typeface="Arial"/>
              <a:cs typeface="Arial"/>
              <a:sym typeface="Arial"/>
            </a:endParaRPr>
          </a:p>
        </p:txBody>
      </p:sp>
      <p:sp>
        <p:nvSpPr>
          <p:cNvPr id="380" name="Google Shape;380;p11"/>
          <p:cNvSpPr/>
          <p:nvPr/>
        </p:nvSpPr>
        <p:spPr>
          <a:xfrm>
            <a:off x="3495675" y="3469215"/>
            <a:ext cx="2520950" cy="901912"/>
          </a:xfrm>
          <a:prstGeom prst="roundRect">
            <a:avLst>
              <a:gd name="adj" fmla="val 8097"/>
            </a:avLst>
          </a:prstGeom>
          <a:solidFill>
            <a:srgbClr val="FDFCF9"/>
          </a:solidFill>
          <a:ln w="9525" cap="flat" cmpd="sng">
            <a:solidFill>
              <a:srgbClr val="DCD7CB"/>
            </a:solidFill>
            <a:prstDash val="solid"/>
            <a:round/>
            <a:headEnd type="none" w="sm" len="sm"/>
            <a:tailEnd type="none" w="sm" len="sm"/>
          </a:ln>
        </p:spPr>
        <p:txBody>
          <a:bodyPr spcFirstLastPara="1" wrap="square" lIns="160325" tIns="109525" rIns="95600" bIns="84125"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Phải hiệu chuẩn chung thì so sánh giữa các họ mới công bằng.</a:t>
            </a:r>
            <a:endParaRPr sz="1200" b="0" i="0" u="none" strike="noStrike" cap="none">
              <a:solidFill>
                <a:schemeClr val="dk1"/>
              </a:solidFill>
              <a:latin typeface="Arial"/>
              <a:ea typeface="Arial"/>
              <a:cs typeface="Arial"/>
              <a:sym typeface="Arial"/>
            </a:endParaRPr>
          </a:p>
        </p:txBody>
      </p:sp>
      <p:sp>
        <p:nvSpPr>
          <p:cNvPr id="381" name="Google Shape;381;p11"/>
          <p:cNvSpPr/>
          <p:nvPr/>
        </p:nvSpPr>
        <p:spPr>
          <a:xfrm>
            <a:off x="6175375" y="3469215"/>
            <a:ext cx="2520950" cy="901912"/>
          </a:xfrm>
          <a:prstGeom prst="roundRect">
            <a:avLst>
              <a:gd name="adj" fmla="val 8097"/>
            </a:avLst>
          </a:prstGeom>
          <a:solidFill>
            <a:srgbClr val="FDFCF9"/>
          </a:solidFill>
          <a:ln w="9525" cap="flat" cmpd="sng">
            <a:solidFill>
              <a:srgbClr val="DCD7CB"/>
            </a:solidFill>
            <a:prstDash val="solid"/>
            <a:round/>
            <a:headEnd type="none" w="sm" len="sm"/>
            <a:tailEnd type="none" w="sm" len="sm"/>
          </a:ln>
        </p:spPr>
        <p:txBody>
          <a:bodyPr spcFirstLastPara="1" wrap="square" lIns="160325" tIns="109525" rIns="95600" bIns="84125"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LightGBM là lựa chọn chung an toàn, WSPL toàn tập thấp nhất.</a:t>
            </a:r>
            <a:endParaRPr sz="1200" b="0" i="0" u="none" strike="noStrike" cap="none">
              <a:solidFill>
                <a:schemeClr val="dk1"/>
              </a:solidFill>
              <a:latin typeface="Arial"/>
              <a:ea typeface="Arial"/>
              <a:cs typeface="Arial"/>
              <a:sym typeface="Arial"/>
            </a:endParaRPr>
          </a:p>
        </p:txBody>
      </p:sp>
      <p:sp>
        <p:nvSpPr>
          <p:cNvPr id="382" name="Google Shape;382;p11"/>
          <p:cNvSpPr/>
          <p:nvPr/>
        </p:nvSpPr>
        <p:spPr>
          <a:xfrm>
            <a:off x="8855075" y="3469215"/>
            <a:ext cx="2520950" cy="901912"/>
          </a:xfrm>
          <a:prstGeom prst="roundRect">
            <a:avLst>
              <a:gd name="adj" fmla="val 8097"/>
            </a:avLst>
          </a:prstGeom>
          <a:solidFill>
            <a:srgbClr val="FDFCF9"/>
          </a:solidFill>
          <a:ln w="9525" cap="flat" cmpd="sng">
            <a:solidFill>
              <a:srgbClr val="DCD7CB"/>
            </a:solidFill>
            <a:prstDash val="solid"/>
            <a:round/>
            <a:headEnd type="none" w="sm" len="sm"/>
            <a:tailEnd type="none" w="sm" len="sm"/>
          </a:ln>
        </p:spPr>
        <p:txBody>
          <a:bodyPr spcFirstLastPara="1" wrap="square" lIns="160325" tIns="109525" rIns="95600" bIns="84125" anchor="t" anchorCtr="0">
            <a:normAutofit/>
          </a:bodyPr>
          <a:lstStyle/>
          <a:p>
            <a:pPr marL="0" marR="0" lvl="0" indent="0" algn="l" rtl="0">
              <a:lnSpc>
                <a:spcPct val="140000"/>
              </a:lnSpc>
              <a:spcBef>
                <a:spcPts val="0"/>
              </a:spcBef>
              <a:spcAft>
                <a:spcPts val="0"/>
              </a:spcAft>
              <a:buClr>
                <a:srgbClr val="1B2433"/>
              </a:buClr>
              <a:buSzPts val="1200"/>
              <a:buFont typeface="Arial"/>
              <a:buNone/>
            </a:pPr>
            <a:r>
              <a:rPr lang="en-US" sz="1200" b="0" i="0" u="none" strike="noStrike" cap="none">
                <a:solidFill>
                  <a:srgbClr val="1B2433"/>
                </a:solidFill>
                <a:latin typeface="Arial"/>
                <a:ea typeface="Arial"/>
                <a:cs typeface="Arial"/>
                <a:sym typeface="Arial"/>
              </a:rPr>
              <a:t>Foundation model zero-shot chưa cho ưu thế đủ bằng chứng.</a:t>
            </a:r>
            <a:endParaRPr sz="1200" b="0" i="0" u="none" strike="noStrike" cap="none">
              <a:solidFill>
                <a:schemeClr val="dk1"/>
              </a:solidFill>
              <a:latin typeface="Arial"/>
              <a:ea typeface="Arial"/>
              <a:cs typeface="Arial"/>
              <a:sym typeface="Arial"/>
            </a:endParaRPr>
          </a:p>
        </p:txBody>
      </p:sp>
      <p:sp>
        <p:nvSpPr>
          <p:cNvPr id="383" name="Google Shape;383;p11"/>
          <p:cNvSpPr/>
          <p:nvPr/>
        </p:nvSpPr>
        <p:spPr>
          <a:xfrm>
            <a:off x="812800" y="4577500"/>
            <a:ext cx="10566400" cy="1010920"/>
          </a:xfrm>
          <a:prstGeom prst="roundRect">
            <a:avLst>
              <a:gd name="adj" fmla="val 10050"/>
            </a:avLst>
          </a:prstGeom>
          <a:solidFill>
            <a:srgbClr val="24496F"/>
          </a:solidFill>
          <a:ln>
            <a:noFill/>
          </a:ln>
        </p:spPr>
        <p:txBody>
          <a:bodyPr spcFirstLastPara="1" wrap="square" lIns="224225" tIns="173425" rIns="0" bIns="148025" anchor="t" anchorCtr="0">
            <a:normAutofit/>
          </a:bodyPr>
          <a:lstStyle/>
          <a:p>
            <a:pPr marL="0" marR="0" lvl="0" indent="0" algn="l" rtl="0">
              <a:lnSpc>
                <a:spcPct val="140000"/>
              </a:lnSpc>
              <a:spcBef>
                <a:spcPts val="0"/>
              </a:spcBef>
              <a:spcAft>
                <a:spcPts val="0"/>
              </a:spcAft>
              <a:buClr>
                <a:srgbClr val="F3F0E8"/>
              </a:buClr>
              <a:buSzPts val="1700"/>
              <a:buFont typeface="Arial"/>
              <a:buNone/>
            </a:pPr>
            <a:r>
              <a:rPr lang="en-US" sz="1700" b="0" i="0" u="none" strike="noStrike" cap="none">
                <a:solidFill>
                  <a:srgbClr val="F3F0E8"/>
                </a:solidFill>
                <a:latin typeface="Arial"/>
                <a:ea typeface="Arial"/>
                <a:cs typeface="Arial"/>
                <a:sym typeface="Arial"/>
              </a:rPr>
              <a:t>Không có một mô hình tốt nhất cho mọi trường hợp. Lựa chọn phụ thuộc nhóm nhu cầu, và khi hiệu năng ngang nhau thì nên chọn mô hình rẻ hơn.</a:t>
            </a:r>
            <a:endParaRPr sz="1700" b="0" i="0" u="none" strike="noStrike" cap="none">
              <a:solidFill>
                <a:schemeClr val="dk1"/>
              </a:solidFill>
              <a:latin typeface="Arial"/>
              <a:ea typeface="Arial"/>
              <a:cs typeface="Arial"/>
              <a:sym typeface="Arial"/>
            </a:endParaRPr>
          </a:p>
        </p:txBody>
      </p:sp>
      <p:sp>
        <p:nvSpPr>
          <p:cNvPr id="384" name="Google Shape;384;p11"/>
          <p:cNvSpPr/>
          <p:nvPr/>
        </p:nvSpPr>
        <p:spPr>
          <a:xfrm>
            <a:off x="812800" y="6238242"/>
            <a:ext cx="4179824" cy="2387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Dự báo xác suất nhu cầu gián đoạn trên dữ liệu M5</a:t>
            </a:r>
            <a:endParaRPr sz="1200" b="0" i="0" u="none" strike="noStrike" cap="none">
              <a:solidFill>
                <a:schemeClr val="dk1"/>
              </a:solidFill>
              <a:latin typeface="Arial"/>
              <a:ea typeface="Arial"/>
              <a:cs typeface="Arial"/>
              <a:sym typeface="Arial"/>
            </a:endParaRPr>
          </a:p>
        </p:txBody>
      </p:sp>
      <p:sp>
        <p:nvSpPr>
          <p:cNvPr id="385" name="Google Shape;385;p11"/>
          <p:cNvSpPr/>
          <p:nvPr/>
        </p:nvSpPr>
        <p:spPr>
          <a:xfrm>
            <a:off x="11170179" y="6238242"/>
            <a:ext cx="209021" cy="238760"/>
          </a:xfrm>
          <a:prstGeom prst="rect">
            <a:avLst/>
          </a:prstGeom>
          <a:noFill/>
          <a:ln>
            <a:noFill/>
          </a:ln>
        </p:spPr>
        <p:txBody>
          <a:bodyPr spcFirstLastPara="1" wrap="square" lIns="0" tIns="0" rIns="0" bIns="0" anchor="t" anchorCtr="0">
            <a:normAutofit/>
          </a:bodyPr>
          <a:lstStyle/>
          <a:p>
            <a:pPr marL="0" marR="0" lvl="0" indent="0" algn="r" rtl="0">
              <a:lnSpc>
                <a:spcPct val="140000"/>
              </a:lnSpc>
              <a:spcBef>
                <a:spcPts val="0"/>
              </a:spcBef>
              <a:spcAft>
                <a:spcPts val="0"/>
              </a:spcAft>
              <a:buClr>
                <a:srgbClr val="5E6673"/>
              </a:buClr>
              <a:buSzPts val="1200"/>
              <a:buFont typeface="Arial"/>
              <a:buNone/>
            </a:pPr>
            <a:r>
              <a:rPr lang="en-US" sz="1200" b="0" i="0" u="none" strike="noStrike" cap="none">
                <a:solidFill>
                  <a:srgbClr val="5E6673"/>
                </a:solidFill>
                <a:latin typeface="Arial"/>
                <a:ea typeface="Arial"/>
                <a:cs typeface="Arial"/>
                <a:sym typeface="Arial"/>
              </a:rPr>
              <a:t>11</a:t>
            </a:r>
            <a:endParaRPr sz="1200" b="0"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ự báo nhu cầu gián đoạn M5">
  <a:themeElements>
    <a:clrScheme name="Dự báo nhu cầu gián đoạn M5">
      <a:dk1>
        <a:srgbClr val="1B2433"/>
      </a:dk1>
      <a:lt1>
        <a:srgbClr val="F6F4EE"/>
      </a:lt1>
      <a:dk2>
        <a:srgbClr val="525862"/>
      </a:dk2>
      <a:lt2>
        <a:srgbClr val="E0DFDB"/>
      </a:lt2>
      <a:accent1>
        <a:srgbClr val="2A62A8"/>
      </a:accent1>
      <a:accent2>
        <a:srgbClr val="24496F"/>
      </a:accent2>
      <a:accent3>
        <a:srgbClr val="28527E"/>
      </a:accent3>
      <a:accent4>
        <a:srgbClr val="4E7195"/>
      </a:accent4>
      <a:accent5>
        <a:srgbClr val="849DB6"/>
      </a:accent5>
      <a:accent6>
        <a:srgbClr val="7691A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ự báo nhu cầu gián đoạn M5">
  <a:themeElements>
    <a:clrScheme name="Dự báo nhu cầu gián đoạn M5">
      <a:dk1>
        <a:srgbClr val="1B2433"/>
      </a:dk1>
      <a:lt1>
        <a:srgbClr val="F6F4EE"/>
      </a:lt1>
      <a:dk2>
        <a:srgbClr val="525862"/>
      </a:dk2>
      <a:lt2>
        <a:srgbClr val="E0DFDB"/>
      </a:lt2>
      <a:accent1>
        <a:srgbClr val="2A62A8"/>
      </a:accent1>
      <a:accent2>
        <a:srgbClr val="24496F"/>
      </a:accent2>
      <a:accent3>
        <a:srgbClr val="28527E"/>
      </a:accent3>
      <a:accent4>
        <a:srgbClr val="4E7195"/>
      </a:accent4>
      <a:accent5>
        <a:srgbClr val="849DB6"/>
      </a:accent5>
      <a:accent6>
        <a:srgbClr val="7691A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3342</Words>
  <Application>Microsoft Office PowerPoint</Application>
  <PresentationFormat>Widescreen</PresentationFormat>
  <Paragraphs>325</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Dự báo nhu cầu gián đoạn M5</vt:lpstr>
      <vt:lpstr>Dự báo xác suất nhu cầu gián đoạn trong bán lẻ</vt:lpstr>
      <vt:lpstr>Nhu cầu nào thì nên dùng mô hình nào?</vt:lpstr>
      <vt:lpstr>Ba họ mô hình, cùng dự báo 9 phân vị</vt:lpstr>
      <vt:lpstr>Croston, SBA và TSB</vt:lpstr>
      <vt:lpstr>Foundation model</vt:lpstr>
      <vt:lpstr>Hiệu chuẩn chung đưa mọi mô hình về cùng một thước đo</vt:lpstr>
      <vt:lpstr>Chấm điểm và luật xác định mô hình tốt nhất</vt:lpstr>
      <vt:lpstr>LightGBM có WSPL thấp nhất ở 3 trên 4 nhóm</vt:lpstr>
      <vt:lpstr>Nhóm smooth có kết quả mô hình tốt nhất</vt:lpstr>
      <vt:lpstr>Chi phí, kiểm soát rò rỉ và foundation model</vt:lpstr>
      <vt:lpstr>Chọn mô hình theo nhóm nhu cầu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Duy Khánh Cao</cp:lastModifiedBy>
  <cp:revision>1</cp:revision>
  <dcterms:created xsi:type="dcterms:W3CDTF">2026-10-15T03:44:33Z</dcterms:created>
  <dcterms:modified xsi:type="dcterms:W3CDTF">2026-10-15T04:40:11Z</dcterms:modified>
</cp:coreProperties>
</file>